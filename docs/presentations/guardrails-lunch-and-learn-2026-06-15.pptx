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going to show you something that changes how we think about using AI agents on real engineering work — not just ask it a question, but let an agent do a meaningful chunk of a project, with checks built in so you can trust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Everyone is excited about agents, and rightly so. But there's a missing layer between 'here's a prompt' and 'I trust this result.' At Tricentis we care deeply about software quality — and right now, agentic AI has almost no quality layer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what we do for human engineers: pull request reviews, CI pipelines, test suites, code review checklists. We have almost none of that for AI agents today. Guardrails is the CI pipeline for agentic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'Guardrails' refers to the verification checks on each task — not guardrails in the AI-safety sense. Think of them like guardrails on a mountain road: they don't slow you down unless you're about to go off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is the human review step in the middle. The AI generates the task structure, but a human (and a second AI reviewer) inspect it before anything runs. You're not flying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folder is a first-class artifact. You check it into source control. You can inspect every file by hand. A human can read every guardrail and decide if it's strong enough. It's not a black box — it's a recipe you can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thing that changes everything. Right now when an AI agent writes code and something is wrong, you find out much later. With Guardrails, the check runs immediately. If the build doesn't pass, the harness knows before you do — and tells the agent exactly what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 useful failure and an inscrutable one. The harness composes the feedback from the guardrail outputs and injects it into the next prompt. The agent gets a second chance with a specific error message, just like a human developer in a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you build up context across a multi-task plan. Task 2 can reference what Task 1 produced — file paths, test names, API endpoints — without any shared mutable state. The harness merges everything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important for long-running plans. If you have 12 tasks and task 3 fails, you don't want to lose the work done by tasks 4–12 that had no dependency on task 3. The harness surfaces all failures in one pass and saves state so you can resume after fixing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here — approximately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is available right now as a preview. I'm dogfooding it here at Tricentis as part of this engagement — so you're seeing the real thing, not demo-ware.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take questions, or if people want to pair on breaking down a real work plan after the session, I'm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499B"/>
        </a:solidFill>
      </p:bgPr>
    </p:bg>
    <p:spTree>
      <p:nvGrpSpPr>
        <p:cNvPr id="1" name=""/>
        <p:cNvGrpSpPr/>
        <p:nvPr/>
      </p:nvGrpSpPr>
      <p:grpSpPr>
        <a:xfrm>
          <a:off x="0" y="0"/>
          <a:ext cx="0" cy="0"/>
          <a:chOff x="0" y="0"/>
          <a:chExt cx="0" cy="0"/>
        </a:xfrm>
      </p:grpSpPr>
      <p:sp>
        <p:nvSpPr>
          <p:cNvPr id="2" name="Text 0"/>
          <p:cNvSpPr/>
          <p:nvPr/>
        </p:nvSpPr>
        <p:spPr>
          <a:xfrm>
            <a:off x="698450" y="690711"/>
            <a:ext cx="2103388" cy="279202"/>
          </a:xfrm>
          <a:prstGeom prst="roundRect">
            <a:avLst>
              <a:gd name="adj" fmla="val 18195"/>
            </a:avLst>
          </a:prstGeom>
          <a:solidFill>
            <a:srgbClr val="F36F21"/>
          </a:solidFill>
          <a:ln/>
        </p:spPr>
        <p:txBody>
          <a:bodyPr wrap="square" rtlCol="0" anchor="ctr"/>
          <a:lstStyle/>
          <a:p>
            <a:pPr indent="0" marL="0">
              <a:buNone/>
            </a:pPr>
            <a:endParaRPr lang="en-US" dirty="0"/>
          </a:p>
        </p:txBody>
      </p:sp>
      <p:sp>
        <p:nvSpPr>
          <p:cNvPr id="3" name="Text 1"/>
          <p:cNvSpPr/>
          <p:nvPr/>
        </p:nvSpPr>
        <p:spPr>
          <a:xfrm>
            <a:off x="876151" y="754112"/>
            <a:ext cx="1782946"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Lunch &amp; Learn · AI Edition</a:t>
            </a:r>
            <a:endParaRPr lang="en-US" sz="1100" dirty="0"/>
          </a:p>
        </p:txBody>
      </p:sp>
      <p:sp>
        <p:nvSpPr>
          <p:cNvPr id="4" name="Text 2"/>
          <p:cNvSpPr/>
          <p:nvPr/>
        </p:nvSpPr>
        <p:spPr>
          <a:xfrm>
            <a:off x="698450" y="1147614"/>
            <a:ext cx="7902041" cy="847725"/>
          </a:xfrm>
          <a:prstGeom prst="rect">
            <a:avLst/>
          </a:prstGeom>
          <a:noFill/>
          <a:ln/>
        </p:spPr>
        <p:txBody>
          <a:bodyPr wrap="square" lIns="0" tIns="0" rIns="0" bIns="0" rtlCol="0" anchor="t"/>
          <a:lstStyle/>
          <a:p>
            <a:pPr algn="l" indent="0" marL="0">
              <a:spcAft>
                <a:spcPts val="800"/>
              </a:spcAft>
              <a:buNone/>
            </a:pPr>
            <a:r>
              <a:rPr lang="en-US" sz="5800" b="1" dirty="0">
                <a:solidFill>
                  <a:srgbClr val="FFFFFF"/>
                </a:solidFill>
                <a:latin typeface="Arial" pitchFamily="34" charset="0"/>
                <a:ea typeface="Arial" pitchFamily="34" charset="-122"/>
                <a:cs typeface="Arial" pitchFamily="34" charset="-120"/>
              </a:rPr>
              <a:t>Guardrails</a:t>
            </a:r>
            <a:endParaRPr lang="en-US" sz="5800" dirty="0"/>
          </a:p>
        </p:txBody>
      </p:sp>
      <p:sp>
        <p:nvSpPr>
          <p:cNvPr id="5" name="Text 3"/>
          <p:cNvSpPr/>
          <p:nvPr/>
        </p:nvSpPr>
        <p:spPr>
          <a:xfrm>
            <a:off x="698450" y="2096839"/>
            <a:ext cx="7902041" cy="323850"/>
          </a:xfrm>
          <a:prstGeom prst="rect">
            <a:avLst/>
          </a:prstGeom>
          <a:noFill/>
          <a:ln/>
        </p:spPr>
        <p:txBody>
          <a:bodyPr wrap="square" lIns="0" tIns="0" rIns="0" bIns="0" rtlCol="0" anchor="t"/>
          <a:lstStyle/>
          <a:p>
            <a:pPr algn="l" indent="0" marL="0">
              <a:buNone/>
            </a:pPr>
            <a:r>
              <a:rPr lang="en-US" sz="2200" dirty="0">
                <a:solidFill>
                  <a:srgbClr val="FBB98C"/>
                </a:solidFill>
                <a:latin typeface="Arial" pitchFamily="34" charset="0"/>
                <a:ea typeface="Arial" pitchFamily="34" charset="-122"/>
                <a:cs typeface="Arial" pitchFamily="34" charset="-120"/>
              </a:rPr>
              <a:t>Reliable Agentic Engineering</a:t>
            </a:r>
            <a:endParaRPr lang="en-US" sz="2200" dirty="0"/>
          </a:p>
        </p:txBody>
      </p:sp>
      <p:sp>
        <p:nvSpPr>
          <p:cNvPr id="6" name="Text 4"/>
          <p:cNvSpPr/>
          <p:nvPr/>
        </p:nvSpPr>
        <p:spPr>
          <a:xfrm>
            <a:off x="0" y="3111401"/>
            <a:ext cx="9144000" cy="2032099"/>
          </a:xfrm>
          <a:prstGeom prst="rect">
            <a:avLst/>
          </a:prstGeom>
          <a:solidFill>
            <a:srgbClr val="FFFFFF"/>
          </a:solidFill>
          <a:ln/>
        </p:spPr>
        <p:txBody>
          <a:bodyPr wrap="square" rtlCol="0" anchor="ctr"/>
          <a:lstStyle/>
          <a:p>
            <a:pPr indent="0" marL="0">
              <a:buNone/>
            </a:pPr>
            <a:endParaRPr lang="en-US" dirty="0"/>
          </a:p>
        </p:txBody>
      </p:sp>
      <p:sp>
        <p:nvSpPr>
          <p:cNvPr id="7" name="Text 5"/>
          <p:cNvSpPr/>
          <p:nvPr/>
        </p:nvSpPr>
        <p:spPr>
          <a:xfrm>
            <a:off x="698450" y="3752850"/>
            <a:ext cx="7902041" cy="238125"/>
          </a:xfrm>
          <a:prstGeom prst="rect">
            <a:avLst/>
          </a:prstGeom>
          <a:noFill/>
          <a:ln/>
        </p:spPr>
        <p:txBody>
          <a:bodyPr wrap="square" lIns="0" tIns="0" rIns="0" bIns="0" rtlCol="0" anchor="t"/>
          <a:lstStyle/>
          <a:p>
            <a:pPr algn="l" indent="0" marL="0">
              <a:spcAft>
                <a:spcPts val="500"/>
              </a:spcAft>
              <a:buNone/>
            </a:pPr>
            <a:r>
              <a:rPr lang="en-US" sz="1600" b="1" dirty="0">
                <a:solidFill>
                  <a:srgbClr val="1F2937"/>
                </a:solidFill>
                <a:latin typeface="Arial" pitchFamily="34" charset="0"/>
                <a:ea typeface="Arial" pitchFamily="34" charset="-122"/>
                <a:cs typeface="Arial" pitchFamily="34" charset="-120"/>
              </a:rPr>
              <a:t>David Maltby</a:t>
            </a:r>
            <a:endParaRPr lang="en-US" sz="1600" dirty="0"/>
          </a:p>
        </p:txBody>
      </p:sp>
      <p:sp>
        <p:nvSpPr>
          <p:cNvPr id="8" name="Text 6"/>
          <p:cNvSpPr/>
          <p:nvPr/>
        </p:nvSpPr>
        <p:spPr>
          <a:xfrm>
            <a:off x="698450" y="4054376"/>
            <a:ext cx="7902041" cy="209550"/>
          </a:xfrm>
          <a:prstGeom prst="rect">
            <a:avLst/>
          </a:prstGeom>
          <a:noFill/>
          <a:ln/>
        </p:spPr>
        <p:txBody>
          <a:bodyPr wrap="square" lIns="0" tIns="0" rIns="0" bIns="0" rtlCol="0" anchor="t"/>
          <a:lstStyle/>
          <a:p>
            <a:pPr algn="l" indent="0" marL="0">
              <a:spcAft>
                <a:spcPts val="300"/>
              </a:spcAft>
              <a:buNone/>
            </a:pPr>
            <a:r>
              <a:rPr lang="en-US" sz="1400" dirty="0">
                <a:solidFill>
                  <a:srgbClr val="6B7280"/>
                </a:solidFill>
                <a:latin typeface="Arial" pitchFamily="34" charset="0"/>
                <a:ea typeface="Arial" pitchFamily="34" charset="-122"/>
                <a:cs typeface="Arial" pitchFamily="34" charset="-120"/>
              </a:rPr>
              <a:t>June 2026</a:t>
            </a:r>
            <a:endParaRPr lang="en-US" sz="1400" dirty="0"/>
          </a:p>
        </p:txBody>
      </p:sp>
      <p:sp>
        <p:nvSpPr>
          <p:cNvPr id="9" name="Text 7"/>
          <p:cNvSpPr/>
          <p:nvPr/>
        </p:nvSpPr>
        <p:spPr>
          <a:xfrm>
            <a:off x="698450" y="4302026"/>
            <a:ext cx="7902041" cy="200025"/>
          </a:xfrm>
          <a:prstGeom prst="rect">
            <a:avLst/>
          </a:prstGeom>
          <a:noFill/>
          <a:ln/>
        </p:spPr>
        <p:txBody>
          <a:bodyPr wrap="square" lIns="0" tIns="0" rIns="0" bIns="0" rtlCol="0" anchor="t"/>
          <a:lstStyle/>
          <a:p>
            <a:pPr algn="l" indent="0" marL="0">
              <a:buNone/>
            </a:pPr>
            <a:r>
              <a:rPr lang="en-US" sz="1300" dirty="0">
                <a:solidFill>
                  <a:srgbClr val="6B7280"/>
                </a:solidFill>
                <a:latin typeface="Arial" pitchFamily="34" charset="0"/>
                <a:ea typeface="Arial" pitchFamily="34" charset="-122"/>
                <a:cs typeface="Arial" pitchFamily="34" charset="-120"/>
              </a:rPr>
              <a:t>Tricentis · Lunch &amp; Learn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7824773"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The Problem: AI Agents Are Powerful But Unguarded</a:t>
            </a:r>
            <a:endParaRPr lang="en-US" sz="2400" dirty="0"/>
          </a:p>
        </p:txBody>
      </p:sp>
      <p:sp>
        <p:nvSpPr>
          <p:cNvPr id="4" name="Text 2"/>
          <p:cNvSpPr/>
          <p:nvPr/>
        </p:nvSpPr>
        <p:spPr>
          <a:xfrm>
            <a:off x="444401" y="977801"/>
            <a:ext cx="4038749" cy="3080147"/>
          </a:xfrm>
          <a:prstGeom prst="roundRect">
            <a:avLst>
              <a:gd name="adj" fmla="val 2474"/>
            </a:avLst>
          </a:prstGeom>
          <a:solidFill>
            <a:srgbClr val="FEF0E6"/>
          </a:solidFill>
          <a:ln w="19050">
            <a:solidFill>
              <a:srgbClr val="F36F21"/>
            </a:solidFill>
          </a:ln>
        </p:spPr>
        <p:txBody>
          <a:bodyPr wrap="square" rtlCol="0" anchor="ctr"/>
          <a:lstStyle/>
          <a:p>
            <a:pPr indent="0" marL="0">
              <a:buNone/>
            </a:pPr>
            <a:endParaRPr lang="en-US" dirty="0"/>
          </a:p>
        </p:txBody>
      </p:sp>
      <p:sp>
        <p:nvSpPr>
          <p:cNvPr id="5" name="Text 3"/>
          <p:cNvSpPr/>
          <p:nvPr/>
        </p:nvSpPr>
        <p:spPr>
          <a:xfrm>
            <a:off x="603052" y="1136452"/>
            <a:ext cx="3795876" cy="200025"/>
          </a:xfrm>
          <a:prstGeom prst="rect">
            <a:avLst/>
          </a:prstGeom>
          <a:noFill/>
          <a:ln/>
        </p:spPr>
        <p:txBody>
          <a:bodyPr wrap="square" lIns="0" tIns="0" rIns="0" bIns="0" rtlCol="0" anchor="t"/>
          <a:lstStyle/>
          <a:p>
            <a:pPr algn="l" indent="0" marL="0">
              <a:spcAft>
                <a:spcPts val="600"/>
              </a:spcAft>
              <a:buNone/>
            </a:pPr>
            <a:r>
              <a:rPr lang="en-US" sz="1300" b="1" dirty="0">
                <a:solidFill>
                  <a:srgbClr val="F36F21"/>
                </a:solidFill>
                <a:latin typeface="Arial" pitchFamily="34" charset="0"/>
                <a:ea typeface="Arial" pitchFamily="34" charset="-122"/>
                <a:cs typeface="Arial" pitchFamily="34" charset="-120"/>
              </a:rPr>
              <a:t>The Promise</a:t>
            </a:r>
            <a:endParaRPr lang="en-US" sz="1300" dirty="0"/>
          </a:p>
        </p:txBody>
      </p:sp>
      <p:sp>
        <p:nvSpPr>
          <p:cNvPr id="6" name="Text 4"/>
          <p:cNvSpPr/>
          <p:nvPr/>
        </p:nvSpPr>
        <p:spPr>
          <a:xfrm>
            <a:off x="603052" y="1412677"/>
            <a:ext cx="3721447" cy="38100"/>
          </a:xfrm>
          <a:prstGeom prst="roundRect">
            <a:avLst>
              <a:gd name="adj" fmla="val 66667"/>
            </a:avLst>
          </a:prstGeom>
          <a:solidFill>
            <a:srgbClr val="F36F21"/>
          </a:solidFill>
          <a:ln/>
        </p:spPr>
        <p:txBody>
          <a:bodyPr wrap="square" rtlCol="0" anchor="ctr"/>
          <a:lstStyle/>
          <a:p>
            <a:pPr indent="0" marL="0">
              <a:buNone/>
            </a:pPr>
            <a:endParaRPr lang="en-US" dirty="0"/>
          </a:p>
        </p:txBody>
      </p:sp>
      <p:sp>
        <p:nvSpPr>
          <p:cNvPr id="7" name="Text 5"/>
          <p:cNvSpPr/>
          <p:nvPr/>
        </p:nvSpPr>
        <p:spPr>
          <a:xfrm>
            <a:off x="603052" y="1552277"/>
            <a:ext cx="3721447" cy="743843"/>
          </a:xfrm>
          <a:prstGeom prst="rect">
            <a:avLst/>
          </a:prstGeom>
          <a:noFill/>
          <a:ln/>
        </p:spPr>
        <p:txBody>
          <a:bodyPr wrap="square" lIns="114300" tIns="0" rIns="0" bIns="0" rtlCol="0" anchor="t"/>
          <a:lstStyle/>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“I’ll let the AI write this feature.”</a:t>
            </a:r>
            <a:endParaRPr lang="en-US" sz="1200" dirty="0"/>
          </a:p>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Agents work autonomously on real tasks</a:t>
            </a:r>
            <a:endParaRPr lang="en-US" sz="1200" dirty="0"/>
          </a:p>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Productivity gains seem enormous</a:t>
            </a:r>
            <a:endParaRPr lang="en-US" sz="1200" dirty="0"/>
          </a:p>
        </p:txBody>
      </p:sp>
      <p:sp>
        <p:nvSpPr>
          <p:cNvPr id="8" name="Text 6"/>
          <p:cNvSpPr/>
          <p:nvPr/>
        </p:nvSpPr>
        <p:spPr>
          <a:xfrm>
            <a:off x="4660850" y="977801"/>
            <a:ext cx="4038749" cy="3080147"/>
          </a:xfrm>
          <a:prstGeom prst="roundRect">
            <a:avLst>
              <a:gd name="adj" fmla="val 2474"/>
            </a:avLst>
          </a:prstGeom>
          <a:solidFill>
            <a:srgbClr val="FFF7ED"/>
          </a:solidFill>
          <a:ln w="19050">
            <a:solidFill>
              <a:srgbClr val="D97706"/>
            </a:solidFill>
          </a:ln>
        </p:spPr>
        <p:txBody>
          <a:bodyPr wrap="square" rtlCol="0" anchor="ctr"/>
          <a:lstStyle/>
          <a:p>
            <a:pPr indent="0" marL="0">
              <a:buNone/>
            </a:pPr>
            <a:endParaRPr lang="en-US" dirty="0"/>
          </a:p>
        </p:txBody>
      </p:sp>
      <p:sp>
        <p:nvSpPr>
          <p:cNvPr id="9" name="Text 7"/>
          <p:cNvSpPr/>
          <p:nvPr/>
        </p:nvSpPr>
        <p:spPr>
          <a:xfrm>
            <a:off x="4819501" y="1136452"/>
            <a:ext cx="3795876" cy="200025"/>
          </a:xfrm>
          <a:prstGeom prst="rect">
            <a:avLst/>
          </a:prstGeom>
          <a:noFill/>
          <a:ln/>
        </p:spPr>
        <p:txBody>
          <a:bodyPr wrap="square" lIns="0" tIns="0" rIns="0" bIns="0" rtlCol="0" anchor="t"/>
          <a:lstStyle/>
          <a:p>
            <a:pPr algn="l" indent="0" marL="0">
              <a:spcAft>
                <a:spcPts val="600"/>
              </a:spcAft>
              <a:buNone/>
            </a:pPr>
            <a:r>
              <a:rPr lang="en-US" sz="1300" b="1" dirty="0">
                <a:solidFill>
                  <a:srgbClr val="D97706"/>
                </a:solidFill>
                <a:latin typeface="Arial" pitchFamily="34" charset="0"/>
                <a:ea typeface="Arial" pitchFamily="34" charset="-122"/>
                <a:cs typeface="Arial" pitchFamily="34" charset="-120"/>
              </a:rPr>
              <a:t>The Reality</a:t>
            </a:r>
            <a:endParaRPr lang="en-US" sz="1300" dirty="0"/>
          </a:p>
        </p:txBody>
      </p:sp>
      <p:sp>
        <p:nvSpPr>
          <p:cNvPr id="10" name="Text 8"/>
          <p:cNvSpPr/>
          <p:nvPr/>
        </p:nvSpPr>
        <p:spPr>
          <a:xfrm>
            <a:off x="4819501" y="1412677"/>
            <a:ext cx="3721447" cy="38100"/>
          </a:xfrm>
          <a:prstGeom prst="roundRect">
            <a:avLst>
              <a:gd name="adj" fmla="val 66667"/>
            </a:avLst>
          </a:prstGeom>
          <a:solidFill>
            <a:srgbClr val="D97706"/>
          </a:solidFill>
          <a:ln/>
        </p:spPr>
        <p:txBody>
          <a:bodyPr wrap="square" rtlCol="0" anchor="ctr"/>
          <a:lstStyle/>
          <a:p>
            <a:pPr indent="0" marL="0">
              <a:buNone/>
            </a:pPr>
            <a:endParaRPr lang="en-US" dirty="0"/>
          </a:p>
        </p:txBody>
      </p:sp>
      <p:sp>
        <p:nvSpPr>
          <p:cNvPr id="11" name="Text 9"/>
          <p:cNvSpPr/>
          <p:nvPr/>
        </p:nvSpPr>
        <p:spPr>
          <a:xfrm>
            <a:off x="4819501" y="1552277"/>
            <a:ext cx="3721447" cy="1012924"/>
          </a:xfrm>
          <a:prstGeom prst="rect">
            <a:avLst/>
          </a:prstGeom>
          <a:noFill/>
          <a:ln/>
        </p:spPr>
        <p:txBody>
          <a:bodyPr wrap="square" lIns="114300" tIns="0" rIns="0" bIns="0" rtlCol="0" anchor="t"/>
          <a:lstStyle/>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Did it actually work? Hard to tell</a:t>
            </a:r>
            <a:endParaRPr lang="en-US" sz="1200" dirty="0"/>
          </a:p>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Failures surface in CI — or production</a:t>
            </a:r>
            <a:endParaRPr lang="en-US" sz="1200" dirty="0"/>
          </a:p>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Re-running gets a different answer</a:t>
            </a:r>
            <a:endParaRPr lang="en-US" sz="1200" dirty="0"/>
          </a:p>
          <a:p>
            <a:pPr algn="l" marL="114300" indent="-114300">
              <a:lnSpc>
                <a:spcPts val="1620"/>
              </a:lnSpc>
              <a:spcAft>
                <a:spcPts val="500"/>
              </a:spcAft>
              <a:buSzPct val="100000"/>
              <a:buChar char="•"/>
            </a:pPr>
            <a:r>
              <a:rPr lang="en-US" sz="1200" dirty="0">
                <a:solidFill>
                  <a:srgbClr val="1F2937"/>
                </a:solidFill>
                <a:latin typeface="Arial" pitchFamily="34" charset="0"/>
                <a:ea typeface="Arial" pitchFamily="34" charset="-122"/>
                <a:cs typeface="Arial" pitchFamily="34" charset="-120"/>
              </a:rPr>
              <a:t>No record of what it did or why</a:t>
            </a:r>
            <a:endParaRPr lang="en-US" sz="1200" dirty="0"/>
          </a:p>
        </p:txBody>
      </p:sp>
      <p:sp>
        <p:nvSpPr>
          <p:cNvPr id="12" name="Text 10"/>
          <p:cNvSpPr/>
          <p:nvPr/>
        </p:nvSpPr>
        <p:spPr>
          <a:xfrm>
            <a:off x="444401" y="4172248"/>
            <a:ext cx="8255198" cy="412552"/>
          </a:xfrm>
          <a:prstGeom prst="rect">
            <a:avLst/>
          </a:prstGeom>
          <a:solidFill>
            <a:srgbClr val="EFF6FF"/>
          </a:solidFill>
          <a:ln/>
        </p:spPr>
        <p:txBody>
          <a:bodyPr wrap="square" rtlCol="0" anchor="ctr"/>
          <a:lstStyle/>
          <a:p>
            <a:pPr indent="0" marL="0">
              <a:buNone/>
            </a:pPr>
            <a:endParaRPr lang="en-US" dirty="0"/>
          </a:p>
        </p:txBody>
      </p:sp>
      <p:sp>
        <p:nvSpPr>
          <p:cNvPr id="13" name="Shape 11"/>
          <p:cNvSpPr/>
          <p:nvPr/>
        </p:nvSpPr>
        <p:spPr>
          <a:xfrm>
            <a:off x="472976" y="4172248"/>
            <a:ext cx="0" cy="412552"/>
          </a:xfrm>
          <a:prstGeom prst="line">
            <a:avLst/>
          </a:prstGeom>
          <a:noFill/>
          <a:ln w="57150">
            <a:solidFill>
              <a:srgbClr val="01499B"/>
            </a:solidFill>
            <a:prstDash val="solid"/>
          </a:ln>
        </p:spPr>
      </p:sp>
      <p:sp>
        <p:nvSpPr>
          <p:cNvPr id="14" name="Text 12"/>
          <p:cNvSpPr/>
          <p:nvPr/>
        </p:nvSpPr>
        <p:spPr>
          <a:xfrm>
            <a:off x="679252" y="4273748"/>
            <a:ext cx="7999500" cy="209550"/>
          </a:xfrm>
          <a:prstGeom prst="rect">
            <a:avLst/>
          </a:prstGeom>
          <a:noFill/>
          <a:ln/>
        </p:spPr>
        <p:txBody>
          <a:bodyPr wrap="square" lIns="0" tIns="0" rIns="0" bIns="0" rtlCol="0" anchor="t"/>
          <a:lstStyle/>
          <a:p>
            <a:pPr algn="l" indent="0" marL="0">
              <a:buNone/>
            </a:pPr>
            <a:r>
              <a:rPr lang="en-US" sz="1400" b="1" dirty="0">
                <a:solidFill>
                  <a:srgbClr val="01499B"/>
                </a:solidFill>
                <a:latin typeface="Arial" pitchFamily="34" charset="0"/>
                <a:ea typeface="Arial" pitchFamily="34" charset="-122"/>
                <a:cs typeface="Arial" pitchFamily="34" charset="-120"/>
              </a:rPr>
              <a:t>How do you verify what an AI agent did?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341462"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The Agentic Engineering Gap</a:t>
            </a:r>
            <a:endParaRPr lang="en-US" sz="2400" dirty="0"/>
          </a:p>
        </p:txBody>
      </p:sp>
      <p:sp>
        <p:nvSpPr>
          <p:cNvPr id="4" name="Text 2"/>
          <p:cNvSpPr/>
          <p:nvPr/>
        </p:nvSpPr>
        <p:spPr>
          <a:xfrm>
            <a:off x="444401" y="1028551"/>
            <a:ext cx="8255198" cy="971252"/>
          </a:xfrm>
          <a:prstGeom prst="roundRect">
            <a:avLst>
              <a:gd name="adj" fmla="val 10461"/>
            </a:avLst>
          </a:prstGeom>
          <a:solidFill>
            <a:srgbClr val="F8FAFC"/>
          </a:solidFill>
          <a:ln/>
        </p:spPr>
        <p:txBody>
          <a:bodyPr wrap="square" rtlCol="0" anchor="ctr"/>
          <a:lstStyle/>
          <a:p>
            <a:pPr indent="0" marL="0">
              <a:buNone/>
            </a:pPr>
            <a:endParaRPr lang="en-US" dirty="0"/>
          </a:p>
        </p:txBody>
      </p:sp>
      <p:sp>
        <p:nvSpPr>
          <p:cNvPr id="5" name="Text 3"/>
          <p:cNvSpPr/>
          <p:nvPr/>
        </p:nvSpPr>
        <p:spPr>
          <a:xfrm>
            <a:off x="2511623" y="1277689"/>
            <a:ext cx="961132" cy="472976"/>
          </a:xfrm>
          <a:prstGeom prst="roundRect">
            <a:avLst>
              <a:gd name="adj" fmla="val 16111"/>
            </a:avLst>
          </a:prstGeom>
          <a:solidFill>
            <a:srgbClr val="01499B"/>
          </a:solidFill>
          <a:ln/>
        </p:spPr>
        <p:txBody>
          <a:bodyPr wrap="square" rtlCol="0" anchor="ctr"/>
          <a:lstStyle/>
          <a:p>
            <a:pPr indent="0" marL="0">
              <a:buNone/>
            </a:pPr>
            <a:endParaRPr lang="en-US" dirty="0"/>
          </a:p>
        </p:txBody>
      </p:sp>
      <p:sp>
        <p:nvSpPr>
          <p:cNvPr id="6" name="Text 4"/>
          <p:cNvSpPr/>
          <p:nvPr/>
        </p:nvSpPr>
        <p:spPr>
          <a:xfrm>
            <a:off x="2786950" y="1404640"/>
            <a:ext cx="410480" cy="219075"/>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Plan</a:t>
            </a:r>
            <a:endParaRPr lang="en-US" sz="1500" dirty="0"/>
          </a:p>
        </p:txBody>
      </p:sp>
      <p:sp>
        <p:nvSpPr>
          <p:cNvPr id="7" name="Text 5"/>
          <p:cNvSpPr/>
          <p:nvPr/>
        </p:nvSpPr>
        <p:spPr>
          <a:xfrm>
            <a:off x="3599706" y="1366540"/>
            <a:ext cx="259131" cy="295275"/>
          </a:xfrm>
          <a:prstGeom prst="rect">
            <a:avLst/>
          </a:prstGeom>
          <a:noFill/>
          <a:ln/>
        </p:spPr>
        <p:txBody>
          <a:bodyPr wrap="square" lIns="0" tIns="0" rIns="0" bIns="0" rtlCol="0" anchor="t"/>
          <a:lstStyle/>
          <a:p>
            <a:pPr algn="l" indent="0" marL="0">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3980706" y="1206252"/>
            <a:ext cx="1108770" cy="615851"/>
          </a:xfrm>
          <a:prstGeom prst="roundRect">
            <a:avLst>
              <a:gd name="adj" fmla="val 12373"/>
            </a:avLst>
          </a:prstGeom>
          <a:solidFill>
            <a:srgbClr val="FEF3C7"/>
          </a:solidFill>
          <a:ln w="19050">
            <a:solidFill>
              <a:srgbClr val="D97706"/>
            </a:solidFill>
          </a:ln>
        </p:spPr>
        <p:txBody>
          <a:bodyPr wrap="square" rtlCol="0" anchor="ctr"/>
          <a:lstStyle/>
          <a:p>
            <a:pPr indent="0" marL="0">
              <a:buNone/>
            </a:pPr>
            <a:endParaRPr lang="en-US" dirty="0"/>
          </a:p>
        </p:txBody>
      </p:sp>
      <p:sp>
        <p:nvSpPr>
          <p:cNvPr id="9" name="Text 7"/>
          <p:cNvSpPr/>
          <p:nvPr/>
        </p:nvSpPr>
        <p:spPr>
          <a:xfrm>
            <a:off x="4273987" y="1352252"/>
            <a:ext cx="522208" cy="323850"/>
          </a:xfrm>
          <a:prstGeom prst="rect">
            <a:avLst/>
          </a:prstGeom>
          <a:noFill/>
          <a:ln/>
        </p:spPr>
        <p:txBody>
          <a:bodyPr wrap="square" lIns="0" tIns="0" rIns="0" bIns="0" rtlCol="0" anchor="t"/>
          <a:lstStyle/>
          <a:p>
            <a:pPr algn="ctr" indent="0" marL="0">
              <a:buNone/>
            </a:pPr>
            <a:r>
              <a:rPr lang="en-US" sz="2200" b="1" dirty="0">
                <a:solidFill>
                  <a:srgbClr val="D97706"/>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5216426" y="1366540"/>
            <a:ext cx="259131" cy="295275"/>
          </a:xfrm>
          <a:prstGeom prst="rect">
            <a:avLst/>
          </a:prstGeom>
          <a:noFill/>
          <a:ln/>
        </p:spPr>
        <p:txBody>
          <a:bodyPr wrap="square" lIns="0" tIns="0" rIns="0" bIns="0" rtlCol="0" anchor="t"/>
          <a:lstStyle/>
          <a:p>
            <a:pPr algn="l" indent="0" marL="0">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5597426" y="1277689"/>
            <a:ext cx="1034951" cy="472976"/>
          </a:xfrm>
          <a:prstGeom prst="roundRect">
            <a:avLst>
              <a:gd name="adj" fmla="val 16111"/>
            </a:avLst>
          </a:prstGeom>
          <a:solidFill>
            <a:srgbClr val="01499B"/>
          </a:solidFill>
          <a:ln/>
        </p:spPr>
        <p:txBody>
          <a:bodyPr wrap="square" rtlCol="0" anchor="ctr"/>
          <a:lstStyle/>
          <a:p>
            <a:pPr indent="0" marL="0">
              <a:buNone/>
            </a:pPr>
            <a:endParaRPr lang="en-US" dirty="0"/>
          </a:p>
        </p:txBody>
      </p:sp>
      <p:sp>
        <p:nvSpPr>
          <p:cNvPr id="12" name="Text 10"/>
          <p:cNvSpPr/>
          <p:nvPr/>
        </p:nvSpPr>
        <p:spPr>
          <a:xfrm>
            <a:off x="5872014" y="1404640"/>
            <a:ext cx="485775" cy="219075"/>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Done</a:t>
            </a:r>
            <a:endParaRPr lang="en-US" sz="1500" dirty="0"/>
          </a:p>
        </p:txBody>
      </p:sp>
      <p:sp>
        <p:nvSpPr>
          <p:cNvPr id="13" name="Text 11"/>
          <p:cNvSpPr/>
          <p:nvPr/>
        </p:nvSpPr>
        <p:spPr>
          <a:xfrm>
            <a:off x="444401" y="2152204"/>
            <a:ext cx="8420302" cy="209550"/>
          </a:xfrm>
          <a:prstGeom prst="rect">
            <a:avLst/>
          </a:prstGeom>
          <a:noFill/>
          <a:ln/>
        </p:spPr>
        <p:txBody>
          <a:bodyPr wrap="square" lIns="0" tIns="0" rIns="0" bIns="0" rtlCol="0" anchor="t"/>
          <a:lstStyle/>
          <a:p>
            <a:pPr algn="l" indent="0" marL="0">
              <a:buNone/>
            </a:pPr>
            <a:r>
              <a:rPr lang="en-US" sz="1400" b="1" dirty="0">
                <a:solidFill>
                  <a:srgbClr val="1F2937"/>
                </a:solidFill>
                <a:latin typeface="Arial" pitchFamily="34" charset="0"/>
                <a:ea typeface="Arial" pitchFamily="34" charset="-122"/>
                <a:cs typeface="Arial" pitchFamily="34" charset="-120"/>
              </a:rPr>
              <a:t>What’s missing from today’s agentic workflow:</a:t>
            </a:r>
            <a:endParaRPr lang="en-US" sz="1400" dirty="0"/>
          </a:p>
        </p:txBody>
      </p:sp>
      <p:sp>
        <p:nvSpPr>
          <p:cNvPr id="14" name="Text 12"/>
          <p:cNvSpPr/>
          <p:nvPr/>
        </p:nvSpPr>
        <p:spPr>
          <a:xfrm>
            <a:off x="444401" y="2514154"/>
            <a:ext cx="1949500" cy="996851"/>
          </a:xfrm>
          <a:prstGeom prst="roundRect">
            <a:avLst>
              <a:gd name="adj" fmla="val 7644"/>
            </a:avLst>
          </a:prstGeom>
          <a:solidFill>
            <a:srgbClr val="EFF6FF"/>
          </a:solidFill>
          <a:ln/>
        </p:spPr>
        <p:txBody>
          <a:bodyPr wrap="square" rtlCol="0" anchor="ctr"/>
          <a:lstStyle/>
          <a:p>
            <a:pPr indent="0" marL="0">
              <a:buNone/>
            </a:pPr>
            <a:endParaRPr lang="en-US" dirty="0"/>
          </a:p>
        </p:txBody>
      </p:sp>
      <p:sp>
        <p:nvSpPr>
          <p:cNvPr id="15" name="Text 13"/>
          <p:cNvSpPr/>
          <p:nvPr/>
        </p:nvSpPr>
        <p:spPr>
          <a:xfrm>
            <a:off x="596801" y="2641104"/>
            <a:ext cx="1677594" cy="400050"/>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Executable verification</a:t>
            </a:r>
            <a:endParaRPr lang="en-US" sz="1300" dirty="0"/>
          </a:p>
        </p:txBody>
      </p:sp>
      <p:sp>
        <p:nvSpPr>
          <p:cNvPr id="16" name="Text 14"/>
          <p:cNvSpPr/>
          <p:nvPr/>
        </p:nvSpPr>
        <p:spPr>
          <a:xfrm>
            <a:off x="596801" y="3079254"/>
            <a:ext cx="1677594" cy="304800"/>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Checks that run, not docs that describe</a:t>
            </a:r>
            <a:endParaRPr lang="en-US" sz="1100" dirty="0"/>
          </a:p>
        </p:txBody>
      </p:sp>
      <p:sp>
        <p:nvSpPr>
          <p:cNvPr id="17" name="Text 15"/>
          <p:cNvSpPr/>
          <p:nvPr/>
        </p:nvSpPr>
        <p:spPr>
          <a:xfrm>
            <a:off x="2546300" y="2514154"/>
            <a:ext cx="1949500" cy="996851"/>
          </a:xfrm>
          <a:prstGeom prst="roundRect">
            <a:avLst>
              <a:gd name="adj" fmla="val 7644"/>
            </a:avLst>
          </a:prstGeom>
          <a:solidFill>
            <a:srgbClr val="EFF6FF"/>
          </a:solidFill>
          <a:ln/>
        </p:spPr>
        <p:txBody>
          <a:bodyPr wrap="square" rtlCol="0" anchor="ctr"/>
          <a:lstStyle/>
          <a:p>
            <a:pPr indent="0" marL="0">
              <a:buNone/>
            </a:pPr>
            <a:endParaRPr lang="en-US" dirty="0"/>
          </a:p>
        </p:txBody>
      </p:sp>
      <p:sp>
        <p:nvSpPr>
          <p:cNvPr id="18" name="Text 16"/>
          <p:cNvSpPr/>
          <p:nvPr/>
        </p:nvSpPr>
        <p:spPr>
          <a:xfrm>
            <a:off x="2698700" y="2641104"/>
            <a:ext cx="1677594"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Automatic retry</a:t>
            </a:r>
            <a:endParaRPr lang="en-US" sz="1300" dirty="0"/>
          </a:p>
        </p:txBody>
      </p:sp>
      <p:sp>
        <p:nvSpPr>
          <p:cNvPr id="19" name="Text 17"/>
          <p:cNvSpPr/>
          <p:nvPr/>
        </p:nvSpPr>
        <p:spPr>
          <a:xfrm>
            <a:off x="2698700" y="2879229"/>
            <a:ext cx="1677594" cy="304800"/>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With targeted feedback, not just “try again”</a:t>
            </a:r>
            <a:endParaRPr lang="en-US" sz="1100" dirty="0"/>
          </a:p>
        </p:txBody>
      </p:sp>
      <p:sp>
        <p:nvSpPr>
          <p:cNvPr id="20" name="Text 18"/>
          <p:cNvSpPr/>
          <p:nvPr/>
        </p:nvSpPr>
        <p:spPr>
          <a:xfrm>
            <a:off x="4648200" y="2514154"/>
            <a:ext cx="1949500" cy="996851"/>
          </a:xfrm>
          <a:prstGeom prst="roundRect">
            <a:avLst>
              <a:gd name="adj" fmla="val 7644"/>
            </a:avLst>
          </a:prstGeom>
          <a:solidFill>
            <a:srgbClr val="EFF6FF"/>
          </a:solidFill>
          <a:ln/>
        </p:spPr>
        <p:txBody>
          <a:bodyPr wrap="square" rtlCol="0" anchor="ctr"/>
          <a:lstStyle/>
          <a:p>
            <a:pPr indent="0" marL="0">
              <a:buNone/>
            </a:pPr>
            <a:endParaRPr lang="en-US" dirty="0"/>
          </a:p>
        </p:txBody>
      </p:sp>
      <p:sp>
        <p:nvSpPr>
          <p:cNvPr id="21" name="Text 19"/>
          <p:cNvSpPr/>
          <p:nvPr/>
        </p:nvSpPr>
        <p:spPr>
          <a:xfrm>
            <a:off x="4800600" y="2641104"/>
            <a:ext cx="1677594"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Audit trail</a:t>
            </a:r>
            <a:endParaRPr lang="en-US" sz="1300" dirty="0"/>
          </a:p>
        </p:txBody>
      </p:sp>
      <p:sp>
        <p:nvSpPr>
          <p:cNvPr id="22" name="Text 20"/>
          <p:cNvSpPr/>
          <p:nvPr/>
        </p:nvSpPr>
        <p:spPr>
          <a:xfrm>
            <a:off x="4800600" y="2879229"/>
            <a:ext cx="1677594" cy="304800"/>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What was tried and why it failed</a:t>
            </a:r>
            <a:endParaRPr lang="en-US" sz="1100" dirty="0"/>
          </a:p>
        </p:txBody>
      </p:sp>
      <p:sp>
        <p:nvSpPr>
          <p:cNvPr id="23" name="Text 21"/>
          <p:cNvSpPr/>
          <p:nvPr/>
        </p:nvSpPr>
        <p:spPr>
          <a:xfrm>
            <a:off x="6750100" y="2514154"/>
            <a:ext cx="1949500" cy="996851"/>
          </a:xfrm>
          <a:prstGeom prst="roundRect">
            <a:avLst>
              <a:gd name="adj" fmla="val 7644"/>
            </a:avLst>
          </a:prstGeom>
          <a:solidFill>
            <a:srgbClr val="EFF6FF"/>
          </a:solidFill>
          <a:ln/>
        </p:spPr>
        <p:txBody>
          <a:bodyPr wrap="square" rtlCol="0" anchor="ctr"/>
          <a:lstStyle/>
          <a:p>
            <a:pPr indent="0" marL="0">
              <a:buNone/>
            </a:pPr>
            <a:endParaRPr lang="en-US" dirty="0"/>
          </a:p>
        </p:txBody>
      </p:sp>
      <p:sp>
        <p:nvSpPr>
          <p:cNvPr id="24" name="Text 22"/>
          <p:cNvSpPr/>
          <p:nvPr/>
        </p:nvSpPr>
        <p:spPr>
          <a:xfrm>
            <a:off x="6902500" y="2641104"/>
            <a:ext cx="1677594"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Human handoff</a:t>
            </a:r>
            <a:endParaRPr lang="en-US" sz="1300" dirty="0"/>
          </a:p>
        </p:txBody>
      </p:sp>
      <p:sp>
        <p:nvSpPr>
          <p:cNvPr id="25" name="Text 23"/>
          <p:cNvSpPr/>
          <p:nvPr/>
        </p:nvSpPr>
        <p:spPr>
          <a:xfrm>
            <a:off x="6902500" y="2879229"/>
            <a:ext cx="1677594" cy="304800"/>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Resume from the exact failure point</a:t>
            </a:r>
            <a:endParaRPr lang="en-US" sz="1100" dirty="0"/>
          </a:p>
        </p:txBody>
      </p:sp>
      <p:sp>
        <p:nvSpPr>
          <p:cNvPr id="26" name="Text 24"/>
          <p:cNvSpPr/>
          <p:nvPr/>
        </p:nvSpPr>
        <p:spPr>
          <a:xfrm>
            <a:off x="444401" y="3663404"/>
            <a:ext cx="8255198" cy="438150"/>
          </a:xfrm>
          <a:prstGeom prst="rect">
            <a:avLst/>
          </a:prstGeom>
          <a:solidFill>
            <a:srgbClr val="EFF6FF"/>
          </a:solidFill>
          <a:ln/>
        </p:spPr>
        <p:txBody>
          <a:bodyPr wrap="square" rtlCol="0" anchor="ctr"/>
          <a:lstStyle/>
          <a:p>
            <a:pPr indent="0" marL="0">
              <a:buNone/>
            </a:pPr>
            <a:endParaRPr lang="en-US" dirty="0"/>
          </a:p>
        </p:txBody>
      </p:sp>
      <p:sp>
        <p:nvSpPr>
          <p:cNvPr id="27" name="Shape 25"/>
          <p:cNvSpPr/>
          <p:nvPr/>
        </p:nvSpPr>
        <p:spPr>
          <a:xfrm>
            <a:off x="472976" y="3663404"/>
            <a:ext cx="0" cy="438150"/>
          </a:xfrm>
          <a:prstGeom prst="line">
            <a:avLst/>
          </a:prstGeom>
          <a:noFill/>
          <a:ln w="57150">
            <a:solidFill>
              <a:srgbClr val="01499B"/>
            </a:solidFill>
            <a:prstDash val="solid"/>
          </a:ln>
        </p:spPr>
      </p:sp>
      <p:sp>
        <p:nvSpPr>
          <p:cNvPr id="28" name="Text 26"/>
          <p:cNvSpPr/>
          <p:nvPr/>
        </p:nvSpPr>
        <p:spPr>
          <a:xfrm>
            <a:off x="679252" y="3777704"/>
            <a:ext cx="7999500" cy="209550"/>
          </a:xfrm>
          <a:prstGeom prst="rect">
            <a:avLst/>
          </a:prstGeom>
          <a:noFill/>
          <a:ln/>
        </p:spPr>
        <p:txBody>
          <a:bodyPr wrap="square" lIns="0" tIns="0" rIns="0" bIns="0" rtlCol="0" anchor="t"/>
          <a:lstStyle/>
          <a:p>
            <a:pPr algn="l" indent="0" marL="0">
              <a:buNone/>
            </a:pPr>
            <a:r>
              <a:rPr lang="en-US" sz="1400" b="1" dirty="0">
                <a:solidFill>
                  <a:srgbClr val="1F2937"/>
                </a:solidFill>
                <a:latin typeface="Arial" pitchFamily="34" charset="0"/>
                <a:ea typeface="Arial" pitchFamily="34" charset="-122"/>
                <a:cs typeface="Arial" pitchFamily="34" charset="-120"/>
              </a:rPr>
              <a:t>Guardrails</a:t>
            </a:r>
            <a:pPr algn="l" indent="0" marL="0">
              <a:buNone/>
            </a:pPr>
            <a:r>
              <a:rPr lang="en-US" sz="1400" dirty="0">
                <a:solidFill>
                  <a:srgbClr val="1F2937"/>
                </a:solidFill>
                <a:latin typeface="Arial" pitchFamily="34" charset="0"/>
                <a:ea typeface="Arial" pitchFamily="34" charset="-122"/>
                <a:cs typeface="Arial" pitchFamily="34" charset="-120"/>
              </a:rPr>
              <a:t> is the CI pipeline for agentic work.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2936813"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What Is Guardrails?</a:t>
            </a:r>
            <a:endParaRPr lang="en-US" sz="2400" dirty="0"/>
          </a:p>
        </p:txBody>
      </p:sp>
      <p:sp>
        <p:nvSpPr>
          <p:cNvPr id="4" name="Text 2"/>
          <p:cNvSpPr/>
          <p:nvPr/>
        </p:nvSpPr>
        <p:spPr>
          <a:xfrm>
            <a:off x="444401" y="1015901"/>
            <a:ext cx="8255198" cy="806351"/>
          </a:xfrm>
          <a:prstGeom prst="roundRect">
            <a:avLst>
              <a:gd name="adj" fmla="val 12600"/>
            </a:avLst>
          </a:prstGeom>
          <a:solidFill>
            <a:srgbClr val="EFF6FF"/>
          </a:solidFill>
          <a:ln w="19050">
            <a:solidFill>
              <a:srgbClr val="01499B"/>
            </a:solidFill>
          </a:ln>
        </p:spPr>
        <p:txBody>
          <a:bodyPr wrap="square" rtlCol="0" anchor="ctr"/>
          <a:lstStyle/>
          <a:p>
            <a:pPr indent="0" marL="0">
              <a:buNone/>
            </a:pPr>
            <a:endParaRPr lang="en-US" dirty="0"/>
          </a:p>
        </p:txBody>
      </p:sp>
      <p:sp>
        <p:nvSpPr>
          <p:cNvPr id="5" name="Text 3"/>
          <p:cNvSpPr/>
          <p:nvPr/>
        </p:nvSpPr>
        <p:spPr>
          <a:xfrm>
            <a:off x="692051" y="1200001"/>
            <a:ext cx="7915096" cy="438150"/>
          </a:xfrm>
          <a:prstGeom prst="rect">
            <a:avLst/>
          </a:prstGeom>
          <a:noFill/>
          <a:ln/>
        </p:spPr>
        <p:txBody>
          <a:bodyPr wrap="square" lIns="0" tIns="0" rIns="0" bIns="0" rtlCol="0" anchor="t"/>
          <a:lstStyle/>
          <a:p>
            <a:pPr algn="l" indent="0" marL="0">
              <a:buNone/>
            </a:pPr>
            <a:r>
              <a:rPr lang="en-US" sz="1500" dirty="0">
                <a:solidFill>
                  <a:srgbClr val="01499B"/>
                </a:solidFill>
                <a:latin typeface="Arial" pitchFamily="34" charset="0"/>
                <a:ea typeface="Arial" pitchFamily="34" charset="-122"/>
                <a:cs typeface="Arial" pitchFamily="34" charset="-120"/>
              </a:rPr>
              <a:t>A harness for agentic engineering that makes AI-driven tasks </a:t>
            </a:r>
            <a:pPr algn="l" indent="0" marL="0">
              <a:buNone/>
            </a:pPr>
            <a:r>
              <a:rPr lang="en-US" sz="1500" b="1" i="1" dirty="0">
                <a:solidFill>
                  <a:srgbClr val="01499B"/>
                </a:solidFill>
                <a:latin typeface="Arial" pitchFamily="34" charset="0"/>
                <a:ea typeface="Arial" pitchFamily="34" charset="-122"/>
                <a:cs typeface="Arial" pitchFamily="34" charset="-120"/>
              </a:rPr>
              <a:t>verifiable, retryable, and resumable</a:t>
            </a:r>
            <a:pPr algn="l" indent="0" marL="0">
              <a:buNone/>
            </a:pPr>
            <a:r>
              <a:rPr lang="en-US" sz="1500" dirty="0">
                <a:solidFill>
                  <a:srgbClr val="01499B"/>
                </a:solidFill>
                <a:latin typeface="Arial" pitchFamily="34" charset="0"/>
                <a:ea typeface="Arial" pitchFamily="34" charset="-122"/>
                <a:cs typeface="Arial" pitchFamily="34" charset="-120"/>
              </a:rPr>
              <a:t>.</a:t>
            </a:r>
            <a:endParaRPr lang="en-US" sz="1500" dirty="0"/>
          </a:p>
        </p:txBody>
      </p:sp>
      <p:sp>
        <p:nvSpPr>
          <p:cNvPr id="6" name="Text 4"/>
          <p:cNvSpPr/>
          <p:nvPr/>
        </p:nvSpPr>
        <p:spPr>
          <a:xfrm>
            <a:off x="444401" y="1974652"/>
            <a:ext cx="330101" cy="330101"/>
          </a:xfrm>
          <a:prstGeom prst="roundRect">
            <a:avLst>
              <a:gd name="adj" fmla="val 277006"/>
            </a:avLst>
          </a:prstGeom>
          <a:solidFill>
            <a:srgbClr val="01499B"/>
          </a:solidFill>
          <a:ln/>
        </p:spPr>
        <p:txBody>
          <a:bodyPr wrap="square" rtlCol="0" anchor="ctr"/>
          <a:lstStyle/>
          <a:p>
            <a:pPr indent="0" marL="0">
              <a:buNone/>
            </a:pPr>
            <a:endParaRPr lang="en-US" dirty="0"/>
          </a:p>
        </p:txBody>
      </p:sp>
      <p:sp>
        <p:nvSpPr>
          <p:cNvPr id="7" name="Text 5"/>
          <p:cNvSpPr/>
          <p:nvPr/>
        </p:nvSpPr>
        <p:spPr>
          <a:xfrm>
            <a:off x="567035" y="20539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901452" y="1974652"/>
            <a:ext cx="2219688"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Structures work</a:t>
            </a:r>
            <a:endParaRPr lang="en-US" sz="1300" dirty="0"/>
          </a:p>
        </p:txBody>
      </p:sp>
      <p:sp>
        <p:nvSpPr>
          <p:cNvPr id="9" name="Text 7"/>
          <p:cNvSpPr/>
          <p:nvPr/>
        </p:nvSpPr>
        <p:spPr>
          <a:xfrm>
            <a:off x="901452" y="2212777"/>
            <a:ext cx="2219688" cy="68580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Breaks plans into a DAG of tasks — each with an action and proof-of-correctness checks</a:t>
            </a:r>
            <a:endParaRPr lang="en-US" sz="1200" dirty="0"/>
          </a:p>
        </p:txBody>
      </p:sp>
      <p:sp>
        <p:nvSpPr>
          <p:cNvPr id="10" name="Text 8"/>
          <p:cNvSpPr/>
          <p:nvPr/>
        </p:nvSpPr>
        <p:spPr>
          <a:xfrm>
            <a:off x="3255318" y="1974652"/>
            <a:ext cx="330101" cy="330101"/>
          </a:xfrm>
          <a:prstGeom prst="roundRect">
            <a:avLst>
              <a:gd name="adj" fmla="val 277006"/>
            </a:avLst>
          </a:prstGeom>
          <a:solidFill>
            <a:srgbClr val="01499B"/>
          </a:solidFill>
          <a:ln/>
        </p:spPr>
        <p:txBody>
          <a:bodyPr wrap="square" rtlCol="0" anchor="ctr"/>
          <a:lstStyle/>
          <a:p>
            <a:pPr indent="0" marL="0">
              <a:buNone/>
            </a:pPr>
            <a:endParaRPr lang="en-US" dirty="0"/>
          </a:p>
        </p:txBody>
      </p:sp>
      <p:sp>
        <p:nvSpPr>
          <p:cNvPr id="11" name="Text 9"/>
          <p:cNvSpPr/>
          <p:nvPr/>
        </p:nvSpPr>
        <p:spPr>
          <a:xfrm>
            <a:off x="3377952" y="20539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3712369" y="1974652"/>
            <a:ext cx="2219688"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Executes the DAG</a:t>
            </a:r>
            <a:endParaRPr lang="en-US" sz="1300" dirty="0"/>
          </a:p>
        </p:txBody>
      </p:sp>
      <p:sp>
        <p:nvSpPr>
          <p:cNvPr id="13" name="Text 11"/>
          <p:cNvSpPr/>
          <p:nvPr/>
        </p:nvSpPr>
        <p:spPr>
          <a:xfrm>
            <a:off x="3712369" y="2212777"/>
            <a:ext cx="2219688" cy="5143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Runs actions, verifies results, retries with targeted feedback on failure</a:t>
            </a:r>
            <a:endParaRPr lang="en-US" sz="1200" dirty="0"/>
          </a:p>
        </p:txBody>
      </p:sp>
      <p:sp>
        <p:nvSpPr>
          <p:cNvPr id="14" name="Text 12"/>
          <p:cNvSpPr/>
          <p:nvPr/>
        </p:nvSpPr>
        <p:spPr>
          <a:xfrm>
            <a:off x="6066234" y="1974652"/>
            <a:ext cx="330101" cy="330101"/>
          </a:xfrm>
          <a:prstGeom prst="roundRect">
            <a:avLst>
              <a:gd name="adj" fmla="val 277006"/>
            </a:avLst>
          </a:prstGeom>
          <a:solidFill>
            <a:srgbClr val="01499B"/>
          </a:solidFill>
          <a:ln/>
        </p:spPr>
        <p:txBody>
          <a:bodyPr wrap="square" rtlCol="0" anchor="ctr"/>
          <a:lstStyle/>
          <a:p>
            <a:pPr indent="0" marL="0">
              <a:buNone/>
            </a:pPr>
            <a:endParaRPr lang="en-US" dirty="0"/>
          </a:p>
        </p:txBody>
      </p:sp>
      <p:sp>
        <p:nvSpPr>
          <p:cNvPr id="15" name="Text 13"/>
          <p:cNvSpPr/>
          <p:nvPr/>
        </p:nvSpPr>
        <p:spPr>
          <a:xfrm>
            <a:off x="6188869" y="20539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6523286" y="1974652"/>
            <a:ext cx="2219688" cy="200025"/>
          </a:xfrm>
          <a:prstGeom prst="rect">
            <a:avLst/>
          </a:prstGeom>
          <a:noFill/>
          <a:ln/>
        </p:spPr>
        <p:txBody>
          <a:bodyPr wrap="square" lIns="0" tIns="0" rIns="0" bIns="0" rtlCol="0" anchor="t"/>
          <a:lstStyle/>
          <a:p>
            <a:pPr algn="l" indent="0" marL="0">
              <a:spcAft>
                <a:spcPts val="300"/>
              </a:spcAft>
              <a:buNone/>
            </a:pPr>
            <a:r>
              <a:rPr lang="en-US" sz="1300" b="1" dirty="0">
                <a:solidFill>
                  <a:srgbClr val="01499B"/>
                </a:solidFill>
                <a:latin typeface="Arial" pitchFamily="34" charset="0"/>
                <a:ea typeface="Arial" pitchFamily="34" charset="-122"/>
                <a:cs typeface="Arial" pitchFamily="34" charset="-120"/>
              </a:rPr>
              <a:t>Preserves progress</a:t>
            </a:r>
            <a:endParaRPr lang="en-US" sz="1300" dirty="0"/>
          </a:p>
        </p:txBody>
      </p:sp>
      <p:sp>
        <p:nvSpPr>
          <p:cNvPr id="17" name="Text 15"/>
          <p:cNvSpPr/>
          <p:nvPr/>
        </p:nvSpPr>
        <p:spPr>
          <a:xfrm>
            <a:off x="6523286" y="2212777"/>
            <a:ext cx="2219688" cy="68580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Independent branches keep running; failed tasks halt for human review without losing completed work</a:t>
            </a:r>
            <a:endParaRPr lang="en-US" sz="1200" dirty="0"/>
          </a:p>
        </p:txBody>
      </p:sp>
      <p:sp>
        <p:nvSpPr>
          <p:cNvPr id="18" name="Text 16"/>
          <p:cNvSpPr/>
          <p:nvPr/>
        </p:nvSpPr>
        <p:spPr>
          <a:xfrm>
            <a:off x="444401" y="3050977"/>
            <a:ext cx="8420302" cy="152400"/>
          </a:xfrm>
          <a:prstGeom prst="rect">
            <a:avLst/>
          </a:prstGeom>
          <a:noFill/>
          <a:ln/>
        </p:spPr>
        <p:txBody>
          <a:bodyPr wrap="square" lIns="0" tIns="0" rIns="0" bIns="0" rtlCol="0" anchor="t"/>
          <a:lstStyle/>
          <a:p>
            <a:pPr algn="l" indent="0" marL="0">
              <a:spcAft>
                <a:spcPts val="700"/>
              </a:spcAft>
              <a:buNone/>
            </a:pPr>
            <a:r>
              <a:rPr lang="en-US" sz="1100" b="1" dirty="0">
                <a:solidFill>
                  <a:srgbClr val="6B7280"/>
                </a:solidFill>
                <a:latin typeface="Arial" pitchFamily="34" charset="0"/>
                <a:ea typeface="Arial" pitchFamily="34" charset="-122"/>
                <a:cs typeface="Arial" pitchFamily="34" charset="-120"/>
              </a:rPr>
              <a:t>DELIVERED AS</a:t>
            </a:r>
            <a:endParaRPr lang="en-US" sz="1100" dirty="0"/>
          </a:p>
        </p:txBody>
      </p:sp>
      <p:sp>
        <p:nvSpPr>
          <p:cNvPr id="19" name="Text 17"/>
          <p:cNvSpPr/>
          <p:nvPr/>
        </p:nvSpPr>
        <p:spPr>
          <a:xfrm>
            <a:off x="444401" y="3292227"/>
            <a:ext cx="1816298" cy="555427"/>
          </a:xfrm>
          <a:prstGeom prst="roundRect">
            <a:avLst>
              <a:gd name="adj" fmla="val 13719"/>
            </a:avLst>
          </a:prstGeom>
          <a:solidFill>
            <a:srgbClr val="1E293B"/>
          </a:solidFill>
          <a:ln/>
        </p:spPr>
        <p:txBody>
          <a:bodyPr wrap="square" rtlCol="0" anchor="ctr"/>
          <a:lstStyle/>
          <a:p>
            <a:pPr indent="0" marL="0">
              <a:buNone/>
            </a:pPr>
            <a:endParaRPr lang="en-US" dirty="0"/>
          </a:p>
        </p:txBody>
      </p:sp>
      <p:sp>
        <p:nvSpPr>
          <p:cNvPr id="20" name="Text 18"/>
          <p:cNvSpPr/>
          <p:nvPr/>
        </p:nvSpPr>
        <p:spPr>
          <a:xfrm>
            <a:off x="622102" y="3393728"/>
            <a:ext cx="1490115" cy="171450"/>
          </a:xfrm>
          <a:prstGeom prst="rect">
            <a:avLst/>
          </a:prstGeom>
          <a:noFill/>
          <a:ln/>
        </p:spPr>
        <p:txBody>
          <a:bodyPr wrap="square" lIns="0" tIns="0" rIns="0" bIns="0" rtlCol="0" anchor="t"/>
          <a:lstStyle/>
          <a:p>
            <a:pPr algn="l" indent="0" marL="0">
              <a:buNone/>
            </a:pPr>
            <a:r>
              <a:rPr lang="en-US" sz="1200" dirty="0">
                <a:solidFill>
                  <a:srgbClr val="60A5FA"/>
                </a:solidFill>
                <a:latin typeface="Courier New" pitchFamily="34" charset="0"/>
                <a:ea typeface="Courier New" pitchFamily="34" charset="-122"/>
                <a:cs typeface="Courier New" pitchFamily="34" charset="-120"/>
              </a:rPr>
              <a:t>guardrails</a:t>
            </a:r>
            <a:endParaRPr lang="en-US" sz="1200" dirty="0"/>
          </a:p>
        </p:txBody>
      </p:sp>
      <p:sp>
        <p:nvSpPr>
          <p:cNvPr id="21" name="Text 19"/>
          <p:cNvSpPr/>
          <p:nvPr/>
        </p:nvSpPr>
        <p:spPr>
          <a:xfrm>
            <a:off x="622102" y="3603278"/>
            <a:ext cx="1490115" cy="142875"/>
          </a:xfrm>
          <a:prstGeom prst="rect">
            <a:avLst/>
          </a:prstGeom>
          <a:noFill/>
          <a:ln/>
        </p:spPr>
        <p:txBody>
          <a:bodyPr wrap="square" lIns="0" tIns="0" rIns="0" bIns="0" rtlCol="0" anchor="t"/>
          <a:lstStyle/>
          <a:p>
            <a:pPr algn="l" indent="0" marL="0">
              <a:spcBef>
                <a:spcPts val="300"/>
              </a:spcBef>
              <a:buNone/>
            </a:pPr>
            <a:r>
              <a:rPr lang="en-US" sz="1000" dirty="0">
                <a:solidFill>
                  <a:srgbClr val="94A3B8"/>
                </a:solidFill>
                <a:latin typeface="Arial" pitchFamily="34" charset="0"/>
                <a:ea typeface="Arial" pitchFamily="34" charset="-122"/>
                <a:cs typeface="Arial" pitchFamily="34" charset="-120"/>
              </a:rPr>
              <a:t>Cross-platform dotnet tool</a:t>
            </a:r>
            <a:endParaRPr lang="en-US" sz="1000" dirty="0"/>
          </a:p>
        </p:txBody>
      </p:sp>
      <p:sp>
        <p:nvSpPr>
          <p:cNvPr id="22" name="Text 20"/>
          <p:cNvSpPr/>
          <p:nvPr/>
        </p:nvSpPr>
        <p:spPr>
          <a:xfrm>
            <a:off x="2413099" y="3292227"/>
            <a:ext cx="1727299" cy="555427"/>
          </a:xfrm>
          <a:prstGeom prst="roundRect">
            <a:avLst>
              <a:gd name="adj" fmla="val 13719"/>
            </a:avLst>
          </a:prstGeom>
          <a:solidFill>
            <a:srgbClr val="1E293B"/>
          </a:solidFill>
          <a:ln/>
        </p:spPr>
        <p:txBody>
          <a:bodyPr wrap="square" rtlCol="0" anchor="ctr"/>
          <a:lstStyle/>
          <a:p>
            <a:pPr indent="0" marL="0">
              <a:buNone/>
            </a:pPr>
            <a:endParaRPr lang="en-US" dirty="0"/>
          </a:p>
        </p:txBody>
      </p:sp>
      <p:sp>
        <p:nvSpPr>
          <p:cNvPr id="23" name="Text 21"/>
          <p:cNvSpPr/>
          <p:nvPr/>
        </p:nvSpPr>
        <p:spPr>
          <a:xfrm>
            <a:off x="2590800" y="3393728"/>
            <a:ext cx="1399336" cy="171450"/>
          </a:xfrm>
          <a:prstGeom prst="rect">
            <a:avLst/>
          </a:prstGeom>
          <a:noFill/>
          <a:ln/>
        </p:spPr>
        <p:txBody>
          <a:bodyPr wrap="square" lIns="0" tIns="0" rIns="0" bIns="0" rtlCol="0" anchor="t"/>
          <a:lstStyle/>
          <a:p>
            <a:pPr algn="l" indent="0" marL="0">
              <a:buNone/>
            </a:pPr>
            <a:r>
              <a:rPr lang="en-US" sz="1200" dirty="0">
                <a:solidFill>
                  <a:srgbClr val="60A5FA"/>
                </a:solidFill>
                <a:latin typeface="Courier New" pitchFamily="34" charset="0"/>
                <a:ea typeface="Courier New" pitchFamily="34" charset="-122"/>
                <a:cs typeface="Courier New" pitchFamily="34" charset="-120"/>
              </a:rPr>
              <a:t>/plan-breakdown</a:t>
            </a:r>
            <a:endParaRPr lang="en-US" sz="1200" dirty="0"/>
          </a:p>
        </p:txBody>
      </p:sp>
      <p:sp>
        <p:nvSpPr>
          <p:cNvPr id="24" name="Text 22"/>
          <p:cNvSpPr/>
          <p:nvPr/>
        </p:nvSpPr>
        <p:spPr>
          <a:xfrm>
            <a:off x="2590800" y="3603278"/>
            <a:ext cx="1399336" cy="142875"/>
          </a:xfrm>
          <a:prstGeom prst="rect">
            <a:avLst/>
          </a:prstGeom>
          <a:noFill/>
          <a:ln/>
        </p:spPr>
        <p:txBody>
          <a:bodyPr wrap="square" lIns="0" tIns="0" rIns="0" bIns="0" rtlCol="0" anchor="t"/>
          <a:lstStyle/>
          <a:p>
            <a:pPr algn="l" indent="0" marL="0">
              <a:spcBef>
                <a:spcPts val="300"/>
              </a:spcBef>
              <a:buNone/>
            </a:pPr>
            <a:r>
              <a:rPr lang="en-US" sz="1000" dirty="0">
                <a:solidFill>
                  <a:srgbClr val="94A3B8"/>
                </a:solidFill>
                <a:latin typeface="Arial" pitchFamily="34" charset="0"/>
                <a:ea typeface="Arial" pitchFamily="34" charset="-122"/>
                <a:cs typeface="Arial" pitchFamily="34" charset="-120"/>
              </a:rPr>
              <a:t>Claude Code skill</a:t>
            </a:r>
            <a:endParaRPr lang="en-US" sz="1000" dirty="0"/>
          </a:p>
        </p:txBody>
      </p:sp>
      <p:sp>
        <p:nvSpPr>
          <p:cNvPr id="25" name="Text 23"/>
          <p:cNvSpPr/>
          <p:nvPr/>
        </p:nvSpPr>
        <p:spPr>
          <a:xfrm>
            <a:off x="4292798" y="3292227"/>
            <a:ext cx="1910209" cy="555427"/>
          </a:xfrm>
          <a:prstGeom prst="roundRect">
            <a:avLst>
              <a:gd name="adj" fmla="val 13719"/>
            </a:avLst>
          </a:prstGeom>
          <a:solidFill>
            <a:srgbClr val="1E293B"/>
          </a:solidFill>
          <a:ln/>
        </p:spPr>
        <p:txBody>
          <a:bodyPr wrap="square" rtlCol="0" anchor="ctr"/>
          <a:lstStyle/>
          <a:p>
            <a:pPr indent="0" marL="0">
              <a:buNone/>
            </a:pPr>
            <a:endParaRPr lang="en-US" dirty="0"/>
          </a:p>
        </p:txBody>
      </p:sp>
      <p:sp>
        <p:nvSpPr>
          <p:cNvPr id="26" name="Text 24"/>
          <p:cNvSpPr/>
          <p:nvPr/>
        </p:nvSpPr>
        <p:spPr>
          <a:xfrm>
            <a:off x="4470499" y="3393728"/>
            <a:ext cx="1585904" cy="171450"/>
          </a:xfrm>
          <a:prstGeom prst="rect">
            <a:avLst/>
          </a:prstGeom>
          <a:noFill/>
          <a:ln/>
        </p:spPr>
        <p:txBody>
          <a:bodyPr wrap="square" lIns="0" tIns="0" rIns="0" bIns="0" rtlCol="0" anchor="t"/>
          <a:lstStyle/>
          <a:p>
            <a:pPr algn="l" indent="0" marL="0">
              <a:buNone/>
            </a:pPr>
            <a:r>
              <a:rPr lang="en-US" sz="1200" dirty="0">
                <a:solidFill>
                  <a:srgbClr val="60A5FA"/>
                </a:solidFill>
                <a:latin typeface="Courier New" pitchFamily="34" charset="0"/>
                <a:ea typeface="Courier New" pitchFamily="34" charset="-122"/>
                <a:cs typeface="Courier New" pitchFamily="34" charset="-120"/>
              </a:rPr>
              <a:t>/guardrail-review</a:t>
            </a:r>
            <a:endParaRPr lang="en-US" sz="1200" dirty="0"/>
          </a:p>
        </p:txBody>
      </p:sp>
      <p:sp>
        <p:nvSpPr>
          <p:cNvPr id="27" name="Text 25"/>
          <p:cNvSpPr/>
          <p:nvPr/>
        </p:nvSpPr>
        <p:spPr>
          <a:xfrm>
            <a:off x="4470499" y="3603278"/>
            <a:ext cx="1585904" cy="142875"/>
          </a:xfrm>
          <a:prstGeom prst="rect">
            <a:avLst/>
          </a:prstGeom>
          <a:noFill/>
          <a:ln/>
        </p:spPr>
        <p:txBody>
          <a:bodyPr wrap="square" lIns="0" tIns="0" rIns="0" bIns="0" rtlCol="0" anchor="t"/>
          <a:lstStyle/>
          <a:p>
            <a:pPr algn="l" indent="0" marL="0">
              <a:spcBef>
                <a:spcPts val="300"/>
              </a:spcBef>
              <a:buNone/>
            </a:pPr>
            <a:r>
              <a:rPr lang="en-US" sz="1000" dirty="0">
                <a:solidFill>
                  <a:srgbClr val="94A3B8"/>
                </a:solidFill>
                <a:latin typeface="Arial" pitchFamily="34" charset="0"/>
                <a:ea typeface="Arial" pitchFamily="34" charset="-122"/>
                <a:cs typeface="Arial" pitchFamily="34" charset="-120"/>
              </a:rPr>
              <a:t>Claude Code skill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3759595"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The Four-Stage Workflow</a:t>
            </a:r>
            <a:endParaRPr lang="en-US" sz="2400" dirty="0"/>
          </a:p>
        </p:txBody>
      </p:sp>
      <p:sp>
        <p:nvSpPr>
          <p:cNvPr id="4" name="Text 2"/>
          <p:cNvSpPr/>
          <p:nvPr/>
        </p:nvSpPr>
        <p:spPr>
          <a:xfrm>
            <a:off x="444401" y="1003102"/>
            <a:ext cx="1797248" cy="999976"/>
          </a:xfrm>
          <a:prstGeom prst="roundRect">
            <a:avLst>
              <a:gd name="adj" fmla="val 7620"/>
            </a:avLst>
          </a:prstGeom>
          <a:solidFill>
            <a:srgbClr val="EFF6FF"/>
          </a:solidFill>
          <a:ln w="19050">
            <a:solidFill>
              <a:srgbClr val="01499B"/>
            </a:solidFill>
          </a:ln>
        </p:spPr>
        <p:txBody>
          <a:bodyPr wrap="square" rtlCol="0" anchor="ctr"/>
          <a:lstStyle/>
          <a:p>
            <a:pPr indent="0" marL="0">
              <a:buNone/>
            </a:pPr>
            <a:endParaRPr lang="en-US" dirty="0"/>
          </a:p>
        </p:txBody>
      </p:sp>
      <p:sp>
        <p:nvSpPr>
          <p:cNvPr id="5" name="Text 3"/>
          <p:cNvSpPr/>
          <p:nvPr/>
        </p:nvSpPr>
        <p:spPr>
          <a:xfrm>
            <a:off x="549390" y="1174552"/>
            <a:ext cx="1587270" cy="266700"/>
          </a:xfrm>
          <a:prstGeom prst="rect">
            <a:avLst/>
          </a:prstGeom>
          <a:noFill/>
          <a:ln/>
        </p:spPr>
        <p:txBody>
          <a:bodyPr wrap="square" lIns="0" tIns="0" rIns="0" bIns="0" rtlCol="0" anchor="t"/>
          <a:lstStyle/>
          <a:p>
            <a:pPr algn="ctr" indent="0" marL="0">
              <a:spcAft>
                <a:spcPts val="400"/>
              </a:spcAft>
              <a:buNone/>
            </a:pPr>
            <a:r>
              <a:rPr lang="en-US" sz="1800" b="1" dirty="0">
                <a:solidFill>
                  <a:srgbClr val="F36F21"/>
                </a:solidFill>
                <a:latin typeface="Arial" pitchFamily="34" charset="0"/>
                <a:ea typeface="Arial" pitchFamily="34" charset="-122"/>
                <a:cs typeface="Arial" pitchFamily="34" charset="-120"/>
              </a:rPr>
              <a:t>①</a:t>
            </a:r>
            <a:endParaRPr lang="en-US" sz="1800" dirty="0"/>
          </a:p>
        </p:txBody>
      </p:sp>
      <p:sp>
        <p:nvSpPr>
          <p:cNvPr id="6" name="Text 4"/>
          <p:cNvSpPr/>
          <p:nvPr/>
        </p:nvSpPr>
        <p:spPr>
          <a:xfrm>
            <a:off x="549390" y="1492002"/>
            <a:ext cx="1587270" cy="171450"/>
          </a:xfrm>
          <a:prstGeom prst="rect">
            <a:avLst/>
          </a:prstGeom>
          <a:noFill/>
          <a:ln/>
        </p:spPr>
        <p:txBody>
          <a:bodyPr wrap="square" lIns="0" tIns="0" rIns="0" bIns="0" rtlCol="0" anchor="t"/>
          <a:lstStyle/>
          <a:p>
            <a:pPr algn="ctr" indent="0" marL="0">
              <a:spcAft>
                <a:spcPts val="200"/>
              </a:spcAft>
              <a:buNone/>
            </a:pPr>
            <a:r>
              <a:rPr lang="en-US" sz="1200" b="1" dirty="0">
                <a:solidFill>
                  <a:srgbClr val="01499B"/>
                </a:solidFill>
                <a:latin typeface="Arial" pitchFamily="34" charset="0"/>
                <a:ea typeface="Arial" pitchFamily="34" charset="-122"/>
                <a:cs typeface="Arial" pitchFamily="34" charset="-120"/>
              </a:rPr>
              <a:t>Write a Plan</a:t>
            </a:r>
            <a:endParaRPr lang="en-US" sz="1200" dirty="0"/>
          </a:p>
        </p:txBody>
      </p:sp>
      <p:sp>
        <p:nvSpPr>
          <p:cNvPr id="7" name="Text 5"/>
          <p:cNvSpPr/>
          <p:nvPr/>
        </p:nvSpPr>
        <p:spPr>
          <a:xfrm>
            <a:off x="549390" y="1688753"/>
            <a:ext cx="1587270" cy="142875"/>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Markdown doc</a:t>
            </a:r>
            <a:endParaRPr lang="en-US" sz="1000" dirty="0"/>
          </a:p>
        </p:txBody>
      </p:sp>
      <p:sp>
        <p:nvSpPr>
          <p:cNvPr id="8" name="Text 6"/>
          <p:cNvSpPr/>
          <p:nvPr/>
        </p:nvSpPr>
        <p:spPr>
          <a:xfrm>
            <a:off x="2305050" y="1369665"/>
            <a:ext cx="233172" cy="266700"/>
          </a:xfrm>
          <a:prstGeom prst="rect">
            <a:avLst/>
          </a:prstGeom>
          <a:noFill/>
          <a:ln/>
        </p:spPr>
        <p:txBody>
          <a:bodyPr wrap="square" lIns="0" tIns="0" rIns="0" bIns="0" rtlCol="0" anchor="t"/>
          <a:lstStyle/>
          <a:p>
            <a:pPr algn="l" indent="0" marL="0">
              <a:buNone/>
            </a:pPr>
            <a:r>
              <a:rPr lang="en-US" sz="1800" dirty="0">
                <a:solidFill>
                  <a:srgbClr val="01499B"/>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2597051" y="1003102"/>
            <a:ext cx="1797248" cy="999976"/>
          </a:xfrm>
          <a:prstGeom prst="roundRect">
            <a:avLst>
              <a:gd name="adj" fmla="val 7620"/>
            </a:avLst>
          </a:prstGeom>
          <a:solidFill>
            <a:srgbClr val="EFF6FF"/>
          </a:solidFill>
          <a:ln w="19050">
            <a:solidFill>
              <a:srgbClr val="01499B"/>
            </a:solidFill>
          </a:ln>
        </p:spPr>
        <p:txBody>
          <a:bodyPr wrap="square" rtlCol="0" anchor="ctr"/>
          <a:lstStyle/>
          <a:p>
            <a:pPr indent="0" marL="0">
              <a:buNone/>
            </a:pPr>
            <a:endParaRPr lang="en-US" dirty="0"/>
          </a:p>
        </p:txBody>
      </p:sp>
      <p:sp>
        <p:nvSpPr>
          <p:cNvPr id="10" name="Text 8"/>
          <p:cNvSpPr/>
          <p:nvPr/>
        </p:nvSpPr>
        <p:spPr>
          <a:xfrm>
            <a:off x="2702040" y="1174552"/>
            <a:ext cx="1587270" cy="266700"/>
          </a:xfrm>
          <a:prstGeom prst="rect">
            <a:avLst/>
          </a:prstGeom>
          <a:noFill/>
          <a:ln/>
        </p:spPr>
        <p:txBody>
          <a:bodyPr wrap="square" lIns="0" tIns="0" rIns="0" bIns="0" rtlCol="0" anchor="t"/>
          <a:lstStyle/>
          <a:p>
            <a:pPr algn="ctr" indent="0" marL="0">
              <a:spcAft>
                <a:spcPts val="400"/>
              </a:spcAft>
              <a:buNone/>
            </a:pPr>
            <a:r>
              <a:rPr lang="en-US" sz="1800" b="1" dirty="0">
                <a:solidFill>
                  <a:srgbClr val="F36F21"/>
                </a:solidFill>
                <a:latin typeface="Arial" pitchFamily="34" charset="0"/>
                <a:ea typeface="Arial" pitchFamily="34" charset="-122"/>
                <a:cs typeface="Arial" pitchFamily="34" charset="-120"/>
              </a:rPr>
              <a:t>②</a:t>
            </a:r>
            <a:endParaRPr lang="en-US" sz="1800" dirty="0"/>
          </a:p>
        </p:txBody>
      </p:sp>
      <p:sp>
        <p:nvSpPr>
          <p:cNvPr id="11" name="Text 9"/>
          <p:cNvSpPr/>
          <p:nvPr/>
        </p:nvSpPr>
        <p:spPr>
          <a:xfrm>
            <a:off x="2702040" y="1492002"/>
            <a:ext cx="1587270" cy="171450"/>
          </a:xfrm>
          <a:prstGeom prst="rect">
            <a:avLst/>
          </a:prstGeom>
          <a:noFill/>
          <a:ln/>
        </p:spPr>
        <p:txBody>
          <a:bodyPr wrap="square" lIns="0" tIns="0" rIns="0" bIns="0" rtlCol="0" anchor="t"/>
          <a:lstStyle/>
          <a:p>
            <a:pPr algn="ctr" indent="0" marL="0">
              <a:spcAft>
                <a:spcPts val="200"/>
              </a:spcAft>
              <a:buNone/>
            </a:pPr>
            <a:r>
              <a:rPr lang="en-US" sz="1200" b="1" dirty="0">
                <a:solidFill>
                  <a:srgbClr val="01499B"/>
                </a:solidFill>
                <a:latin typeface="Arial" pitchFamily="34" charset="0"/>
                <a:ea typeface="Arial" pitchFamily="34" charset="-122"/>
                <a:cs typeface="Arial" pitchFamily="34" charset="-120"/>
              </a:rPr>
              <a:t>Break Down</a:t>
            </a:r>
            <a:endParaRPr lang="en-US" sz="1200" dirty="0"/>
          </a:p>
        </p:txBody>
      </p:sp>
      <p:sp>
        <p:nvSpPr>
          <p:cNvPr id="12" name="Text 10"/>
          <p:cNvSpPr/>
          <p:nvPr/>
        </p:nvSpPr>
        <p:spPr>
          <a:xfrm>
            <a:off x="2702040" y="1688753"/>
            <a:ext cx="1587270" cy="142875"/>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/plan-breakdown</a:t>
            </a:r>
            <a:endParaRPr lang="en-US" sz="1000" dirty="0"/>
          </a:p>
        </p:txBody>
      </p:sp>
      <p:sp>
        <p:nvSpPr>
          <p:cNvPr id="13" name="Text 11"/>
          <p:cNvSpPr/>
          <p:nvPr/>
        </p:nvSpPr>
        <p:spPr>
          <a:xfrm>
            <a:off x="4457700" y="1369665"/>
            <a:ext cx="233172" cy="266700"/>
          </a:xfrm>
          <a:prstGeom prst="rect">
            <a:avLst/>
          </a:prstGeom>
          <a:noFill/>
          <a:ln/>
        </p:spPr>
        <p:txBody>
          <a:bodyPr wrap="square" lIns="0" tIns="0" rIns="0" bIns="0" rtlCol="0" anchor="t"/>
          <a:lstStyle/>
          <a:p>
            <a:pPr algn="l" indent="0" marL="0">
              <a:buNone/>
            </a:pPr>
            <a:r>
              <a:rPr lang="en-US" sz="1800" dirty="0">
                <a:solidFill>
                  <a:srgbClr val="01499B"/>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4749701" y="1003102"/>
            <a:ext cx="1797248" cy="999976"/>
          </a:xfrm>
          <a:prstGeom prst="roundRect">
            <a:avLst>
              <a:gd name="adj" fmla="val 7620"/>
            </a:avLst>
          </a:prstGeom>
          <a:solidFill>
            <a:srgbClr val="EFF6FF"/>
          </a:solidFill>
          <a:ln w="19050">
            <a:solidFill>
              <a:srgbClr val="01499B"/>
            </a:solidFill>
          </a:ln>
        </p:spPr>
        <p:txBody>
          <a:bodyPr wrap="square" rtlCol="0" anchor="ctr"/>
          <a:lstStyle/>
          <a:p>
            <a:pPr indent="0" marL="0">
              <a:buNone/>
            </a:pPr>
            <a:endParaRPr lang="en-US" dirty="0"/>
          </a:p>
        </p:txBody>
      </p:sp>
      <p:sp>
        <p:nvSpPr>
          <p:cNvPr id="15" name="Text 13"/>
          <p:cNvSpPr/>
          <p:nvPr/>
        </p:nvSpPr>
        <p:spPr>
          <a:xfrm>
            <a:off x="4854690" y="1174552"/>
            <a:ext cx="1587270" cy="266700"/>
          </a:xfrm>
          <a:prstGeom prst="rect">
            <a:avLst/>
          </a:prstGeom>
          <a:noFill/>
          <a:ln/>
        </p:spPr>
        <p:txBody>
          <a:bodyPr wrap="square" lIns="0" tIns="0" rIns="0" bIns="0" rtlCol="0" anchor="t"/>
          <a:lstStyle/>
          <a:p>
            <a:pPr algn="ctr" indent="0" marL="0">
              <a:spcAft>
                <a:spcPts val="400"/>
              </a:spcAft>
              <a:buNone/>
            </a:pPr>
            <a:r>
              <a:rPr lang="en-US" sz="1800" b="1" dirty="0">
                <a:solidFill>
                  <a:srgbClr val="F36F21"/>
                </a:solidFill>
                <a:latin typeface="Arial" pitchFamily="34" charset="0"/>
                <a:ea typeface="Arial" pitchFamily="34" charset="-122"/>
                <a:cs typeface="Arial" pitchFamily="34" charset="-120"/>
              </a:rPr>
              <a:t>③</a:t>
            </a:r>
            <a:endParaRPr lang="en-US" sz="1800" dirty="0"/>
          </a:p>
        </p:txBody>
      </p:sp>
      <p:sp>
        <p:nvSpPr>
          <p:cNvPr id="16" name="Text 14"/>
          <p:cNvSpPr/>
          <p:nvPr/>
        </p:nvSpPr>
        <p:spPr>
          <a:xfrm>
            <a:off x="4854690" y="1492002"/>
            <a:ext cx="1587270" cy="171450"/>
          </a:xfrm>
          <a:prstGeom prst="rect">
            <a:avLst/>
          </a:prstGeom>
          <a:noFill/>
          <a:ln/>
        </p:spPr>
        <p:txBody>
          <a:bodyPr wrap="square" lIns="0" tIns="0" rIns="0" bIns="0" rtlCol="0" anchor="t"/>
          <a:lstStyle/>
          <a:p>
            <a:pPr algn="ctr" indent="0" marL="0">
              <a:spcAft>
                <a:spcPts val="200"/>
              </a:spcAft>
              <a:buNone/>
            </a:pPr>
            <a:r>
              <a:rPr lang="en-US" sz="1200" b="1" dirty="0">
                <a:solidFill>
                  <a:srgbClr val="01499B"/>
                </a:solidFill>
                <a:latin typeface="Arial" pitchFamily="34" charset="0"/>
                <a:ea typeface="Arial" pitchFamily="34" charset="-122"/>
                <a:cs typeface="Arial" pitchFamily="34" charset="-120"/>
              </a:rPr>
              <a:t>Review</a:t>
            </a:r>
            <a:endParaRPr lang="en-US" sz="1200" dirty="0"/>
          </a:p>
        </p:txBody>
      </p:sp>
      <p:sp>
        <p:nvSpPr>
          <p:cNvPr id="17" name="Text 15"/>
          <p:cNvSpPr/>
          <p:nvPr/>
        </p:nvSpPr>
        <p:spPr>
          <a:xfrm>
            <a:off x="4854690" y="1688753"/>
            <a:ext cx="1587270" cy="142875"/>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/guardrail-review + human</a:t>
            </a:r>
            <a:endParaRPr lang="en-US" sz="1000" dirty="0"/>
          </a:p>
        </p:txBody>
      </p:sp>
      <p:sp>
        <p:nvSpPr>
          <p:cNvPr id="18" name="Text 16"/>
          <p:cNvSpPr/>
          <p:nvPr/>
        </p:nvSpPr>
        <p:spPr>
          <a:xfrm>
            <a:off x="6610350" y="1369665"/>
            <a:ext cx="233172" cy="266700"/>
          </a:xfrm>
          <a:prstGeom prst="rect">
            <a:avLst/>
          </a:prstGeom>
          <a:noFill/>
          <a:ln/>
        </p:spPr>
        <p:txBody>
          <a:bodyPr wrap="square" lIns="0" tIns="0" rIns="0" bIns="0" rtlCol="0" anchor="t"/>
          <a:lstStyle/>
          <a:p>
            <a:pPr algn="l" indent="0" marL="0">
              <a:buNone/>
            </a:pPr>
            <a:r>
              <a:rPr lang="en-US" sz="1800" dirty="0">
                <a:solidFill>
                  <a:srgbClr val="01499B"/>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6902351" y="1003102"/>
            <a:ext cx="1797248" cy="999976"/>
          </a:xfrm>
          <a:prstGeom prst="roundRect">
            <a:avLst>
              <a:gd name="adj" fmla="val 7620"/>
            </a:avLst>
          </a:prstGeom>
          <a:solidFill>
            <a:srgbClr val="EFF6FF"/>
          </a:solidFill>
          <a:ln w="19050">
            <a:solidFill>
              <a:srgbClr val="01499B"/>
            </a:solidFill>
          </a:ln>
        </p:spPr>
        <p:txBody>
          <a:bodyPr wrap="square" rtlCol="0" anchor="ctr"/>
          <a:lstStyle/>
          <a:p>
            <a:pPr indent="0" marL="0">
              <a:buNone/>
            </a:pPr>
            <a:endParaRPr lang="en-US" dirty="0"/>
          </a:p>
        </p:txBody>
      </p:sp>
      <p:sp>
        <p:nvSpPr>
          <p:cNvPr id="20" name="Text 18"/>
          <p:cNvSpPr/>
          <p:nvPr/>
        </p:nvSpPr>
        <p:spPr>
          <a:xfrm>
            <a:off x="7007340" y="1174552"/>
            <a:ext cx="1587270" cy="266700"/>
          </a:xfrm>
          <a:prstGeom prst="rect">
            <a:avLst/>
          </a:prstGeom>
          <a:noFill/>
          <a:ln/>
        </p:spPr>
        <p:txBody>
          <a:bodyPr wrap="square" lIns="0" tIns="0" rIns="0" bIns="0" rtlCol="0" anchor="t"/>
          <a:lstStyle/>
          <a:p>
            <a:pPr algn="ctr" indent="0" marL="0">
              <a:spcAft>
                <a:spcPts val="400"/>
              </a:spcAft>
              <a:buNone/>
            </a:pPr>
            <a:r>
              <a:rPr lang="en-US" sz="1800" b="1" dirty="0">
                <a:solidFill>
                  <a:srgbClr val="F36F21"/>
                </a:solidFill>
                <a:latin typeface="Arial" pitchFamily="34" charset="0"/>
                <a:ea typeface="Arial" pitchFamily="34" charset="-122"/>
                <a:cs typeface="Arial" pitchFamily="34" charset="-120"/>
              </a:rPr>
              <a:t>④</a:t>
            </a:r>
            <a:endParaRPr lang="en-US" sz="1800" dirty="0"/>
          </a:p>
        </p:txBody>
      </p:sp>
      <p:sp>
        <p:nvSpPr>
          <p:cNvPr id="21" name="Text 19"/>
          <p:cNvSpPr/>
          <p:nvPr/>
        </p:nvSpPr>
        <p:spPr>
          <a:xfrm>
            <a:off x="7007340" y="1492002"/>
            <a:ext cx="1587270" cy="171450"/>
          </a:xfrm>
          <a:prstGeom prst="rect">
            <a:avLst/>
          </a:prstGeom>
          <a:noFill/>
          <a:ln/>
        </p:spPr>
        <p:txBody>
          <a:bodyPr wrap="square" lIns="0" tIns="0" rIns="0" bIns="0" rtlCol="0" anchor="t"/>
          <a:lstStyle/>
          <a:p>
            <a:pPr algn="ctr" indent="0" marL="0">
              <a:spcAft>
                <a:spcPts val="200"/>
              </a:spcAft>
              <a:buNone/>
            </a:pPr>
            <a:r>
              <a:rPr lang="en-US" sz="1200" b="1" dirty="0">
                <a:solidFill>
                  <a:srgbClr val="01499B"/>
                </a:solidFill>
                <a:latin typeface="Arial" pitchFamily="34" charset="0"/>
                <a:ea typeface="Arial" pitchFamily="34" charset="-122"/>
                <a:cs typeface="Arial" pitchFamily="34" charset="-120"/>
              </a:rPr>
              <a:t>Execute</a:t>
            </a:r>
            <a:endParaRPr lang="en-US" sz="1200" dirty="0"/>
          </a:p>
        </p:txBody>
      </p:sp>
      <p:sp>
        <p:nvSpPr>
          <p:cNvPr id="22" name="Text 20"/>
          <p:cNvSpPr/>
          <p:nvPr/>
        </p:nvSpPr>
        <p:spPr>
          <a:xfrm>
            <a:off x="7007340" y="1688753"/>
            <a:ext cx="1587270" cy="142875"/>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guardrails run</a:t>
            </a:r>
            <a:endParaRPr lang="en-US" sz="1000" dirty="0"/>
          </a:p>
        </p:txBody>
      </p:sp>
      <p:sp>
        <p:nvSpPr>
          <p:cNvPr id="23" name="Text 21"/>
          <p:cNvSpPr/>
          <p:nvPr/>
        </p:nvSpPr>
        <p:spPr>
          <a:xfrm>
            <a:off x="444401" y="2168128"/>
            <a:ext cx="8255198" cy="1974354"/>
          </a:xfrm>
          <a:prstGeom prst="roundRect">
            <a:avLst>
              <a:gd name="adj" fmla="val 3859"/>
            </a:avLst>
          </a:prstGeom>
          <a:noFill/>
          <a:ln w="9525">
            <a:solidFill>
              <a:srgbClr val="D1D5DB"/>
            </a:solidFill>
          </a:ln>
        </p:spPr>
        <p:txBody>
          <a:bodyPr wrap="square" rtlCol="0" anchor="ctr"/>
          <a:lstStyle/>
          <a:p>
            <a:pPr indent="0" marL="0">
              <a:buNone/>
            </a:pPr>
            <a:endParaRPr lang="en-US" dirty="0"/>
          </a:p>
        </p:txBody>
      </p:sp>
      <p:sp>
        <p:nvSpPr>
          <p:cNvPr id="24" name="Shape 22"/>
          <p:cNvSpPr/>
          <p:nvPr/>
        </p:nvSpPr>
        <p:spPr>
          <a:xfrm>
            <a:off x="453926" y="2531566"/>
            <a:ext cx="8236148" cy="0"/>
          </a:xfrm>
          <a:prstGeom prst="line">
            <a:avLst/>
          </a:prstGeom>
          <a:noFill/>
          <a:ln w="9525">
            <a:solidFill>
              <a:srgbClr val="D1D5DB"/>
            </a:solidFill>
            <a:prstDash val="solid"/>
          </a:ln>
        </p:spPr>
      </p:sp>
      <p:sp>
        <p:nvSpPr>
          <p:cNvPr id="25" name="Text 23"/>
          <p:cNvSpPr/>
          <p:nvPr/>
        </p:nvSpPr>
        <p:spPr>
          <a:xfrm>
            <a:off x="453926" y="2177653"/>
            <a:ext cx="1754535" cy="349151"/>
          </a:xfrm>
          <a:prstGeom prst="rect">
            <a:avLst/>
          </a:prstGeom>
          <a:solidFill>
            <a:srgbClr val="01499B"/>
          </a:solidFill>
          <a:ln/>
        </p:spPr>
        <p:txBody>
          <a:bodyPr wrap="square" rtlCol="0" anchor="ctr"/>
          <a:lstStyle/>
          <a:p>
            <a:pPr indent="0" marL="0">
              <a:buNone/>
            </a:pPr>
            <a:endParaRPr lang="en-US" dirty="0"/>
          </a:p>
        </p:txBody>
      </p:sp>
      <p:sp>
        <p:nvSpPr>
          <p:cNvPr id="26" name="Shape 24"/>
          <p:cNvSpPr/>
          <p:nvPr/>
        </p:nvSpPr>
        <p:spPr>
          <a:xfrm>
            <a:off x="2203698" y="2177653"/>
            <a:ext cx="0" cy="349151"/>
          </a:xfrm>
          <a:prstGeom prst="line">
            <a:avLst/>
          </a:prstGeom>
          <a:noFill/>
          <a:ln w="9525">
            <a:solidFill>
              <a:srgbClr val="E5E7EB"/>
            </a:solidFill>
            <a:prstDash val="solid"/>
          </a:ln>
        </p:spPr>
      </p:sp>
      <p:sp>
        <p:nvSpPr>
          <p:cNvPr id="27" name="Text 25"/>
          <p:cNvSpPr/>
          <p:nvPr/>
        </p:nvSpPr>
        <p:spPr>
          <a:xfrm>
            <a:off x="580876" y="2266504"/>
            <a:ext cx="1520931"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Stage</a:t>
            </a:r>
            <a:endParaRPr lang="en-US" sz="1200" dirty="0"/>
          </a:p>
        </p:txBody>
      </p:sp>
      <p:sp>
        <p:nvSpPr>
          <p:cNvPr id="28" name="Text 26"/>
          <p:cNvSpPr/>
          <p:nvPr/>
        </p:nvSpPr>
        <p:spPr>
          <a:xfrm>
            <a:off x="2208461" y="2177653"/>
            <a:ext cx="2500015" cy="349151"/>
          </a:xfrm>
          <a:prstGeom prst="rect">
            <a:avLst/>
          </a:prstGeom>
          <a:solidFill>
            <a:srgbClr val="01499B"/>
          </a:solidFill>
          <a:ln/>
        </p:spPr>
        <p:txBody>
          <a:bodyPr wrap="square" rtlCol="0" anchor="ctr"/>
          <a:lstStyle/>
          <a:p>
            <a:pPr indent="0" marL="0">
              <a:buNone/>
            </a:pPr>
            <a:endParaRPr lang="en-US" dirty="0"/>
          </a:p>
        </p:txBody>
      </p:sp>
      <p:sp>
        <p:nvSpPr>
          <p:cNvPr id="29" name="Shape 27"/>
          <p:cNvSpPr/>
          <p:nvPr/>
        </p:nvSpPr>
        <p:spPr>
          <a:xfrm>
            <a:off x="4703713" y="2177653"/>
            <a:ext cx="0" cy="349151"/>
          </a:xfrm>
          <a:prstGeom prst="line">
            <a:avLst/>
          </a:prstGeom>
          <a:noFill/>
          <a:ln w="9525">
            <a:solidFill>
              <a:srgbClr val="E5E7EB"/>
            </a:solidFill>
            <a:prstDash val="solid"/>
          </a:ln>
        </p:spPr>
      </p:sp>
      <p:sp>
        <p:nvSpPr>
          <p:cNvPr id="30" name="Text 28"/>
          <p:cNvSpPr/>
          <p:nvPr/>
        </p:nvSpPr>
        <p:spPr>
          <a:xfrm>
            <a:off x="2335411" y="2266504"/>
            <a:ext cx="2281321"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Who</a:t>
            </a:r>
            <a:endParaRPr lang="en-US" sz="1200" dirty="0"/>
          </a:p>
        </p:txBody>
      </p:sp>
      <p:sp>
        <p:nvSpPr>
          <p:cNvPr id="31" name="Text 29"/>
          <p:cNvSpPr/>
          <p:nvPr/>
        </p:nvSpPr>
        <p:spPr>
          <a:xfrm>
            <a:off x="4708475" y="2177653"/>
            <a:ext cx="3981599" cy="349151"/>
          </a:xfrm>
          <a:prstGeom prst="rect">
            <a:avLst/>
          </a:prstGeom>
          <a:solidFill>
            <a:srgbClr val="01499B"/>
          </a:solidFill>
          <a:ln/>
        </p:spPr>
        <p:txBody>
          <a:bodyPr wrap="square" rtlCol="0" anchor="ctr"/>
          <a:lstStyle/>
          <a:p>
            <a:pPr indent="0" marL="0">
              <a:buNone/>
            </a:pPr>
            <a:endParaRPr lang="en-US" dirty="0"/>
          </a:p>
        </p:txBody>
      </p:sp>
      <p:sp>
        <p:nvSpPr>
          <p:cNvPr id="32" name="Text 30"/>
          <p:cNvSpPr/>
          <p:nvPr/>
        </p:nvSpPr>
        <p:spPr>
          <a:xfrm>
            <a:off x="4835426" y="2266504"/>
            <a:ext cx="3802252"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What happens</a:t>
            </a:r>
            <a:endParaRPr lang="en-US" sz="1200" dirty="0"/>
          </a:p>
        </p:txBody>
      </p:sp>
      <p:sp>
        <p:nvSpPr>
          <p:cNvPr id="33" name="Shape 31"/>
          <p:cNvSpPr/>
          <p:nvPr/>
        </p:nvSpPr>
        <p:spPr>
          <a:xfrm>
            <a:off x="453926" y="2890242"/>
            <a:ext cx="8236148" cy="0"/>
          </a:xfrm>
          <a:prstGeom prst="line">
            <a:avLst/>
          </a:prstGeom>
          <a:noFill/>
          <a:ln w="9525">
            <a:solidFill>
              <a:srgbClr val="D1D5DB"/>
            </a:solidFill>
            <a:prstDash val="solid"/>
          </a:ln>
        </p:spPr>
      </p:sp>
      <p:sp>
        <p:nvSpPr>
          <p:cNvPr id="34" name="Text 32"/>
          <p:cNvSpPr/>
          <p:nvPr/>
        </p:nvSpPr>
        <p:spPr>
          <a:xfrm>
            <a:off x="453926" y="2536329"/>
            <a:ext cx="1754535" cy="349151"/>
          </a:xfrm>
          <a:prstGeom prst="rect">
            <a:avLst/>
          </a:prstGeom>
          <a:solidFill>
            <a:srgbClr val="FFFFFF"/>
          </a:solidFill>
          <a:ln/>
        </p:spPr>
        <p:txBody>
          <a:bodyPr wrap="square" rtlCol="0" anchor="ctr"/>
          <a:lstStyle/>
          <a:p>
            <a:pPr indent="0" marL="0">
              <a:buNone/>
            </a:pPr>
            <a:endParaRPr lang="en-US" dirty="0"/>
          </a:p>
        </p:txBody>
      </p:sp>
      <p:sp>
        <p:nvSpPr>
          <p:cNvPr id="35" name="Shape 33"/>
          <p:cNvSpPr/>
          <p:nvPr/>
        </p:nvSpPr>
        <p:spPr>
          <a:xfrm>
            <a:off x="2203698" y="2536329"/>
            <a:ext cx="0" cy="349151"/>
          </a:xfrm>
          <a:prstGeom prst="line">
            <a:avLst/>
          </a:prstGeom>
          <a:noFill/>
          <a:ln w="9525">
            <a:solidFill>
              <a:srgbClr val="E5E7EB"/>
            </a:solidFill>
            <a:prstDash val="solid"/>
          </a:ln>
        </p:spPr>
      </p:sp>
      <p:sp>
        <p:nvSpPr>
          <p:cNvPr id="36" name="Text 34"/>
          <p:cNvSpPr/>
          <p:nvPr/>
        </p:nvSpPr>
        <p:spPr>
          <a:xfrm>
            <a:off x="580876" y="2625179"/>
            <a:ext cx="1520931" cy="171450"/>
          </a:xfrm>
          <a:prstGeom prst="rect">
            <a:avLst/>
          </a:prstGeom>
          <a:noFill/>
          <a:ln/>
        </p:spPr>
        <p:txBody>
          <a:bodyPr wrap="square" lIns="0" tIns="0" rIns="0" bIns="0" rtlCol="0" anchor="t"/>
          <a:lstStyle/>
          <a:p>
            <a:pPr algn="l" indent="0" marL="0">
              <a:buNone/>
            </a:pPr>
            <a:r>
              <a:rPr lang="en-US" sz="1200" b="1" dirty="0">
                <a:solidFill>
                  <a:srgbClr val="01499B"/>
                </a:solidFill>
                <a:latin typeface="Arial" pitchFamily="34" charset="0"/>
                <a:ea typeface="Arial" pitchFamily="34" charset="-122"/>
                <a:cs typeface="Arial" pitchFamily="34" charset="-120"/>
              </a:rPr>
              <a:t>Plan</a:t>
            </a:r>
            <a:endParaRPr lang="en-US" sz="1200" dirty="0"/>
          </a:p>
        </p:txBody>
      </p:sp>
      <p:sp>
        <p:nvSpPr>
          <p:cNvPr id="37" name="Text 35"/>
          <p:cNvSpPr/>
          <p:nvPr/>
        </p:nvSpPr>
        <p:spPr>
          <a:xfrm>
            <a:off x="2208461" y="2536329"/>
            <a:ext cx="2500015" cy="349151"/>
          </a:xfrm>
          <a:prstGeom prst="rect">
            <a:avLst/>
          </a:prstGeom>
          <a:solidFill>
            <a:srgbClr val="FFFFFF"/>
          </a:solidFill>
          <a:ln/>
        </p:spPr>
        <p:txBody>
          <a:bodyPr wrap="square" rtlCol="0" anchor="ctr"/>
          <a:lstStyle/>
          <a:p>
            <a:pPr indent="0" marL="0">
              <a:buNone/>
            </a:pPr>
            <a:endParaRPr lang="en-US" dirty="0"/>
          </a:p>
        </p:txBody>
      </p:sp>
      <p:sp>
        <p:nvSpPr>
          <p:cNvPr id="38" name="Shape 36"/>
          <p:cNvSpPr/>
          <p:nvPr/>
        </p:nvSpPr>
        <p:spPr>
          <a:xfrm>
            <a:off x="4703713" y="2536329"/>
            <a:ext cx="0" cy="349151"/>
          </a:xfrm>
          <a:prstGeom prst="line">
            <a:avLst/>
          </a:prstGeom>
          <a:noFill/>
          <a:ln w="9525">
            <a:solidFill>
              <a:srgbClr val="E5E7EB"/>
            </a:solidFill>
            <a:prstDash val="solid"/>
          </a:ln>
        </p:spPr>
      </p:sp>
      <p:sp>
        <p:nvSpPr>
          <p:cNvPr id="39" name="Text 37"/>
          <p:cNvSpPr/>
          <p:nvPr/>
        </p:nvSpPr>
        <p:spPr>
          <a:xfrm>
            <a:off x="2335411" y="2625179"/>
            <a:ext cx="2281321"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Human (+ AI assist)</a:t>
            </a:r>
            <a:endParaRPr lang="en-US" sz="1200" dirty="0"/>
          </a:p>
        </p:txBody>
      </p:sp>
      <p:sp>
        <p:nvSpPr>
          <p:cNvPr id="40" name="Text 38"/>
          <p:cNvSpPr/>
          <p:nvPr/>
        </p:nvSpPr>
        <p:spPr>
          <a:xfrm>
            <a:off x="4708475" y="2536329"/>
            <a:ext cx="3981599" cy="349151"/>
          </a:xfrm>
          <a:prstGeom prst="rect">
            <a:avLst/>
          </a:prstGeom>
          <a:solidFill>
            <a:srgbClr val="FFFFFF"/>
          </a:solidFill>
          <a:ln/>
        </p:spPr>
        <p:txBody>
          <a:bodyPr wrap="square" rtlCol="0" anchor="ctr"/>
          <a:lstStyle/>
          <a:p>
            <a:pPr indent="0" marL="0">
              <a:buNone/>
            </a:pPr>
            <a:endParaRPr lang="en-US" dirty="0"/>
          </a:p>
        </p:txBody>
      </p:sp>
      <p:sp>
        <p:nvSpPr>
          <p:cNvPr id="41" name="Text 39"/>
          <p:cNvSpPr/>
          <p:nvPr/>
        </p:nvSpPr>
        <p:spPr>
          <a:xfrm>
            <a:off x="4835426" y="2625179"/>
            <a:ext cx="3802252"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Reviewed markdown — the what and why</a:t>
            </a:r>
            <a:endParaRPr lang="en-US" sz="1200" dirty="0"/>
          </a:p>
        </p:txBody>
      </p:sp>
      <p:sp>
        <p:nvSpPr>
          <p:cNvPr id="42" name="Shape 40"/>
          <p:cNvSpPr/>
          <p:nvPr/>
        </p:nvSpPr>
        <p:spPr>
          <a:xfrm>
            <a:off x="453926" y="3248918"/>
            <a:ext cx="8236148" cy="0"/>
          </a:xfrm>
          <a:prstGeom prst="line">
            <a:avLst/>
          </a:prstGeom>
          <a:noFill/>
          <a:ln w="9525">
            <a:solidFill>
              <a:srgbClr val="D1D5DB"/>
            </a:solidFill>
            <a:prstDash val="solid"/>
          </a:ln>
        </p:spPr>
      </p:sp>
      <p:sp>
        <p:nvSpPr>
          <p:cNvPr id="43" name="Text 41"/>
          <p:cNvSpPr/>
          <p:nvPr/>
        </p:nvSpPr>
        <p:spPr>
          <a:xfrm>
            <a:off x="453926" y="2895005"/>
            <a:ext cx="1754535" cy="349151"/>
          </a:xfrm>
          <a:prstGeom prst="rect">
            <a:avLst/>
          </a:prstGeom>
          <a:solidFill>
            <a:srgbClr val="F8FAFC"/>
          </a:solidFill>
          <a:ln/>
        </p:spPr>
        <p:txBody>
          <a:bodyPr wrap="square" rtlCol="0" anchor="ctr"/>
          <a:lstStyle/>
          <a:p>
            <a:pPr indent="0" marL="0">
              <a:buNone/>
            </a:pPr>
            <a:endParaRPr lang="en-US" dirty="0"/>
          </a:p>
        </p:txBody>
      </p:sp>
      <p:sp>
        <p:nvSpPr>
          <p:cNvPr id="44" name="Shape 42"/>
          <p:cNvSpPr/>
          <p:nvPr/>
        </p:nvSpPr>
        <p:spPr>
          <a:xfrm>
            <a:off x="2203698" y="2895005"/>
            <a:ext cx="0" cy="349151"/>
          </a:xfrm>
          <a:prstGeom prst="line">
            <a:avLst/>
          </a:prstGeom>
          <a:noFill/>
          <a:ln w="9525">
            <a:solidFill>
              <a:srgbClr val="E5E7EB"/>
            </a:solidFill>
            <a:prstDash val="solid"/>
          </a:ln>
        </p:spPr>
      </p:sp>
      <p:sp>
        <p:nvSpPr>
          <p:cNvPr id="45" name="Text 43"/>
          <p:cNvSpPr/>
          <p:nvPr/>
        </p:nvSpPr>
        <p:spPr>
          <a:xfrm>
            <a:off x="580876" y="2983855"/>
            <a:ext cx="1520931" cy="171450"/>
          </a:xfrm>
          <a:prstGeom prst="rect">
            <a:avLst/>
          </a:prstGeom>
          <a:noFill/>
          <a:ln/>
        </p:spPr>
        <p:txBody>
          <a:bodyPr wrap="square" lIns="0" tIns="0" rIns="0" bIns="0" rtlCol="0" anchor="t"/>
          <a:lstStyle/>
          <a:p>
            <a:pPr algn="l" indent="0" marL="0">
              <a:buNone/>
            </a:pPr>
            <a:r>
              <a:rPr lang="en-US" sz="1200" b="1" dirty="0">
                <a:solidFill>
                  <a:srgbClr val="01499B"/>
                </a:solidFill>
                <a:latin typeface="Arial" pitchFamily="34" charset="0"/>
                <a:ea typeface="Arial" pitchFamily="34" charset="-122"/>
                <a:cs typeface="Arial" pitchFamily="34" charset="-120"/>
              </a:rPr>
              <a:t>Break down</a:t>
            </a:r>
            <a:endParaRPr lang="en-US" sz="1200" dirty="0"/>
          </a:p>
        </p:txBody>
      </p:sp>
      <p:sp>
        <p:nvSpPr>
          <p:cNvPr id="46" name="Text 44"/>
          <p:cNvSpPr/>
          <p:nvPr/>
        </p:nvSpPr>
        <p:spPr>
          <a:xfrm>
            <a:off x="2208461" y="2895005"/>
            <a:ext cx="2500015" cy="349151"/>
          </a:xfrm>
          <a:prstGeom prst="rect">
            <a:avLst/>
          </a:prstGeom>
          <a:solidFill>
            <a:srgbClr val="F8FAFC"/>
          </a:solidFill>
          <a:ln/>
        </p:spPr>
        <p:txBody>
          <a:bodyPr wrap="square" rtlCol="0" anchor="ctr"/>
          <a:lstStyle/>
          <a:p>
            <a:pPr indent="0" marL="0">
              <a:buNone/>
            </a:pPr>
            <a:endParaRPr lang="en-US" dirty="0"/>
          </a:p>
        </p:txBody>
      </p:sp>
      <p:sp>
        <p:nvSpPr>
          <p:cNvPr id="47" name="Shape 45"/>
          <p:cNvSpPr/>
          <p:nvPr/>
        </p:nvSpPr>
        <p:spPr>
          <a:xfrm>
            <a:off x="4703713" y="2895005"/>
            <a:ext cx="0" cy="349151"/>
          </a:xfrm>
          <a:prstGeom prst="line">
            <a:avLst/>
          </a:prstGeom>
          <a:noFill/>
          <a:ln w="9525">
            <a:solidFill>
              <a:srgbClr val="E5E7EB"/>
            </a:solidFill>
            <a:prstDash val="solid"/>
          </a:ln>
        </p:spPr>
      </p:sp>
      <p:sp>
        <p:nvSpPr>
          <p:cNvPr id="48" name="Text 46"/>
          <p:cNvSpPr/>
          <p:nvPr/>
        </p:nvSpPr>
        <p:spPr>
          <a:xfrm>
            <a:off x="2335411" y="2983855"/>
            <a:ext cx="2281321"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/plan-breakdown skill</a:t>
            </a:r>
            <a:endParaRPr lang="en-US" sz="1200" dirty="0"/>
          </a:p>
        </p:txBody>
      </p:sp>
      <p:sp>
        <p:nvSpPr>
          <p:cNvPr id="49" name="Text 47"/>
          <p:cNvSpPr/>
          <p:nvPr/>
        </p:nvSpPr>
        <p:spPr>
          <a:xfrm>
            <a:off x="4708475" y="2895005"/>
            <a:ext cx="3981599" cy="349151"/>
          </a:xfrm>
          <a:prstGeom prst="rect">
            <a:avLst/>
          </a:prstGeom>
          <a:solidFill>
            <a:srgbClr val="F8FAFC"/>
          </a:solidFill>
          <a:ln/>
        </p:spPr>
        <p:txBody>
          <a:bodyPr wrap="square" rtlCol="0" anchor="ctr"/>
          <a:lstStyle/>
          <a:p>
            <a:pPr indent="0" marL="0">
              <a:buNone/>
            </a:pPr>
            <a:endParaRPr lang="en-US" dirty="0"/>
          </a:p>
        </p:txBody>
      </p:sp>
      <p:sp>
        <p:nvSpPr>
          <p:cNvPr id="50" name="Text 48"/>
          <p:cNvSpPr/>
          <p:nvPr/>
        </p:nvSpPr>
        <p:spPr>
          <a:xfrm>
            <a:off x="4835426" y="2983855"/>
            <a:ext cx="3802252"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Generates task folder with actions + guardrails</a:t>
            </a:r>
            <a:endParaRPr lang="en-US" sz="1200" dirty="0"/>
          </a:p>
        </p:txBody>
      </p:sp>
      <p:sp>
        <p:nvSpPr>
          <p:cNvPr id="51" name="Shape 49"/>
          <p:cNvSpPr/>
          <p:nvPr/>
        </p:nvSpPr>
        <p:spPr>
          <a:xfrm>
            <a:off x="453926" y="3779044"/>
            <a:ext cx="8236148" cy="0"/>
          </a:xfrm>
          <a:prstGeom prst="line">
            <a:avLst/>
          </a:prstGeom>
          <a:noFill/>
          <a:ln w="9525">
            <a:solidFill>
              <a:srgbClr val="D1D5DB"/>
            </a:solidFill>
            <a:prstDash val="solid"/>
          </a:ln>
        </p:spPr>
      </p:sp>
      <p:sp>
        <p:nvSpPr>
          <p:cNvPr id="52" name="Text 50"/>
          <p:cNvSpPr/>
          <p:nvPr/>
        </p:nvSpPr>
        <p:spPr>
          <a:xfrm>
            <a:off x="453926" y="3253680"/>
            <a:ext cx="1754535" cy="520601"/>
          </a:xfrm>
          <a:prstGeom prst="rect">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2203698" y="3253680"/>
            <a:ext cx="0" cy="520601"/>
          </a:xfrm>
          <a:prstGeom prst="line">
            <a:avLst/>
          </a:prstGeom>
          <a:noFill/>
          <a:ln w="9525">
            <a:solidFill>
              <a:srgbClr val="E5E7EB"/>
            </a:solidFill>
            <a:prstDash val="solid"/>
          </a:ln>
        </p:spPr>
      </p:sp>
      <p:sp>
        <p:nvSpPr>
          <p:cNvPr id="54" name="Text 52"/>
          <p:cNvSpPr/>
          <p:nvPr/>
        </p:nvSpPr>
        <p:spPr>
          <a:xfrm>
            <a:off x="580876" y="3342531"/>
            <a:ext cx="1520931" cy="171450"/>
          </a:xfrm>
          <a:prstGeom prst="rect">
            <a:avLst/>
          </a:prstGeom>
          <a:noFill/>
          <a:ln/>
        </p:spPr>
        <p:txBody>
          <a:bodyPr wrap="square" lIns="0" tIns="0" rIns="0" bIns="0" rtlCol="0" anchor="t"/>
          <a:lstStyle/>
          <a:p>
            <a:pPr algn="l" indent="0" marL="0">
              <a:buNone/>
            </a:pPr>
            <a:r>
              <a:rPr lang="en-US" sz="1200" b="1" dirty="0">
                <a:solidFill>
                  <a:srgbClr val="01499B"/>
                </a:solidFill>
                <a:latin typeface="Arial" pitchFamily="34" charset="0"/>
                <a:ea typeface="Arial" pitchFamily="34" charset="-122"/>
                <a:cs typeface="Arial" pitchFamily="34" charset="-120"/>
              </a:rPr>
              <a:t>Review</a:t>
            </a:r>
            <a:endParaRPr lang="en-US" sz="1200" dirty="0"/>
          </a:p>
        </p:txBody>
      </p:sp>
      <p:sp>
        <p:nvSpPr>
          <p:cNvPr id="55" name="Text 53"/>
          <p:cNvSpPr/>
          <p:nvPr/>
        </p:nvSpPr>
        <p:spPr>
          <a:xfrm>
            <a:off x="2208461" y="3253680"/>
            <a:ext cx="2500015" cy="520601"/>
          </a:xfrm>
          <a:prstGeom prst="rect">
            <a:avLst/>
          </a:prstGeom>
          <a:solidFill>
            <a:srgbClr val="FFFFFF"/>
          </a:solidFill>
          <a:ln/>
        </p:spPr>
        <p:txBody>
          <a:bodyPr wrap="square" rtlCol="0" anchor="ctr"/>
          <a:lstStyle/>
          <a:p>
            <a:pPr indent="0" marL="0">
              <a:buNone/>
            </a:pPr>
            <a:endParaRPr lang="en-US" dirty="0"/>
          </a:p>
        </p:txBody>
      </p:sp>
      <p:sp>
        <p:nvSpPr>
          <p:cNvPr id="56" name="Shape 54"/>
          <p:cNvSpPr/>
          <p:nvPr/>
        </p:nvSpPr>
        <p:spPr>
          <a:xfrm>
            <a:off x="4703713" y="3253680"/>
            <a:ext cx="0" cy="520601"/>
          </a:xfrm>
          <a:prstGeom prst="line">
            <a:avLst/>
          </a:prstGeom>
          <a:noFill/>
          <a:ln w="9525">
            <a:solidFill>
              <a:srgbClr val="E5E7EB"/>
            </a:solidFill>
            <a:prstDash val="solid"/>
          </a:ln>
        </p:spPr>
      </p:sp>
      <p:sp>
        <p:nvSpPr>
          <p:cNvPr id="57" name="Text 55"/>
          <p:cNvSpPr/>
          <p:nvPr/>
        </p:nvSpPr>
        <p:spPr>
          <a:xfrm>
            <a:off x="2335411" y="3342531"/>
            <a:ext cx="2281321"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/guardrail-review + human</a:t>
            </a:r>
            <a:endParaRPr lang="en-US" sz="1200" dirty="0"/>
          </a:p>
        </p:txBody>
      </p:sp>
      <p:sp>
        <p:nvSpPr>
          <p:cNvPr id="58" name="Text 56"/>
          <p:cNvSpPr/>
          <p:nvPr/>
        </p:nvSpPr>
        <p:spPr>
          <a:xfrm>
            <a:off x="4708475" y="3253680"/>
            <a:ext cx="3981599" cy="520601"/>
          </a:xfrm>
          <a:prstGeom prst="rect">
            <a:avLst/>
          </a:prstGeom>
          <a:solidFill>
            <a:srgbClr val="FFFFFF"/>
          </a:solidFill>
          <a:ln/>
        </p:spPr>
        <p:txBody>
          <a:bodyPr wrap="square" rtlCol="0" anchor="ctr"/>
          <a:lstStyle/>
          <a:p>
            <a:pPr indent="0" marL="0">
              <a:buNone/>
            </a:pPr>
            <a:endParaRPr lang="en-US" dirty="0"/>
          </a:p>
        </p:txBody>
      </p:sp>
      <p:sp>
        <p:nvSpPr>
          <p:cNvPr id="59" name="Text 57"/>
          <p:cNvSpPr/>
          <p:nvPr/>
        </p:nvSpPr>
        <p:spPr>
          <a:xfrm>
            <a:off x="4835426" y="3342531"/>
            <a:ext cx="3802252" cy="34290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“What wrong impl passes this?” — before anything runs</a:t>
            </a:r>
            <a:endParaRPr lang="en-US" sz="1200" dirty="0"/>
          </a:p>
        </p:txBody>
      </p:sp>
      <p:sp>
        <p:nvSpPr>
          <p:cNvPr id="60" name="Text 58"/>
          <p:cNvSpPr/>
          <p:nvPr/>
        </p:nvSpPr>
        <p:spPr>
          <a:xfrm>
            <a:off x="453926" y="3783806"/>
            <a:ext cx="1754535" cy="349151"/>
          </a:xfrm>
          <a:prstGeom prst="rect">
            <a:avLst/>
          </a:prstGeom>
          <a:solidFill>
            <a:srgbClr val="F8FAFC"/>
          </a:solidFill>
          <a:ln/>
        </p:spPr>
        <p:txBody>
          <a:bodyPr wrap="square" rtlCol="0" anchor="ctr"/>
          <a:lstStyle/>
          <a:p>
            <a:pPr indent="0" marL="0">
              <a:buNone/>
            </a:pPr>
            <a:endParaRPr lang="en-US" dirty="0"/>
          </a:p>
        </p:txBody>
      </p:sp>
      <p:sp>
        <p:nvSpPr>
          <p:cNvPr id="61" name="Shape 59"/>
          <p:cNvSpPr/>
          <p:nvPr/>
        </p:nvSpPr>
        <p:spPr>
          <a:xfrm>
            <a:off x="2203698" y="3783806"/>
            <a:ext cx="0" cy="349151"/>
          </a:xfrm>
          <a:prstGeom prst="line">
            <a:avLst/>
          </a:prstGeom>
          <a:noFill/>
          <a:ln w="9525">
            <a:solidFill>
              <a:srgbClr val="E5E7EB"/>
            </a:solidFill>
            <a:prstDash val="solid"/>
          </a:ln>
        </p:spPr>
      </p:sp>
      <p:sp>
        <p:nvSpPr>
          <p:cNvPr id="62" name="Text 60"/>
          <p:cNvSpPr/>
          <p:nvPr/>
        </p:nvSpPr>
        <p:spPr>
          <a:xfrm>
            <a:off x="580876" y="3872657"/>
            <a:ext cx="1520931" cy="171450"/>
          </a:xfrm>
          <a:prstGeom prst="rect">
            <a:avLst/>
          </a:prstGeom>
          <a:noFill/>
          <a:ln/>
        </p:spPr>
        <p:txBody>
          <a:bodyPr wrap="square" lIns="0" tIns="0" rIns="0" bIns="0" rtlCol="0" anchor="t"/>
          <a:lstStyle/>
          <a:p>
            <a:pPr algn="l" indent="0" marL="0">
              <a:buNone/>
            </a:pPr>
            <a:r>
              <a:rPr lang="en-US" sz="1200" b="1" dirty="0">
                <a:solidFill>
                  <a:srgbClr val="01499B"/>
                </a:solidFill>
                <a:latin typeface="Arial" pitchFamily="34" charset="0"/>
                <a:ea typeface="Arial" pitchFamily="34" charset="-122"/>
                <a:cs typeface="Arial" pitchFamily="34" charset="-120"/>
              </a:rPr>
              <a:t>Execute</a:t>
            </a:r>
            <a:endParaRPr lang="en-US" sz="1200" dirty="0"/>
          </a:p>
        </p:txBody>
      </p:sp>
      <p:sp>
        <p:nvSpPr>
          <p:cNvPr id="63" name="Text 61"/>
          <p:cNvSpPr/>
          <p:nvPr/>
        </p:nvSpPr>
        <p:spPr>
          <a:xfrm>
            <a:off x="2208461" y="3783806"/>
            <a:ext cx="2500015" cy="349151"/>
          </a:xfrm>
          <a:prstGeom prst="rect">
            <a:avLst/>
          </a:prstGeom>
          <a:solidFill>
            <a:srgbClr val="F8FAFC"/>
          </a:solidFill>
          <a:ln/>
        </p:spPr>
        <p:txBody>
          <a:bodyPr wrap="square" rtlCol="0" anchor="ctr"/>
          <a:lstStyle/>
          <a:p>
            <a:pPr indent="0" marL="0">
              <a:buNone/>
            </a:pPr>
            <a:endParaRPr lang="en-US" dirty="0"/>
          </a:p>
        </p:txBody>
      </p:sp>
      <p:sp>
        <p:nvSpPr>
          <p:cNvPr id="64" name="Shape 62"/>
          <p:cNvSpPr/>
          <p:nvPr/>
        </p:nvSpPr>
        <p:spPr>
          <a:xfrm>
            <a:off x="4703713" y="3783806"/>
            <a:ext cx="0" cy="349151"/>
          </a:xfrm>
          <a:prstGeom prst="line">
            <a:avLst/>
          </a:prstGeom>
          <a:noFill/>
          <a:ln w="9525">
            <a:solidFill>
              <a:srgbClr val="E5E7EB"/>
            </a:solidFill>
            <a:prstDash val="solid"/>
          </a:ln>
        </p:spPr>
      </p:sp>
      <p:sp>
        <p:nvSpPr>
          <p:cNvPr id="65" name="Text 63"/>
          <p:cNvSpPr/>
          <p:nvPr/>
        </p:nvSpPr>
        <p:spPr>
          <a:xfrm>
            <a:off x="2335411" y="3872657"/>
            <a:ext cx="2281321"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guardrails run</a:t>
            </a:r>
            <a:endParaRPr lang="en-US" sz="1200" dirty="0"/>
          </a:p>
        </p:txBody>
      </p:sp>
      <p:sp>
        <p:nvSpPr>
          <p:cNvPr id="66" name="Text 64"/>
          <p:cNvSpPr/>
          <p:nvPr/>
        </p:nvSpPr>
        <p:spPr>
          <a:xfrm>
            <a:off x="4708475" y="3783806"/>
            <a:ext cx="3981599" cy="349151"/>
          </a:xfrm>
          <a:prstGeom prst="rect">
            <a:avLst/>
          </a:prstGeom>
          <a:solidFill>
            <a:srgbClr val="F8FAFC"/>
          </a:solidFill>
          <a:ln/>
        </p:spPr>
        <p:txBody>
          <a:bodyPr wrap="square" rtlCol="0" anchor="ctr"/>
          <a:lstStyle/>
          <a:p>
            <a:pPr indent="0" marL="0">
              <a:buNone/>
            </a:pPr>
            <a:endParaRPr lang="en-US" dirty="0"/>
          </a:p>
        </p:txBody>
      </p:sp>
      <p:sp>
        <p:nvSpPr>
          <p:cNvPr id="67" name="Text 65"/>
          <p:cNvSpPr/>
          <p:nvPr/>
        </p:nvSpPr>
        <p:spPr>
          <a:xfrm>
            <a:off x="4835426" y="3872657"/>
            <a:ext cx="3802252"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DAG scheduler: run actions, verify, retry, report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537746"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What a Task Folder Looks Like</a:t>
            </a:r>
            <a:endParaRPr lang="en-US" sz="2400" dirty="0"/>
          </a:p>
        </p:txBody>
      </p:sp>
      <p:sp>
        <p:nvSpPr>
          <p:cNvPr id="4" name="Text 2"/>
          <p:cNvSpPr/>
          <p:nvPr/>
        </p:nvSpPr>
        <p:spPr>
          <a:xfrm>
            <a:off x="444401" y="977801"/>
            <a:ext cx="5321647" cy="3998714"/>
          </a:xfrm>
          <a:prstGeom prst="roundRect">
            <a:avLst>
              <a:gd name="adj" fmla="val 2541"/>
            </a:avLst>
          </a:prstGeom>
          <a:solidFill>
            <a:srgbClr val="1E293B"/>
          </a:solidFill>
          <a:ln/>
        </p:spPr>
        <p:txBody>
          <a:bodyPr wrap="square" rtlCol="0" anchor="ctr"/>
          <a:lstStyle/>
          <a:p>
            <a:pPr indent="0" marL="0">
              <a:buNone/>
            </a:pPr>
            <a:endParaRPr lang="en-US" dirty="0"/>
          </a:p>
        </p:txBody>
      </p:sp>
      <p:sp>
        <p:nvSpPr>
          <p:cNvPr id="5" name="Text 3"/>
          <p:cNvSpPr/>
          <p:nvPr/>
        </p:nvSpPr>
        <p:spPr>
          <a:xfrm>
            <a:off x="647551" y="1142851"/>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60A5FA"/>
                </a:solidFill>
                <a:latin typeface="Courier New" pitchFamily="34" charset="0"/>
                <a:ea typeface="Courier New" pitchFamily="34" charset="-122"/>
                <a:cs typeface="Courier New" pitchFamily="34" charset="-120"/>
              </a:rPr>
              <a:t>my-feature/</a:t>
            </a:r>
            <a:endParaRPr lang="en-US" sz="1000" dirty="0"/>
          </a:p>
        </p:txBody>
      </p:sp>
      <p:sp>
        <p:nvSpPr>
          <p:cNvPr id="6" name="Text 4"/>
          <p:cNvSpPr/>
          <p:nvPr/>
        </p:nvSpPr>
        <p:spPr>
          <a:xfrm>
            <a:off x="647551" y="1358652"/>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94A3B8"/>
                </a:solidFill>
                <a:latin typeface="Courier New" pitchFamily="34" charset="0"/>
                <a:ea typeface="Courier New" pitchFamily="34" charset="-122"/>
                <a:cs typeface="Courier New" pitchFamily="34" charset="-120"/>
              </a:rPr>
              <a:t>├── guardrails.json</a:t>
            </a:r>
            <a:endParaRPr lang="en-US" sz="1000" dirty="0"/>
          </a:p>
        </p:txBody>
      </p:sp>
      <p:sp>
        <p:nvSpPr>
          <p:cNvPr id="7" name="Text 5"/>
          <p:cNvSpPr/>
          <p:nvPr/>
        </p:nvSpPr>
        <p:spPr>
          <a:xfrm>
            <a:off x="647551" y="1574453"/>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94A3B8"/>
                </a:solidFill>
                <a:latin typeface="Courier New" pitchFamily="34" charset="0"/>
                <a:ea typeface="Courier New" pitchFamily="34" charset="-122"/>
                <a:cs typeface="Courier New" pitchFamily="34" charset="-120"/>
              </a:rPr>
              <a:t>├── state/</a:t>
            </a:r>
            <a:endParaRPr lang="en-US" sz="1000" dirty="0"/>
          </a:p>
        </p:txBody>
      </p:sp>
      <p:sp>
        <p:nvSpPr>
          <p:cNvPr id="8" name="Text 6"/>
          <p:cNvSpPr/>
          <p:nvPr/>
        </p:nvSpPr>
        <p:spPr>
          <a:xfrm>
            <a:off x="647551" y="1790254"/>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state.json</a:t>
            </a:r>
            <a:endParaRPr lang="en-US" sz="1000" dirty="0"/>
          </a:p>
        </p:txBody>
      </p:sp>
      <p:sp>
        <p:nvSpPr>
          <p:cNvPr id="9" name="Text 7"/>
          <p:cNvSpPr/>
          <p:nvPr/>
        </p:nvSpPr>
        <p:spPr>
          <a:xfrm>
            <a:off x="647551" y="2006054"/>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logs/&lt;task&gt;/</a:t>
            </a:r>
            <a:endParaRPr lang="en-US" sz="1000" dirty="0"/>
          </a:p>
        </p:txBody>
      </p:sp>
      <p:sp>
        <p:nvSpPr>
          <p:cNvPr id="10" name="Text 8"/>
          <p:cNvSpPr/>
          <p:nvPr/>
        </p:nvSpPr>
        <p:spPr>
          <a:xfrm>
            <a:off x="647551" y="2221855"/>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94A3B8"/>
                </a:solidFill>
                <a:latin typeface="Courier New" pitchFamily="34" charset="0"/>
                <a:ea typeface="Courier New" pitchFamily="34" charset="-122"/>
                <a:cs typeface="Courier New" pitchFamily="34" charset="-120"/>
              </a:rPr>
              <a:t>└── tasks/</a:t>
            </a:r>
            <a:endParaRPr lang="en-US" sz="1000" dirty="0"/>
          </a:p>
        </p:txBody>
      </p:sp>
      <p:sp>
        <p:nvSpPr>
          <p:cNvPr id="11" name="Text 9"/>
          <p:cNvSpPr/>
          <p:nvPr/>
        </p:nvSpPr>
        <p:spPr>
          <a:xfrm>
            <a:off x="647551" y="2437656"/>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60A5FA"/>
                </a:solidFill>
                <a:latin typeface="Courier New" pitchFamily="34" charset="0"/>
                <a:ea typeface="Courier New" pitchFamily="34" charset="-122"/>
                <a:cs typeface="Courier New" pitchFamily="34" charset="-120"/>
              </a:rPr>
              <a:t>├── 01-write-tests/</a:t>
            </a:r>
            <a:endParaRPr lang="en-US" sz="1000" dirty="0"/>
          </a:p>
        </p:txBody>
      </p:sp>
      <p:sp>
        <p:nvSpPr>
          <p:cNvPr id="12" name="Text 10"/>
          <p:cNvSpPr/>
          <p:nvPr/>
        </p:nvSpPr>
        <p:spPr>
          <a:xfrm>
            <a:off x="647551" y="2653457"/>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 task.json</a:t>
            </a:r>
            <a:endParaRPr lang="en-US" sz="1000" dirty="0"/>
          </a:p>
        </p:txBody>
      </p:sp>
      <p:sp>
        <p:nvSpPr>
          <p:cNvPr id="13" name="Text 11"/>
          <p:cNvSpPr/>
          <p:nvPr/>
        </p:nvSpPr>
        <p:spPr>
          <a:xfrm>
            <a:off x="647551" y="2869257"/>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 action.prompt.md</a:t>
            </a:r>
            <a:endParaRPr lang="en-US" sz="1000" dirty="0"/>
          </a:p>
        </p:txBody>
      </p:sp>
      <p:sp>
        <p:nvSpPr>
          <p:cNvPr id="14" name="Text 12"/>
          <p:cNvSpPr/>
          <p:nvPr/>
        </p:nvSpPr>
        <p:spPr>
          <a:xfrm>
            <a:off x="647551" y="3085058"/>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 guardrails/</a:t>
            </a:r>
            <a:endParaRPr lang="en-US" sz="1000" dirty="0"/>
          </a:p>
        </p:txBody>
      </p:sp>
      <p:sp>
        <p:nvSpPr>
          <p:cNvPr id="15" name="Text 13"/>
          <p:cNvSpPr/>
          <p:nvPr/>
        </p:nvSpPr>
        <p:spPr>
          <a:xfrm>
            <a:off x="647551" y="3300859"/>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FBB98C"/>
                </a:solidFill>
                <a:latin typeface="Courier New" pitchFamily="34" charset="0"/>
                <a:ea typeface="Courier New" pitchFamily="34" charset="-122"/>
                <a:cs typeface="Courier New" pitchFamily="34" charset="-120"/>
              </a:rPr>
              <a:t>│     ├── 01-tests-compile.ps1</a:t>
            </a:r>
            <a:endParaRPr lang="en-US" sz="1000" dirty="0"/>
          </a:p>
        </p:txBody>
      </p:sp>
      <p:sp>
        <p:nvSpPr>
          <p:cNvPr id="16" name="Text 14"/>
          <p:cNvSpPr/>
          <p:nvPr/>
        </p:nvSpPr>
        <p:spPr>
          <a:xfrm>
            <a:off x="647551" y="3516660"/>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FBB98C"/>
                </a:solidFill>
                <a:latin typeface="Courier New" pitchFamily="34" charset="0"/>
                <a:ea typeface="Courier New" pitchFamily="34" charset="-122"/>
                <a:cs typeface="Courier New" pitchFamily="34" charset="-120"/>
              </a:rPr>
              <a:t>│     └── 02-tests-fail-on-stub.ps1</a:t>
            </a:r>
            <a:endParaRPr lang="en-US" sz="1000" dirty="0"/>
          </a:p>
        </p:txBody>
      </p:sp>
      <p:sp>
        <p:nvSpPr>
          <p:cNvPr id="17" name="Text 15"/>
          <p:cNvSpPr/>
          <p:nvPr/>
        </p:nvSpPr>
        <p:spPr>
          <a:xfrm>
            <a:off x="647551" y="3732461"/>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60A5FA"/>
                </a:solidFill>
                <a:latin typeface="Courier New" pitchFamily="34" charset="0"/>
                <a:ea typeface="Courier New" pitchFamily="34" charset="-122"/>
                <a:cs typeface="Courier New" pitchFamily="34" charset="-120"/>
              </a:rPr>
              <a:t>└── 02-implement-feature/</a:t>
            </a:r>
            <a:endParaRPr lang="en-US" sz="1000" dirty="0"/>
          </a:p>
        </p:txBody>
      </p:sp>
      <p:sp>
        <p:nvSpPr>
          <p:cNvPr id="18" name="Text 16"/>
          <p:cNvSpPr/>
          <p:nvPr/>
        </p:nvSpPr>
        <p:spPr>
          <a:xfrm>
            <a:off x="647551" y="3948261"/>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action.prompt.md</a:t>
            </a:r>
            <a:endParaRPr lang="en-US" sz="1000" dirty="0"/>
          </a:p>
        </p:txBody>
      </p:sp>
      <p:sp>
        <p:nvSpPr>
          <p:cNvPr id="19" name="Text 17"/>
          <p:cNvSpPr/>
          <p:nvPr/>
        </p:nvSpPr>
        <p:spPr>
          <a:xfrm>
            <a:off x="647551" y="4164062"/>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CBD5E1"/>
                </a:solidFill>
                <a:latin typeface="Courier New" pitchFamily="34" charset="0"/>
                <a:ea typeface="Courier New" pitchFamily="34" charset="-122"/>
                <a:cs typeface="Courier New" pitchFamily="34" charset="-120"/>
              </a:rPr>
              <a:t>└── guardrails/</a:t>
            </a:r>
            <a:endParaRPr lang="en-US" sz="1000" dirty="0"/>
          </a:p>
        </p:txBody>
      </p:sp>
      <p:sp>
        <p:nvSpPr>
          <p:cNvPr id="20" name="Text 18"/>
          <p:cNvSpPr/>
          <p:nvPr/>
        </p:nvSpPr>
        <p:spPr>
          <a:xfrm>
            <a:off x="647551" y="4379863"/>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FBB98C"/>
                </a:solidFill>
                <a:latin typeface="Courier New" pitchFamily="34" charset="0"/>
                <a:ea typeface="Courier New" pitchFamily="34" charset="-122"/>
                <a:cs typeface="Courier New" pitchFamily="34" charset="-120"/>
              </a:rPr>
              <a:t>├── 01-build-passes.ps1</a:t>
            </a:r>
            <a:endParaRPr lang="en-US" sz="1000" dirty="0"/>
          </a:p>
        </p:txBody>
      </p:sp>
      <p:sp>
        <p:nvSpPr>
          <p:cNvPr id="21" name="Text 19"/>
          <p:cNvSpPr/>
          <p:nvPr/>
        </p:nvSpPr>
        <p:spPr>
          <a:xfrm>
            <a:off x="647551" y="4595664"/>
            <a:ext cx="5013653" cy="215801"/>
          </a:xfrm>
          <a:prstGeom prst="rect">
            <a:avLst/>
          </a:prstGeom>
          <a:noFill/>
          <a:ln/>
        </p:spPr>
        <p:txBody>
          <a:bodyPr wrap="square" lIns="0" tIns="0" rIns="0" bIns="0" rtlCol="0" anchor="t"/>
          <a:lstStyle/>
          <a:p>
            <a:pPr algn="l" indent="0" marL="0">
              <a:lnSpc>
                <a:spcPts val="1700"/>
              </a:lnSpc>
              <a:buNone/>
            </a:pPr>
            <a:r>
              <a:rPr lang="en-US" sz="1000" dirty="0">
                <a:solidFill>
                  <a:srgbClr val="FBB98C"/>
                </a:solidFill>
                <a:latin typeface="Courier New" pitchFamily="34" charset="0"/>
                <a:ea typeface="Courier New" pitchFamily="34" charset="-122"/>
                <a:cs typeface="Courier New" pitchFamily="34" charset="-120"/>
              </a:rPr>
              <a:t>└── 02-tests-pass.ps1</a:t>
            </a:r>
            <a:endParaRPr lang="en-US" sz="1000" dirty="0"/>
          </a:p>
        </p:txBody>
      </p:sp>
      <p:sp>
        <p:nvSpPr>
          <p:cNvPr id="22" name="Text 20"/>
          <p:cNvSpPr/>
          <p:nvPr/>
        </p:nvSpPr>
        <p:spPr>
          <a:xfrm>
            <a:off x="5969198" y="977801"/>
            <a:ext cx="2730401" cy="742950"/>
          </a:xfrm>
          <a:prstGeom prst="rect">
            <a:avLst/>
          </a:prstGeom>
          <a:solidFill>
            <a:srgbClr val="EFF6FF"/>
          </a:solidFill>
          <a:ln/>
        </p:spPr>
        <p:txBody>
          <a:bodyPr wrap="square" rtlCol="0" anchor="ctr"/>
          <a:lstStyle/>
          <a:p>
            <a:pPr indent="0" marL="0">
              <a:buNone/>
            </a:pPr>
            <a:endParaRPr lang="en-US" dirty="0"/>
          </a:p>
        </p:txBody>
      </p:sp>
      <p:sp>
        <p:nvSpPr>
          <p:cNvPr id="23" name="Shape 21"/>
          <p:cNvSpPr/>
          <p:nvPr/>
        </p:nvSpPr>
        <p:spPr>
          <a:xfrm>
            <a:off x="5993011" y="977801"/>
            <a:ext cx="0" cy="742950"/>
          </a:xfrm>
          <a:prstGeom prst="line">
            <a:avLst/>
          </a:prstGeom>
          <a:noFill/>
          <a:ln w="47625">
            <a:solidFill>
              <a:srgbClr val="01499B"/>
            </a:solidFill>
            <a:prstDash val="solid"/>
          </a:ln>
        </p:spPr>
      </p:sp>
      <p:sp>
        <p:nvSpPr>
          <p:cNvPr id="24" name="Text 22"/>
          <p:cNvSpPr/>
          <p:nvPr/>
        </p:nvSpPr>
        <p:spPr>
          <a:xfrm>
            <a:off x="6156424" y="1092101"/>
            <a:ext cx="2451646"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Check it in</a:t>
            </a:r>
            <a:endParaRPr lang="en-US" sz="1200" dirty="0"/>
          </a:p>
        </p:txBody>
      </p:sp>
      <p:sp>
        <p:nvSpPr>
          <p:cNvPr id="25" name="Text 23"/>
          <p:cNvSpPr/>
          <p:nvPr/>
        </p:nvSpPr>
        <p:spPr>
          <a:xfrm>
            <a:off x="6156424" y="1301651"/>
            <a:ext cx="2451646"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Lives in source control — first-class artifact</a:t>
            </a:r>
            <a:endParaRPr lang="en-US" sz="1100" dirty="0"/>
          </a:p>
        </p:txBody>
      </p:sp>
      <p:sp>
        <p:nvSpPr>
          <p:cNvPr id="26" name="Text 24"/>
          <p:cNvSpPr/>
          <p:nvPr/>
        </p:nvSpPr>
        <p:spPr>
          <a:xfrm>
            <a:off x="5969198" y="1835051"/>
            <a:ext cx="2730401" cy="742950"/>
          </a:xfrm>
          <a:prstGeom prst="rect">
            <a:avLst/>
          </a:prstGeom>
          <a:solidFill>
            <a:srgbClr val="EFF6FF"/>
          </a:solidFill>
          <a:ln/>
        </p:spPr>
        <p:txBody>
          <a:bodyPr wrap="square" rtlCol="0" anchor="ctr"/>
          <a:lstStyle/>
          <a:p>
            <a:pPr indent="0" marL="0">
              <a:buNone/>
            </a:pPr>
            <a:endParaRPr lang="en-US" dirty="0"/>
          </a:p>
        </p:txBody>
      </p:sp>
      <p:sp>
        <p:nvSpPr>
          <p:cNvPr id="27" name="Shape 25"/>
          <p:cNvSpPr/>
          <p:nvPr/>
        </p:nvSpPr>
        <p:spPr>
          <a:xfrm>
            <a:off x="5993011" y="1835051"/>
            <a:ext cx="0" cy="742950"/>
          </a:xfrm>
          <a:prstGeom prst="line">
            <a:avLst/>
          </a:prstGeom>
          <a:noFill/>
          <a:ln w="47625">
            <a:solidFill>
              <a:srgbClr val="01499B"/>
            </a:solidFill>
            <a:prstDash val="solid"/>
          </a:ln>
        </p:spPr>
      </p:sp>
      <p:sp>
        <p:nvSpPr>
          <p:cNvPr id="28" name="Text 26"/>
          <p:cNvSpPr/>
          <p:nvPr/>
        </p:nvSpPr>
        <p:spPr>
          <a:xfrm>
            <a:off x="6156424" y="1949351"/>
            <a:ext cx="2451646"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Human-readable</a:t>
            </a:r>
            <a:endParaRPr lang="en-US" sz="1200" dirty="0"/>
          </a:p>
        </p:txBody>
      </p:sp>
      <p:sp>
        <p:nvSpPr>
          <p:cNvPr id="29" name="Text 27"/>
          <p:cNvSpPr/>
          <p:nvPr/>
        </p:nvSpPr>
        <p:spPr>
          <a:xfrm>
            <a:off x="6156424" y="2158901"/>
            <a:ext cx="2451646"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Every guardrail is a file you can inspect and edit</a:t>
            </a:r>
            <a:endParaRPr lang="en-US" sz="1100" dirty="0"/>
          </a:p>
        </p:txBody>
      </p:sp>
      <p:sp>
        <p:nvSpPr>
          <p:cNvPr id="30" name="Text 28"/>
          <p:cNvSpPr/>
          <p:nvPr/>
        </p:nvSpPr>
        <p:spPr>
          <a:xfrm>
            <a:off x="5969198" y="2692301"/>
            <a:ext cx="2730401" cy="742950"/>
          </a:xfrm>
          <a:prstGeom prst="rect">
            <a:avLst/>
          </a:prstGeom>
          <a:solidFill>
            <a:srgbClr val="EFF6FF"/>
          </a:solidFill>
          <a:ln/>
        </p:spPr>
        <p:txBody>
          <a:bodyPr wrap="square" rtlCol="0" anchor="ctr"/>
          <a:lstStyle/>
          <a:p>
            <a:pPr indent="0" marL="0">
              <a:buNone/>
            </a:pPr>
            <a:endParaRPr lang="en-US" dirty="0"/>
          </a:p>
        </p:txBody>
      </p:sp>
      <p:sp>
        <p:nvSpPr>
          <p:cNvPr id="31" name="Shape 29"/>
          <p:cNvSpPr/>
          <p:nvPr/>
        </p:nvSpPr>
        <p:spPr>
          <a:xfrm>
            <a:off x="5993011" y="2692301"/>
            <a:ext cx="0" cy="742950"/>
          </a:xfrm>
          <a:prstGeom prst="line">
            <a:avLst/>
          </a:prstGeom>
          <a:noFill/>
          <a:ln w="47625">
            <a:solidFill>
              <a:srgbClr val="F36F21"/>
            </a:solidFill>
            <a:prstDash val="solid"/>
          </a:ln>
        </p:spPr>
      </p:sp>
      <p:sp>
        <p:nvSpPr>
          <p:cNvPr id="32" name="Text 30"/>
          <p:cNvSpPr/>
          <p:nvPr/>
        </p:nvSpPr>
        <p:spPr>
          <a:xfrm>
            <a:off x="6156424" y="2806601"/>
            <a:ext cx="2451646" cy="171450"/>
          </a:xfrm>
          <a:prstGeom prst="rect">
            <a:avLst/>
          </a:prstGeom>
          <a:noFill/>
          <a:ln/>
        </p:spPr>
        <p:txBody>
          <a:bodyPr wrap="square" lIns="0" tIns="0" rIns="0" bIns="0" rtlCol="0" anchor="t"/>
          <a:lstStyle/>
          <a:p>
            <a:pPr algn="l" indent="0" marL="0">
              <a:spcAft>
                <a:spcPts val="300"/>
              </a:spcAft>
              <a:buNone/>
            </a:pPr>
            <a:r>
              <a:rPr lang="en-US" sz="1200" b="1" dirty="0">
                <a:solidFill>
                  <a:srgbClr val="F36F21"/>
                </a:solidFill>
                <a:latin typeface="Arial" pitchFamily="34" charset="0"/>
                <a:ea typeface="Arial" pitchFamily="34" charset="-122"/>
                <a:cs typeface="Arial" pitchFamily="34" charset="-120"/>
              </a:rPr>
              <a:t>Green = guardrails</a:t>
            </a:r>
            <a:endParaRPr lang="en-US" sz="1200" dirty="0"/>
          </a:p>
        </p:txBody>
      </p:sp>
      <p:sp>
        <p:nvSpPr>
          <p:cNvPr id="33" name="Text 31"/>
          <p:cNvSpPr/>
          <p:nvPr/>
        </p:nvSpPr>
        <p:spPr>
          <a:xfrm>
            <a:off x="6156424" y="3016151"/>
            <a:ext cx="2451646"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Scripts that must exit 0 before the task is done</a:t>
            </a:r>
            <a:endParaRPr lang="en-US" sz="1100" dirty="0"/>
          </a:p>
        </p:txBody>
      </p:sp>
      <p:sp>
        <p:nvSpPr>
          <p:cNvPr id="34" name="Text 32"/>
          <p:cNvSpPr/>
          <p:nvPr/>
        </p:nvSpPr>
        <p:spPr>
          <a:xfrm>
            <a:off x="5969198" y="3549551"/>
            <a:ext cx="2730401" cy="590550"/>
          </a:xfrm>
          <a:prstGeom prst="rect">
            <a:avLst/>
          </a:prstGeom>
          <a:solidFill>
            <a:srgbClr val="EFF6FF"/>
          </a:solidFill>
          <a:ln/>
        </p:spPr>
        <p:txBody>
          <a:bodyPr wrap="square" rtlCol="0" anchor="ctr"/>
          <a:lstStyle/>
          <a:p>
            <a:pPr indent="0" marL="0">
              <a:buNone/>
            </a:pPr>
            <a:endParaRPr lang="en-US" dirty="0"/>
          </a:p>
        </p:txBody>
      </p:sp>
      <p:sp>
        <p:nvSpPr>
          <p:cNvPr id="35" name="Shape 33"/>
          <p:cNvSpPr/>
          <p:nvPr/>
        </p:nvSpPr>
        <p:spPr>
          <a:xfrm>
            <a:off x="5993011" y="3549551"/>
            <a:ext cx="0" cy="590550"/>
          </a:xfrm>
          <a:prstGeom prst="line">
            <a:avLst/>
          </a:prstGeom>
          <a:noFill/>
          <a:ln w="47625">
            <a:solidFill>
              <a:srgbClr val="01499B"/>
            </a:solidFill>
            <a:prstDash val="solid"/>
          </a:ln>
        </p:spPr>
      </p:sp>
      <p:sp>
        <p:nvSpPr>
          <p:cNvPr id="36" name="Text 34"/>
          <p:cNvSpPr/>
          <p:nvPr/>
        </p:nvSpPr>
        <p:spPr>
          <a:xfrm>
            <a:off x="6156424" y="3663851"/>
            <a:ext cx="2451646"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Not a black box</a:t>
            </a:r>
            <a:endParaRPr lang="en-US" sz="1200" dirty="0"/>
          </a:p>
        </p:txBody>
      </p:sp>
      <p:sp>
        <p:nvSpPr>
          <p:cNvPr id="37" name="Text 35"/>
          <p:cNvSpPr/>
          <p:nvPr/>
        </p:nvSpPr>
        <p:spPr>
          <a:xfrm>
            <a:off x="6156424" y="3873401"/>
            <a:ext cx="2451646" cy="1524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A recipe you can audit, edit, and rerun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059713"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Guardrails: The Key Insight</a:t>
            </a:r>
            <a:endParaRPr lang="en-US" sz="2400" dirty="0"/>
          </a:p>
        </p:txBody>
      </p:sp>
      <p:sp>
        <p:nvSpPr>
          <p:cNvPr id="4" name="Text 2"/>
          <p:cNvSpPr/>
          <p:nvPr/>
        </p:nvSpPr>
        <p:spPr>
          <a:xfrm>
            <a:off x="444401" y="977801"/>
            <a:ext cx="8255198" cy="806202"/>
          </a:xfrm>
          <a:prstGeom prst="roundRect">
            <a:avLst>
              <a:gd name="adj" fmla="val 12602"/>
            </a:avLst>
          </a:prstGeom>
          <a:solidFill>
            <a:srgbClr val="FEF0E6"/>
          </a:solidFill>
          <a:ln w="19050">
            <a:solidFill>
              <a:srgbClr val="F36F21"/>
            </a:solidFill>
          </a:ln>
        </p:spPr>
        <p:txBody>
          <a:bodyPr wrap="square" rtlCol="0" anchor="ctr"/>
          <a:lstStyle/>
          <a:p>
            <a:pPr indent="0" marL="0">
              <a:buNone/>
            </a:pPr>
            <a:endParaRPr lang="en-US" dirty="0"/>
          </a:p>
        </p:txBody>
      </p:sp>
      <p:sp>
        <p:nvSpPr>
          <p:cNvPr id="5" name="Text 3"/>
          <p:cNvSpPr/>
          <p:nvPr/>
        </p:nvSpPr>
        <p:spPr>
          <a:xfrm>
            <a:off x="666601" y="1136452"/>
            <a:ext cx="7967014" cy="238125"/>
          </a:xfrm>
          <a:prstGeom prst="rect">
            <a:avLst/>
          </a:prstGeom>
          <a:noFill/>
          <a:ln/>
        </p:spPr>
        <p:txBody>
          <a:bodyPr wrap="square" lIns="0" tIns="0" rIns="0" bIns="0" rtlCol="0" anchor="t"/>
          <a:lstStyle/>
          <a:p>
            <a:pPr algn="l" indent="0" marL="0">
              <a:spcAft>
                <a:spcPts val="400"/>
              </a:spcAft>
              <a:buNone/>
            </a:pPr>
            <a:r>
              <a:rPr lang="en-US" sz="1600" b="1" dirty="0">
                <a:solidFill>
                  <a:srgbClr val="7C2D10"/>
                </a:solidFill>
                <a:latin typeface="Arial" pitchFamily="34" charset="0"/>
                <a:ea typeface="Arial" pitchFamily="34" charset="-122"/>
                <a:cs typeface="Arial" pitchFamily="34" charset="-120"/>
              </a:rPr>
              <a:t>Every task must prove it worked.</a:t>
            </a:r>
            <a:endParaRPr lang="en-US" sz="1600" dirty="0"/>
          </a:p>
        </p:txBody>
      </p:sp>
      <p:sp>
        <p:nvSpPr>
          <p:cNvPr id="6" name="Text 4"/>
          <p:cNvSpPr/>
          <p:nvPr/>
        </p:nvSpPr>
        <p:spPr>
          <a:xfrm>
            <a:off x="666601" y="1425327"/>
            <a:ext cx="7967014" cy="200025"/>
          </a:xfrm>
          <a:prstGeom prst="rect">
            <a:avLst/>
          </a:prstGeom>
          <a:noFill/>
          <a:ln/>
        </p:spPr>
        <p:txBody>
          <a:bodyPr wrap="square" lIns="0" tIns="0" rIns="0" bIns="0" rtlCol="0" anchor="t"/>
          <a:lstStyle/>
          <a:p>
            <a:pPr algn="l" indent="0" marL="0">
              <a:buNone/>
            </a:pPr>
            <a:r>
              <a:rPr lang="en-US" sz="1300" dirty="0">
                <a:solidFill>
                  <a:srgbClr val="C45C15"/>
                </a:solidFill>
                <a:latin typeface="Arial" pitchFamily="34" charset="0"/>
                <a:ea typeface="Arial" pitchFamily="34" charset="-122"/>
                <a:cs typeface="Arial" pitchFamily="34" charset="-120"/>
              </a:rPr>
              <a:t>Guardrails are executable checks — not documentation, not hopes.</a:t>
            </a:r>
            <a:endParaRPr lang="en-US" sz="1300" dirty="0"/>
          </a:p>
        </p:txBody>
      </p:sp>
      <p:sp>
        <p:nvSpPr>
          <p:cNvPr id="7" name="Text 5"/>
          <p:cNvSpPr/>
          <p:nvPr/>
        </p:nvSpPr>
        <p:spPr>
          <a:xfrm>
            <a:off x="444401" y="1923604"/>
            <a:ext cx="8255198" cy="2553444"/>
          </a:xfrm>
          <a:prstGeom prst="roundRect">
            <a:avLst>
              <a:gd name="adj" fmla="val 2984"/>
            </a:avLst>
          </a:prstGeom>
          <a:noFill/>
          <a:ln w="9525">
            <a:solidFill>
              <a:srgbClr val="D1D5DB"/>
            </a:solidFill>
          </a:ln>
        </p:spPr>
        <p:txBody>
          <a:bodyPr wrap="square" rtlCol="0" anchor="ctr"/>
          <a:lstStyle/>
          <a:p>
            <a:pPr indent="0" marL="0">
              <a:buNone/>
            </a:pPr>
            <a:endParaRPr lang="en-US" dirty="0"/>
          </a:p>
        </p:txBody>
      </p:sp>
      <p:sp>
        <p:nvSpPr>
          <p:cNvPr id="8" name="Shape 6"/>
          <p:cNvSpPr/>
          <p:nvPr/>
        </p:nvSpPr>
        <p:spPr>
          <a:xfrm>
            <a:off x="453926" y="2287042"/>
            <a:ext cx="8236148" cy="0"/>
          </a:xfrm>
          <a:prstGeom prst="line">
            <a:avLst/>
          </a:prstGeom>
          <a:noFill/>
          <a:ln w="9525">
            <a:solidFill>
              <a:srgbClr val="D1D5DB"/>
            </a:solidFill>
            <a:prstDash val="solid"/>
          </a:ln>
        </p:spPr>
      </p:sp>
      <p:sp>
        <p:nvSpPr>
          <p:cNvPr id="9" name="Text 7"/>
          <p:cNvSpPr/>
          <p:nvPr/>
        </p:nvSpPr>
        <p:spPr>
          <a:xfrm>
            <a:off x="453926" y="1933129"/>
            <a:ext cx="2175867" cy="349151"/>
          </a:xfrm>
          <a:prstGeom prst="rect">
            <a:avLst/>
          </a:prstGeom>
          <a:solidFill>
            <a:srgbClr val="01499B"/>
          </a:solidFill>
          <a:ln/>
        </p:spPr>
        <p:txBody>
          <a:bodyPr wrap="square" rtlCol="0" anchor="ctr"/>
          <a:lstStyle/>
          <a:p>
            <a:pPr indent="0" marL="0">
              <a:buNone/>
            </a:pPr>
            <a:endParaRPr lang="en-US" dirty="0"/>
          </a:p>
        </p:txBody>
      </p:sp>
      <p:sp>
        <p:nvSpPr>
          <p:cNvPr id="10" name="Shape 8"/>
          <p:cNvSpPr/>
          <p:nvPr/>
        </p:nvSpPr>
        <p:spPr>
          <a:xfrm>
            <a:off x="2625030" y="1933129"/>
            <a:ext cx="0" cy="349151"/>
          </a:xfrm>
          <a:prstGeom prst="line">
            <a:avLst/>
          </a:prstGeom>
          <a:noFill/>
          <a:ln w="9525">
            <a:solidFill>
              <a:srgbClr val="E5E7EB"/>
            </a:solidFill>
            <a:prstDash val="solid"/>
          </a:ln>
        </p:spPr>
      </p:sp>
      <p:sp>
        <p:nvSpPr>
          <p:cNvPr id="11" name="Text 9"/>
          <p:cNvSpPr/>
          <p:nvPr/>
        </p:nvSpPr>
        <p:spPr>
          <a:xfrm>
            <a:off x="606326" y="2021979"/>
            <a:ext cx="1898773"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Type</a:t>
            </a:r>
            <a:endParaRPr lang="en-US" sz="1200" dirty="0"/>
          </a:p>
        </p:txBody>
      </p:sp>
      <p:sp>
        <p:nvSpPr>
          <p:cNvPr id="12" name="Text 10"/>
          <p:cNvSpPr/>
          <p:nvPr/>
        </p:nvSpPr>
        <p:spPr>
          <a:xfrm>
            <a:off x="2629793" y="1933129"/>
            <a:ext cx="4323606" cy="349151"/>
          </a:xfrm>
          <a:prstGeom prst="rect">
            <a:avLst/>
          </a:prstGeom>
          <a:solidFill>
            <a:srgbClr val="01499B"/>
          </a:solidFill>
          <a:ln/>
        </p:spPr>
        <p:txBody>
          <a:bodyPr wrap="square" rtlCol="0" anchor="ctr"/>
          <a:lstStyle/>
          <a:p>
            <a:pPr indent="0" marL="0">
              <a:buNone/>
            </a:pPr>
            <a:endParaRPr lang="en-US" dirty="0"/>
          </a:p>
        </p:txBody>
      </p:sp>
      <p:sp>
        <p:nvSpPr>
          <p:cNvPr id="13" name="Shape 11"/>
          <p:cNvSpPr/>
          <p:nvPr/>
        </p:nvSpPr>
        <p:spPr>
          <a:xfrm>
            <a:off x="6948636" y="1933129"/>
            <a:ext cx="0" cy="349151"/>
          </a:xfrm>
          <a:prstGeom prst="line">
            <a:avLst/>
          </a:prstGeom>
          <a:noFill/>
          <a:ln w="9525">
            <a:solidFill>
              <a:srgbClr val="E5E7EB"/>
            </a:solidFill>
            <a:prstDash val="solid"/>
          </a:ln>
        </p:spPr>
      </p:sp>
      <p:sp>
        <p:nvSpPr>
          <p:cNvPr id="14" name="Text 12"/>
          <p:cNvSpPr/>
          <p:nvPr/>
        </p:nvSpPr>
        <p:spPr>
          <a:xfrm>
            <a:off x="2782193" y="2021979"/>
            <a:ext cx="4089466"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Example</a:t>
            </a:r>
            <a:endParaRPr lang="en-US" sz="1200" dirty="0"/>
          </a:p>
        </p:txBody>
      </p:sp>
      <p:sp>
        <p:nvSpPr>
          <p:cNvPr id="15" name="Text 13"/>
          <p:cNvSpPr/>
          <p:nvPr/>
        </p:nvSpPr>
        <p:spPr>
          <a:xfrm>
            <a:off x="6953399" y="1933129"/>
            <a:ext cx="1736675" cy="349151"/>
          </a:xfrm>
          <a:prstGeom prst="rect">
            <a:avLst/>
          </a:prstGeom>
          <a:solidFill>
            <a:srgbClr val="01499B"/>
          </a:solidFill>
          <a:ln/>
        </p:spPr>
        <p:txBody>
          <a:bodyPr wrap="square" rtlCol="0" anchor="ctr"/>
          <a:lstStyle/>
          <a:p>
            <a:pPr indent="0" marL="0">
              <a:buNone/>
            </a:pPr>
            <a:endParaRPr lang="en-US" dirty="0"/>
          </a:p>
        </p:txBody>
      </p:sp>
      <p:sp>
        <p:nvSpPr>
          <p:cNvPr id="16" name="Text 14"/>
          <p:cNvSpPr/>
          <p:nvPr/>
        </p:nvSpPr>
        <p:spPr>
          <a:xfrm>
            <a:off x="7105799" y="2021979"/>
            <a:ext cx="1460513"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Cost</a:t>
            </a:r>
            <a:endParaRPr lang="en-US" sz="1200" dirty="0"/>
          </a:p>
        </p:txBody>
      </p:sp>
      <p:sp>
        <p:nvSpPr>
          <p:cNvPr id="17" name="Shape 15"/>
          <p:cNvSpPr/>
          <p:nvPr/>
        </p:nvSpPr>
        <p:spPr>
          <a:xfrm>
            <a:off x="453926" y="2645718"/>
            <a:ext cx="8236148" cy="0"/>
          </a:xfrm>
          <a:prstGeom prst="line">
            <a:avLst/>
          </a:prstGeom>
          <a:noFill/>
          <a:ln w="9525">
            <a:solidFill>
              <a:srgbClr val="D1D5DB"/>
            </a:solidFill>
            <a:prstDash val="solid"/>
          </a:ln>
        </p:spPr>
      </p:sp>
      <p:sp>
        <p:nvSpPr>
          <p:cNvPr id="18" name="Text 16"/>
          <p:cNvSpPr/>
          <p:nvPr/>
        </p:nvSpPr>
        <p:spPr>
          <a:xfrm>
            <a:off x="453926" y="2291804"/>
            <a:ext cx="2175867" cy="349151"/>
          </a:xfrm>
          <a:prstGeom prst="rect">
            <a:avLst/>
          </a:prstGeom>
          <a:solidFill>
            <a:srgbClr val="F8FAFC"/>
          </a:solidFill>
          <a:ln/>
        </p:spPr>
        <p:txBody>
          <a:bodyPr wrap="square" rtlCol="0" anchor="ctr"/>
          <a:lstStyle/>
          <a:p>
            <a:pPr indent="0" marL="0">
              <a:buNone/>
            </a:pPr>
            <a:endParaRPr lang="en-US" dirty="0"/>
          </a:p>
        </p:txBody>
      </p:sp>
      <p:sp>
        <p:nvSpPr>
          <p:cNvPr id="19" name="Shape 17"/>
          <p:cNvSpPr/>
          <p:nvPr/>
        </p:nvSpPr>
        <p:spPr>
          <a:xfrm>
            <a:off x="2625030" y="2291804"/>
            <a:ext cx="0" cy="349151"/>
          </a:xfrm>
          <a:prstGeom prst="line">
            <a:avLst/>
          </a:prstGeom>
          <a:noFill/>
          <a:ln w="9525">
            <a:solidFill>
              <a:srgbClr val="E5E7EB"/>
            </a:solidFill>
            <a:prstDash val="solid"/>
          </a:ln>
        </p:spPr>
      </p:sp>
      <p:sp>
        <p:nvSpPr>
          <p:cNvPr id="20" name="Text 18"/>
          <p:cNvSpPr/>
          <p:nvPr/>
        </p:nvSpPr>
        <p:spPr>
          <a:xfrm>
            <a:off x="606326" y="2380655"/>
            <a:ext cx="1898773" cy="171450"/>
          </a:xfrm>
          <a:prstGeom prst="rect">
            <a:avLst/>
          </a:prstGeom>
          <a:noFill/>
          <a:ln/>
        </p:spPr>
        <p:txBody>
          <a:bodyPr wrap="square" lIns="0" tIns="0" rIns="0" bIns="0" rtlCol="0" anchor="t"/>
          <a:lstStyle/>
          <a:p>
            <a:pPr algn="l" indent="0" marL="0">
              <a:buNone/>
            </a:pPr>
            <a:r>
              <a:rPr lang="en-US" sz="1200" b="1" dirty="0">
                <a:solidFill>
                  <a:srgbClr val="1F2937"/>
                </a:solidFill>
                <a:latin typeface="Arial" pitchFamily="34" charset="0"/>
                <a:ea typeface="Arial" pitchFamily="34" charset="-122"/>
                <a:cs typeface="Arial" pitchFamily="34" charset="-120"/>
              </a:rPr>
              <a:t>File check</a:t>
            </a:r>
            <a:endParaRPr lang="en-US" sz="1200" dirty="0"/>
          </a:p>
        </p:txBody>
      </p:sp>
      <p:sp>
        <p:nvSpPr>
          <p:cNvPr id="21" name="Text 19"/>
          <p:cNvSpPr/>
          <p:nvPr/>
        </p:nvSpPr>
        <p:spPr>
          <a:xfrm>
            <a:off x="2629793" y="2291804"/>
            <a:ext cx="4323606" cy="349151"/>
          </a:xfrm>
          <a:prstGeom prst="rect">
            <a:avLst/>
          </a:prstGeom>
          <a:solidFill>
            <a:srgbClr val="F8FAFC"/>
          </a:solidFill>
          <a:ln/>
        </p:spPr>
        <p:txBody>
          <a:bodyPr wrap="square" rtlCol="0" anchor="ctr"/>
          <a:lstStyle/>
          <a:p>
            <a:pPr indent="0" marL="0">
              <a:buNone/>
            </a:pPr>
            <a:endParaRPr lang="en-US" dirty="0"/>
          </a:p>
        </p:txBody>
      </p:sp>
      <p:sp>
        <p:nvSpPr>
          <p:cNvPr id="22" name="Shape 20"/>
          <p:cNvSpPr/>
          <p:nvPr/>
        </p:nvSpPr>
        <p:spPr>
          <a:xfrm>
            <a:off x="6948636" y="2291804"/>
            <a:ext cx="0" cy="349151"/>
          </a:xfrm>
          <a:prstGeom prst="line">
            <a:avLst/>
          </a:prstGeom>
          <a:noFill/>
          <a:ln w="9525">
            <a:solidFill>
              <a:srgbClr val="E5E7EB"/>
            </a:solidFill>
            <a:prstDash val="solid"/>
          </a:ln>
        </p:spPr>
      </p:sp>
      <p:sp>
        <p:nvSpPr>
          <p:cNvPr id="23" name="Text 21"/>
          <p:cNvSpPr/>
          <p:nvPr/>
        </p:nvSpPr>
        <p:spPr>
          <a:xfrm>
            <a:off x="2782193" y="2380655"/>
            <a:ext cx="4089466"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Does feature.cs exist?</a:t>
            </a:r>
            <a:endParaRPr lang="en-US" sz="1200" dirty="0"/>
          </a:p>
        </p:txBody>
      </p:sp>
      <p:sp>
        <p:nvSpPr>
          <p:cNvPr id="24" name="Text 22"/>
          <p:cNvSpPr/>
          <p:nvPr/>
        </p:nvSpPr>
        <p:spPr>
          <a:xfrm>
            <a:off x="6953399" y="2291804"/>
            <a:ext cx="1736675" cy="349151"/>
          </a:xfrm>
          <a:prstGeom prst="rect">
            <a:avLst/>
          </a:prstGeom>
          <a:solidFill>
            <a:srgbClr val="F8FAFC"/>
          </a:solidFill>
          <a:ln/>
        </p:spPr>
        <p:txBody>
          <a:bodyPr wrap="square" rtlCol="0" anchor="ctr"/>
          <a:lstStyle/>
          <a:p>
            <a:pPr indent="0" marL="0">
              <a:buNone/>
            </a:pPr>
            <a:endParaRPr lang="en-US" dirty="0"/>
          </a:p>
        </p:txBody>
      </p:sp>
      <p:sp>
        <p:nvSpPr>
          <p:cNvPr id="25" name="Text 23"/>
          <p:cNvSpPr/>
          <p:nvPr/>
        </p:nvSpPr>
        <p:spPr>
          <a:xfrm>
            <a:off x="7105799" y="2380655"/>
            <a:ext cx="1460513" cy="171450"/>
          </a:xfrm>
          <a:prstGeom prst="rect">
            <a:avLst/>
          </a:prstGeom>
          <a:noFill/>
          <a:ln/>
        </p:spPr>
        <p:txBody>
          <a:bodyPr wrap="square" lIns="0" tIns="0" rIns="0" bIns="0" rtlCol="0" anchor="t"/>
          <a:lstStyle/>
          <a:p>
            <a:pPr algn="l" indent="0" marL="0">
              <a:buNone/>
            </a:pPr>
            <a:r>
              <a:rPr lang="en-US" sz="1200" b="1" dirty="0">
                <a:solidFill>
                  <a:srgbClr val="F36F21"/>
                </a:solidFill>
                <a:latin typeface="Arial" pitchFamily="34" charset="0"/>
                <a:ea typeface="Arial" pitchFamily="34" charset="-122"/>
                <a:cs typeface="Arial" pitchFamily="34" charset="-120"/>
              </a:rPr>
              <a:t>Trivial</a:t>
            </a:r>
            <a:endParaRPr lang="en-US" sz="1200" dirty="0"/>
          </a:p>
        </p:txBody>
      </p:sp>
      <p:sp>
        <p:nvSpPr>
          <p:cNvPr id="26" name="Shape 24"/>
          <p:cNvSpPr/>
          <p:nvPr/>
        </p:nvSpPr>
        <p:spPr>
          <a:xfrm>
            <a:off x="453926" y="3004393"/>
            <a:ext cx="8236148" cy="0"/>
          </a:xfrm>
          <a:prstGeom prst="line">
            <a:avLst/>
          </a:prstGeom>
          <a:noFill/>
          <a:ln w="9525">
            <a:solidFill>
              <a:srgbClr val="D1D5DB"/>
            </a:solidFill>
            <a:prstDash val="solid"/>
          </a:ln>
        </p:spPr>
      </p:sp>
      <p:sp>
        <p:nvSpPr>
          <p:cNvPr id="27" name="Text 25"/>
          <p:cNvSpPr/>
          <p:nvPr/>
        </p:nvSpPr>
        <p:spPr>
          <a:xfrm>
            <a:off x="453926" y="2650480"/>
            <a:ext cx="2175867" cy="34915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2625030" y="2650480"/>
            <a:ext cx="0" cy="349151"/>
          </a:xfrm>
          <a:prstGeom prst="line">
            <a:avLst/>
          </a:prstGeom>
          <a:noFill/>
          <a:ln w="9525">
            <a:solidFill>
              <a:srgbClr val="E5E7EB"/>
            </a:solidFill>
            <a:prstDash val="solid"/>
          </a:ln>
        </p:spPr>
      </p:sp>
      <p:sp>
        <p:nvSpPr>
          <p:cNvPr id="29" name="Text 27"/>
          <p:cNvSpPr/>
          <p:nvPr/>
        </p:nvSpPr>
        <p:spPr>
          <a:xfrm>
            <a:off x="606326" y="2739330"/>
            <a:ext cx="1898773" cy="171450"/>
          </a:xfrm>
          <a:prstGeom prst="rect">
            <a:avLst/>
          </a:prstGeom>
          <a:noFill/>
          <a:ln/>
        </p:spPr>
        <p:txBody>
          <a:bodyPr wrap="square" lIns="0" tIns="0" rIns="0" bIns="0" rtlCol="0" anchor="t"/>
          <a:lstStyle/>
          <a:p>
            <a:pPr algn="l" indent="0" marL="0">
              <a:buNone/>
            </a:pPr>
            <a:r>
              <a:rPr lang="en-US" sz="1200" b="1" dirty="0">
                <a:solidFill>
                  <a:srgbClr val="1F2937"/>
                </a:solidFill>
                <a:latin typeface="Arial" pitchFamily="34" charset="0"/>
                <a:ea typeface="Arial" pitchFamily="34" charset="-122"/>
                <a:cs typeface="Arial" pitchFamily="34" charset="-120"/>
              </a:rPr>
              <a:t>Build check</a:t>
            </a:r>
            <a:endParaRPr lang="en-US" sz="1200" dirty="0"/>
          </a:p>
        </p:txBody>
      </p:sp>
      <p:sp>
        <p:nvSpPr>
          <p:cNvPr id="30" name="Text 28"/>
          <p:cNvSpPr/>
          <p:nvPr/>
        </p:nvSpPr>
        <p:spPr>
          <a:xfrm>
            <a:off x="2629793" y="2650480"/>
            <a:ext cx="4323606" cy="349151"/>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6948636" y="2650480"/>
            <a:ext cx="0" cy="349151"/>
          </a:xfrm>
          <a:prstGeom prst="line">
            <a:avLst/>
          </a:prstGeom>
          <a:noFill/>
          <a:ln w="9525">
            <a:solidFill>
              <a:srgbClr val="E5E7EB"/>
            </a:solidFill>
            <a:prstDash val="solid"/>
          </a:ln>
        </p:spPr>
      </p:sp>
      <p:sp>
        <p:nvSpPr>
          <p:cNvPr id="32" name="Text 30"/>
          <p:cNvSpPr/>
          <p:nvPr/>
        </p:nvSpPr>
        <p:spPr>
          <a:xfrm>
            <a:off x="2782193" y="2739330"/>
            <a:ext cx="4089466"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Does dotnet build exit 0?</a:t>
            </a:r>
            <a:endParaRPr lang="en-US" sz="1200" dirty="0"/>
          </a:p>
        </p:txBody>
      </p:sp>
      <p:sp>
        <p:nvSpPr>
          <p:cNvPr id="33" name="Text 31"/>
          <p:cNvSpPr/>
          <p:nvPr/>
        </p:nvSpPr>
        <p:spPr>
          <a:xfrm>
            <a:off x="6953399" y="2650480"/>
            <a:ext cx="1736675" cy="349151"/>
          </a:xfrm>
          <a:prstGeom prst="rect">
            <a:avLst/>
          </a:prstGeom>
          <a:solidFill>
            <a:srgbClr val="FFFFFF"/>
          </a:solidFill>
          <a:ln/>
        </p:spPr>
        <p:txBody>
          <a:bodyPr wrap="square" rtlCol="0" anchor="ctr"/>
          <a:lstStyle/>
          <a:p>
            <a:pPr indent="0" marL="0">
              <a:buNone/>
            </a:pPr>
            <a:endParaRPr lang="en-US" dirty="0"/>
          </a:p>
        </p:txBody>
      </p:sp>
      <p:sp>
        <p:nvSpPr>
          <p:cNvPr id="34" name="Text 32"/>
          <p:cNvSpPr/>
          <p:nvPr/>
        </p:nvSpPr>
        <p:spPr>
          <a:xfrm>
            <a:off x="7105799" y="2739330"/>
            <a:ext cx="1460513" cy="171450"/>
          </a:xfrm>
          <a:prstGeom prst="rect">
            <a:avLst/>
          </a:prstGeom>
          <a:noFill/>
          <a:ln/>
        </p:spPr>
        <p:txBody>
          <a:bodyPr wrap="square" lIns="0" tIns="0" rIns="0" bIns="0" rtlCol="0" anchor="t"/>
          <a:lstStyle/>
          <a:p>
            <a:pPr algn="l" indent="0" marL="0">
              <a:buNone/>
            </a:pPr>
            <a:r>
              <a:rPr lang="en-US" sz="1200" b="1" dirty="0">
                <a:solidFill>
                  <a:srgbClr val="F36F21"/>
                </a:solidFill>
                <a:latin typeface="Arial" pitchFamily="34" charset="0"/>
                <a:ea typeface="Arial" pitchFamily="34" charset="-122"/>
                <a:cs typeface="Arial" pitchFamily="34" charset="-120"/>
              </a:rPr>
              <a:t>Cheap</a:t>
            </a:r>
            <a:endParaRPr lang="en-US" sz="1200" dirty="0"/>
          </a:p>
        </p:txBody>
      </p:sp>
      <p:sp>
        <p:nvSpPr>
          <p:cNvPr id="35" name="Shape 33"/>
          <p:cNvSpPr/>
          <p:nvPr/>
        </p:nvSpPr>
        <p:spPr>
          <a:xfrm>
            <a:off x="453926" y="3363069"/>
            <a:ext cx="8236148" cy="0"/>
          </a:xfrm>
          <a:prstGeom prst="line">
            <a:avLst/>
          </a:prstGeom>
          <a:noFill/>
          <a:ln w="9525">
            <a:solidFill>
              <a:srgbClr val="D1D5DB"/>
            </a:solidFill>
            <a:prstDash val="solid"/>
          </a:ln>
        </p:spPr>
      </p:sp>
      <p:sp>
        <p:nvSpPr>
          <p:cNvPr id="36" name="Text 34"/>
          <p:cNvSpPr/>
          <p:nvPr/>
        </p:nvSpPr>
        <p:spPr>
          <a:xfrm>
            <a:off x="453926" y="3009156"/>
            <a:ext cx="2175867" cy="349151"/>
          </a:xfrm>
          <a:prstGeom prst="rect">
            <a:avLst/>
          </a:prstGeom>
          <a:solidFill>
            <a:srgbClr val="F8FAFC"/>
          </a:solidFill>
          <a:ln/>
        </p:spPr>
        <p:txBody>
          <a:bodyPr wrap="square" rtlCol="0" anchor="ctr"/>
          <a:lstStyle/>
          <a:p>
            <a:pPr indent="0" marL="0">
              <a:buNone/>
            </a:pPr>
            <a:endParaRPr lang="en-US" dirty="0"/>
          </a:p>
        </p:txBody>
      </p:sp>
      <p:sp>
        <p:nvSpPr>
          <p:cNvPr id="37" name="Shape 35"/>
          <p:cNvSpPr/>
          <p:nvPr/>
        </p:nvSpPr>
        <p:spPr>
          <a:xfrm>
            <a:off x="2625030" y="3009156"/>
            <a:ext cx="0" cy="349151"/>
          </a:xfrm>
          <a:prstGeom prst="line">
            <a:avLst/>
          </a:prstGeom>
          <a:noFill/>
          <a:ln w="9525">
            <a:solidFill>
              <a:srgbClr val="E5E7EB"/>
            </a:solidFill>
            <a:prstDash val="solid"/>
          </a:ln>
        </p:spPr>
      </p:sp>
      <p:sp>
        <p:nvSpPr>
          <p:cNvPr id="38" name="Text 36"/>
          <p:cNvSpPr/>
          <p:nvPr/>
        </p:nvSpPr>
        <p:spPr>
          <a:xfrm>
            <a:off x="606326" y="3098006"/>
            <a:ext cx="1898773" cy="171450"/>
          </a:xfrm>
          <a:prstGeom prst="rect">
            <a:avLst/>
          </a:prstGeom>
          <a:noFill/>
          <a:ln/>
        </p:spPr>
        <p:txBody>
          <a:bodyPr wrap="square" lIns="0" tIns="0" rIns="0" bIns="0" rtlCol="0" anchor="t"/>
          <a:lstStyle/>
          <a:p>
            <a:pPr algn="l" indent="0" marL="0">
              <a:buNone/>
            </a:pPr>
            <a:r>
              <a:rPr lang="en-US" sz="1200" b="1" dirty="0">
                <a:solidFill>
                  <a:srgbClr val="1F2937"/>
                </a:solidFill>
                <a:latin typeface="Arial" pitchFamily="34" charset="0"/>
                <a:ea typeface="Arial" pitchFamily="34" charset="-122"/>
                <a:cs typeface="Arial" pitchFamily="34" charset="-120"/>
              </a:rPr>
              <a:t>Test check</a:t>
            </a:r>
            <a:endParaRPr lang="en-US" sz="1200" dirty="0"/>
          </a:p>
        </p:txBody>
      </p:sp>
      <p:sp>
        <p:nvSpPr>
          <p:cNvPr id="39" name="Text 37"/>
          <p:cNvSpPr/>
          <p:nvPr/>
        </p:nvSpPr>
        <p:spPr>
          <a:xfrm>
            <a:off x="2629793" y="3009156"/>
            <a:ext cx="4323606" cy="349151"/>
          </a:xfrm>
          <a:prstGeom prst="rect">
            <a:avLst/>
          </a:prstGeom>
          <a:solidFill>
            <a:srgbClr val="F8FAFC"/>
          </a:solidFill>
          <a:ln/>
        </p:spPr>
        <p:txBody>
          <a:bodyPr wrap="square" rtlCol="0" anchor="ctr"/>
          <a:lstStyle/>
          <a:p>
            <a:pPr indent="0" marL="0">
              <a:buNone/>
            </a:pPr>
            <a:endParaRPr lang="en-US" dirty="0"/>
          </a:p>
        </p:txBody>
      </p:sp>
      <p:sp>
        <p:nvSpPr>
          <p:cNvPr id="40" name="Shape 38"/>
          <p:cNvSpPr/>
          <p:nvPr/>
        </p:nvSpPr>
        <p:spPr>
          <a:xfrm>
            <a:off x="6948636" y="3009156"/>
            <a:ext cx="0" cy="349151"/>
          </a:xfrm>
          <a:prstGeom prst="line">
            <a:avLst/>
          </a:prstGeom>
          <a:noFill/>
          <a:ln w="9525">
            <a:solidFill>
              <a:srgbClr val="E5E7EB"/>
            </a:solidFill>
            <a:prstDash val="solid"/>
          </a:ln>
        </p:spPr>
      </p:sp>
      <p:sp>
        <p:nvSpPr>
          <p:cNvPr id="41" name="Text 39"/>
          <p:cNvSpPr/>
          <p:nvPr/>
        </p:nvSpPr>
        <p:spPr>
          <a:xfrm>
            <a:off x="2782193" y="3098006"/>
            <a:ext cx="4089466"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Do the specific new tests pass?</a:t>
            </a:r>
            <a:endParaRPr lang="en-US" sz="1200" dirty="0"/>
          </a:p>
        </p:txBody>
      </p:sp>
      <p:sp>
        <p:nvSpPr>
          <p:cNvPr id="42" name="Text 40"/>
          <p:cNvSpPr/>
          <p:nvPr/>
        </p:nvSpPr>
        <p:spPr>
          <a:xfrm>
            <a:off x="6953399" y="3009156"/>
            <a:ext cx="1736675" cy="349151"/>
          </a:xfrm>
          <a:prstGeom prst="rect">
            <a:avLst/>
          </a:prstGeom>
          <a:solidFill>
            <a:srgbClr val="F8FAFC"/>
          </a:solidFill>
          <a:ln/>
        </p:spPr>
        <p:txBody>
          <a:bodyPr wrap="square" rtlCol="0" anchor="ctr"/>
          <a:lstStyle/>
          <a:p>
            <a:pPr indent="0" marL="0">
              <a:buNone/>
            </a:pPr>
            <a:endParaRPr lang="en-US" dirty="0"/>
          </a:p>
        </p:txBody>
      </p:sp>
      <p:sp>
        <p:nvSpPr>
          <p:cNvPr id="43" name="Text 41"/>
          <p:cNvSpPr/>
          <p:nvPr/>
        </p:nvSpPr>
        <p:spPr>
          <a:xfrm>
            <a:off x="7105799" y="3098006"/>
            <a:ext cx="1460513" cy="171450"/>
          </a:xfrm>
          <a:prstGeom prst="rect">
            <a:avLst/>
          </a:prstGeom>
          <a:noFill/>
          <a:ln/>
        </p:spPr>
        <p:txBody>
          <a:bodyPr wrap="square" lIns="0" tIns="0" rIns="0" bIns="0" rtlCol="0" anchor="t"/>
          <a:lstStyle/>
          <a:p>
            <a:pPr algn="l" indent="0" marL="0">
              <a:buNone/>
            </a:pPr>
            <a:r>
              <a:rPr lang="en-US" sz="1200" b="1" dirty="0">
                <a:solidFill>
                  <a:srgbClr val="D97706"/>
                </a:solidFill>
                <a:latin typeface="Arial" pitchFamily="34" charset="0"/>
                <a:ea typeface="Arial" pitchFamily="34" charset="-122"/>
                <a:cs typeface="Arial" pitchFamily="34" charset="-120"/>
              </a:rPr>
              <a:t>Medium</a:t>
            </a:r>
            <a:endParaRPr lang="en-US" sz="1200" dirty="0"/>
          </a:p>
        </p:txBody>
      </p:sp>
      <p:sp>
        <p:nvSpPr>
          <p:cNvPr id="44" name="Shape 42"/>
          <p:cNvSpPr/>
          <p:nvPr/>
        </p:nvSpPr>
        <p:spPr>
          <a:xfrm>
            <a:off x="453926" y="3721745"/>
            <a:ext cx="8236148" cy="0"/>
          </a:xfrm>
          <a:prstGeom prst="line">
            <a:avLst/>
          </a:prstGeom>
          <a:noFill/>
          <a:ln w="9525">
            <a:solidFill>
              <a:srgbClr val="D1D5DB"/>
            </a:solidFill>
            <a:prstDash val="solid"/>
          </a:ln>
        </p:spPr>
      </p:sp>
      <p:sp>
        <p:nvSpPr>
          <p:cNvPr id="45" name="Text 43"/>
          <p:cNvSpPr/>
          <p:nvPr/>
        </p:nvSpPr>
        <p:spPr>
          <a:xfrm>
            <a:off x="453926" y="3367832"/>
            <a:ext cx="2175867" cy="349151"/>
          </a:xfrm>
          <a:prstGeom prst="rect">
            <a:avLst/>
          </a:prstGeom>
          <a:solidFill>
            <a:srgbClr val="FFFFFF"/>
          </a:solidFill>
          <a:ln/>
        </p:spPr>
        <p:txBody>
          <a:bodyPr wrap="square" rtlCol="0" anchor="ctr"/>
          <a:lstStyle/>
          <a:p>
            <a:pPr indent="0" marL="0">
              <a:buNone/>
            </a:pPr>
            <a:endParaRPr lang="en-US" dirty="0"/>
          </a:p>
        </p:txBody>
      </p:sp>
      <p:sp>
        <p:nvSpPr>
          <p:cNvPr id="46" name="Shape 44"/>
          <p:cNvSpPr/>
          <p:nvPr/>
        </p:nvSpPr>
        <p:spPr>
          <a:xfrm>
            <a:off x="2625030" y="3367832"/>
            <a:ext cx="0" cy="349151"/>
          </a:xfrm>
          <a:prstGeom prst="line">
            <a:avLst/>
          </a:prstGeom>
          <a:noFill/>
          <a:ln w="9525">
            <a:solidFill>
              <a:srgbClr val="E5E7EB"/>
            </a:solidFill>
            <a:prstDash val="solid"/>
          </a:ln>
        </p:spPr>
      </p:sp>
      <p:sp>
        <p:nvSpPr>
          <p:cNvPr id="47" name="Text 45"/>
          <p:cNvSpPr/>
          <p:nvPr/>
        </p:nvSpPr>
        <p:spPr>
          <a:xfrm>
            <a:off x="606326" y="3456682"/>
            <a:ext cx="1898773" cy="171450"/>
          </a:xfrm>
          <a:prstGeom prst="rect">
            <a:avLst/>
          </a:prstGeom>
          <a:noFill/>
          <a:ln/>
        </p:spPr>
        <p:txBody>
          <a:bodyPr wrap="square" lIns="0" tIns="0" rIns="0" bIns="0" rtlCol="0" anchor="t"/>
          <a:lstStyle/>
          <a:p>
            <a:pPr algn="l" indent="0" marL="0">
              <a:buNone/>
            </a:pPr>
            <a:r>
              <a:rPr lang="en-US" sz="1200" b="1" dirty="0">
                <a:solidFill>
                  <a:srgbClr val="1F2937"/>
                </a:solidFill>
                <a:latin typeface="Arial" pitchFamily="34" charset="0"/>
                <a:ea typeface="Arial" pitchFamily="34" charset="-122"/>
                <a:cs typeface="Arial" pitchFamily="34" charset="-120"/>
              </a:rPr>
              <a:t>Port/API check</a:t>
            </a:r>
            <a:endParaRPr lang="en-US" sz="1200" dirty="0"/>
          </a:p>
        </p:txBody>
      </p:sp>
      <p:sp>
        <p:nvSpPr>
          <p:cNvPr id="48" name="Text 46"/>
          <p:cNvSpPr/>
          <p:nvPr/>
        </p:nvSpPr>
        <p:spPr>
          <a:xfrm>
            <a:off x="2629793" y="3367832"/>
            <a:ext cx="4323606" cy="349151"/>
          </a:xfrm>
          <a:prstGeom prst="rect">
            <a:avLst/>
          </a:prstGeom>
          <a:solidFill>
            <a:srgbClr val="FFFFFF"/>
          </a:solidFill>
          <a:ln/>
        </p:spPr>
        <p:txBody>
          <a:bodyPr wrap="square" rtlCol="0" anchor="ctr"/>
          <a:lstStyle/>
          <a:p>
            <a:pPr indent="0" marL="0">
              <a:buNone/>
            </a:pPr>
            <a:endParaRPr lang="en-US" dirty="0"/>
          </a:p>
        </p:txBody>
      </p:sp>
      <p:sp>
        <p:nvSpPr>
          <p:cNvPr id="49" name="Shape 47"/>
          <p:cNvSpPr/>
          <p:nvPr/>
        </p:nvSpPr>
        <p:spPr>
          <a:xfrm>
            <a:off x="6948636" y="3367832"/>
            <a:ext cx="0" cy="349151"/>
          </a:xfrm>
          <a:prstGeom prst="line">
            <a:avLst/>
          </a:prstGeom>
          <a:noFill/>
          <a:ln w="9525">
            <a:solidFill>
              <a:srgbClr val="E5E7EB"/>
            </a:solidFill>
            <a:prstDash val="solid"/>
          </a:ln>
        </p:spPr>
      </p:sp>
      <p:sp>
        <p:nvSpPr>
          <p:cNvPr id="50" name="Text 48"/>
          <p:cNvSpPr/>
          <p:nvPr/>
        </p:nvSpPr>
        <p:spPr>
          <a:xfrm>
            <a:off x="2782193" y="3456682"/>
            <a:ext cx="4089466"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Does GET /health return 200?</a:t>
            </a:r>
            <a:endParaRPr lang="en-US" sz="1200" dirty="0"/>
          </a:p>
        </p:txBody>
      </p:sp>
      <p:sp>
        <p:nvSpPr>
          <p:cNvPr id="51" name="Text 49"/>
          <p:cNvSpPr/>
          <p:nvPr/>
        </p:nvSpPr>
        <p:spPr>
          <a:xfrm>
            <a:off x="6953399" y="3367832"/>
            <a:ext cx="1736675" cy="349151"/>
          </a:xfrm>
          <a:prstGeom prst="rect">
            <a:avLst/>
          </a:prstGeom>
          <a:solidFill>
            <a:srgbClr val="FFFFFF"/>
          </a:solidFill>
          <a:ln/>
        </p:spPr>
        <p:txBody>
          <a:bodyPr wrap="square" rtlCol="0" anchor="ctr"/>
          <a:lstStyle/>
          <a:p>
            <a:pPr indent="0" marL="0">
              <a:buNone/>
            </a:pPr>
            <a:endParaRPr lang="en-US" dirty="0"/>
          </a:p>
        </p:txBody>
      </p:sp>
      <p:sp>
        <p:nvSpPr>
          <p:cNvPr id="52" name="Text 50"/>
          <p:cNvSpPr/>
          <p:nvPr/>
        </p:nvSpPr>
        <p:spPr>
          <a:xfrm>
            <a:off x="7105799" y="3456682"/>
            <a:ext cx="1460513" cy="171450"/>
          </a:xfrm>
          <a:prstGeom prst="rect">
            <a:avLst/>
          </a:prstGeom>
          <a:noFill/>
          <a:ln/>
        </p:spPr>
        <p:txBody>
          <a:bodyPr wrap="square" lIns="0" tIns="0" rIns="0" bIns="0" rtlCol="0" anchor="t"/>
          <a:lstStyle/>
          <a:p>
            <a:pPr algn="l" indent="0" marL="0">
              <a:buNone/>
            </a:pPr>
            <a:r>
              <a:rPr lang="en-US" sz="1200" b="1" dirty="0">
                <a:solidFill>
                  <a:srgbClr val="D97706"/>
                </a:solidFill>
                <a:latin typeface="Arial" pitchFamily="34" charset="0"/>
                <a:ea typeface="Arial" pitchFamily="34" charset="-122"/>
                <a:cs typeface="Arial" pitchFamily="34" charset="-120"/>
              </a:rPr>
              <a:t>Medium</a:t>
            </a:r>
            <a:endParaRPr lang="en-US" sz="1200" dirty="0"/>
          </a:p>
        </p:txBody>
      </p:sp>
      <p:sp>
        <p:nvSpPr>
          <p:cNvPr id="53" name="Text 51"/>
          <p:cNvSpPr/>
          <p:nvPr/>
        </p:nvSpPr>
        <p:spPr>
          <a:xfrm>
            <a:off x="453926" y="3726507"/>
            <a:ext cx="2175867" cy="349151"/>
          </a:xfrm>
          <a:prstGeom prst="rect">
            <a:avLst/>
          </a:prstGeom>
          <a:solidFill>
            <a:srgbClr val="F8FAFC"/>
          </a:solidFill>
          <a:ln/>
        </p:spPr>
        <p:txBody>
          <a:bodyPr wrap="square" rtlCol="0" anchor="ctr"/>
          <a:lstStyle/>
          <a:p>
            <a:pPr indent="0" marL="0">
              <a:buNone/>
            </a:pPr>
            <a:endParaRPr lang="en-US" dirty="0"/>
          </a:p>
        </p:txBody>
      </p:sp>
      <p:sp>
        <p:nvSpPr>
          <p:cNvPr id="54" name="Shape 52"/>
          <p:cNvSpPr/>
          <p:nvPr/>
        </p:nvSpPr>
        <p:spPr>
          <a:xfrm>
            <a:off x="2625030" y="3726507"/>
            <a:ext cx="0" cy="349151"/>
          </a:xfrm>
          <a:prstGeom prst="line">
            <a:avLst/>
          </a:prstGeom>
          <a:noFill/>
          <a:ln w="9525">
            <a:solidFill>
              <a:srgbClr val="E5E7EB"/>
            </a:solidFill>
            <a:prstDash val="solid"/>
          </a:ln>
        </p:spPr>
      </p:sp>
      <p:sp>
        <p:nvSpPr>
          <p:cNvPr id="55" name="Text 53"/>
          <p:cNvSpPr/>
          <p:nvPr/>
        </p:nvSpPr>
        <p:spPr>
          <a:xfrm>
            <a:off x="606326" y="3815358"/>
            <a:ext cx="1898773" cy="171450"/>
          </a:xfrm>
          <a:prstGeom prst="rect">
            <a:avLst/>
          </a:prstGeom>
          <a:noFill/>
          <a:ln/>
        </p:spPr>
        <p:txBody>
          <a:bodyPr wrap="square" lIns="0" tIns="0" rIns="0" bIns="0" rtlCol="0" anchor="t"/>
          <a:lstStyle/>
          <a:p>
            <a:pPr algn="l" indent="0" marL="0">
              <a:buNone/>
            </a:pPr>
            <a:r>
              <a:rPr lang="en-US" sz="1200" b="1" dirty="0">
                <a:solidFill>
                  <a:srgbClr val="1F2937"/>
                </a:solidFill>
                <a:latin typeface="Arial" pitchFamily="34" charset="0"/>
                <a:ea typeface="Arial" pitchFamily="34" charset="-122"/>
                <a:cs typeface="Arial" pitchFamily="34" charset="-120"/>
              </a:rPr>
              <a:t>AI judge</a:t>
            </a:r>
            <a:endParaRPr lang="en-US" sz="1200" dirty="0"/>
          </a:p>
        </p:txBody>
      </p:sp>
      <p:sp>
        <p:nvSpPr>
          <p:cNvPr id="56" name="Text 54"/>
          <p:cNvSpPr/>
          <p:nvPr/>
        </p:nvSpPr>
        <p:spPr>
          <a:xfrm>
            <a:off x="2629793" y="3726507"/>
            <a:ext cx="4323606" cy="349151"/>
          </a:xfrm>
          <a:prstGeom prst="rect">
            <a:avLst/>
          </a:prstGeom>
          <a:solidFill>
            <a:srgbClr val="F8FAFC"/>
          </a:solidFill>
          <a:ln/>
        </p:spPr>
        <p:txBody>
          <a:bodyPr wrap="square" rtlCol="0" anchor="ctr"/>
          <a:lstStyle/>
          <a:p>
            <a:pPr indent="0" marL="0">
              <a:buNone/>
            </a:pPr>
            <a:endParaRPr lang="en-US" dirty="0"/>
          </a:p>
        </p:txBody>
      </p:sp>
      <p:sp>
        <p:nvSpPr>
          <p:cNvPr id="57" name="Shape 55"/>
          <p:cNvSpPr/>
          <p:nvPr/>
        </p:nvSpPr>
        <p:spPr>
          <a:xfrm>
            <a:off x="6948636" y="3726507"/>
            <a:ext cx="0" cy="349151"/>
          </a:xfrm>
          <a:prstGeom prst="line">
            <a:avLst/>
          </a:prstGeom>
          <a:noFill/>
          <a:ln w="9525">
            <a:solidFill>
              <a:srgbClr val="E5E7EB"/>
            </a:solidFill>
            <a:prstDash val="solid"/>
          </a:ln>
        </p:spPr>
      </p:sp>
      <p:sp>
        <p:nvSpPr>
          <p:cNvPr id="58" name="Text 56"/>
          <p:cNvSpPr/>
          <p:nvPr/>
        </p:nvSpPr>
        <p:spPr>
          <a:xfrm>
            <a:off x="2782193" y="3815358"/>
            <a:ext cx="4089466" cy="171450"/>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Second agent verifies the output — last resort</a:t>
            </a:r>
            <a:endParaRPr lang="en-US" sz="1200" dirty="0"/>
          </a:p>
        </p:txBody>
      </p:sp>
      <p:sp>
        <p:nvSpPr>
          <p:cNvPr id="59" name="Text 57"/>
          <p:cNvSpPr/>
          <p:nvPr/>
        </p:nvSpPr>
        <p:spPr>
          <a:xfrm>
            <a:off x="6953399" y="3726507"/>
            <a:ext cx="1736675" cy="349151"/>
          </a:xfrm>
          <a:prstGeom prst="rect">
            <a:avLst/>
          </a:prstGeom>
          <a:solidFill>
            <a:srgbClr val="F8FAFC"/>
          </a:solidFill>
          <a:ln/>
        </p:spPr>
        <p:txBody>
          <a:bodyPr wrap="square" rtlCol="0" anchor="ctr"/>
          <a:lstStyle/>
          <a:p>
            <a:pPr indent="0" marL="0">
              <a:buNone/>
            </a:pPr>
            <a:endParaRPr lang="en-US" dirty="0"/>
          </a:p>
        </p:txBody>
      </p:sp>
      <p:sp>
        <p:nvSpPr>
          <p:cNvPr id="60" name="Text 58"/>
          <p:cNvSpPr/>
          <p:nvPr/>
        </p:nvSpPr>
        <p:spPr>
          <a:xfrm>
            <a:off x="7105799" y="3815358"/>
            <a:ext cx="1460513" cy="171450"/>
          </a:xfrm>
          <a:prstGeom prst="rect">
            <a:avLst/>
          </a:prstGeom>
          <a:noFill/>
          <a:ln/>
        </p:spPr>
        <p:txBody>
          <a:bodyPr wrap="square" lIns="0" tIns="0" rIns="0" bIns="0" rtlCol="0" anchor="t"/>
          <a:lstStyle/>
          <a:p>
            <a:pPr algn="l" indent="0" marL="0">
              <a:buNone/>
            </a:pPr>
            <a:r>
              <a:rPr lang="en-US" sz="1200" b="1" dirty="0">
                <a:solidFill>
                  <a:srgbClr val="DC2626"/>
                </a:solidFill>
                <a:latin typeface="Arial" pitchFamily="34" charset="0"/>
                <a:ea typeface="Arial" pitchFamily="34" charset="-122"/>
                <a:cs typeface="Arial" pitchFamily="34" charset="-120"/>
              </a:rPr>
              <a:t>Expensive</a:t>
            </a:r>
            <a:endParaRPr lang="en-US" sz="1200" dirty="0"/>
          </a:p>
        </p:txBody>
      </p:sp>
      <p:sp>
        <p:nvSpPr>
          <p:cNvPr id="61" name="Text 59"/>
          <p:cNvSpPr/>
          <p:nvPr/>
        </p:nvSpPr>
        <p:spPr>
          <a:xfrm>
            <a:off x="444401" y="4616648"/>
            <a:ext cx="8255198" cy="374452"/>
          </a:xfrm>
          <a:prstGeom prst="rect">
            <a:avLst/>
          </a:prstGeom>
          <a:solidFill>
            <a:srgbClr val="FFF7ED"/>
          </a:solidFill>
          <a:ln/>
        </p:spPr>
        <p:txBody>
          <a:bodyPr wrap="square" rtlCol="0" anchor="ctr"/>
          <a:lstStyle/>
          <a:p>
            <a:pPr indent="0" marL="0">
              <a:buNone/>
            </a:pPr>
            <a:endParaRPr lang="en-US" dirty="0"/>
          </a:p>
        </p:txBody>
      </p:sp>
      <p:sp>
        <p:nvSpPr>
          <p:cNvPr id="62" name="Shape 60"/>
          <p:cNvSpPr/>
          <p:nvPr/>
        </p:nvSpPr>
        <p:spPr>
          <a:xfrm>
            <a:off x="468213" y="4616648"/>
            <a:ext cx="0" cy="374452"/>
          </a:xfrm>
          <a:prstGeom prst="line">
            <a:avLst/>
          </a:prstGeom>
          <a:noFill/>
          <a:ln w="47625">
            <a:solidFill>
              <a:srgbClr val="D97706"/>
            </a:solidFill>
            <a:prstDash val="solid"/>
          </a:ln>
        </p:spPr>
      </p:sp>
      <p:sp>
        <p:nvSpPr>
          <p:cNvPr id="63" name="Text 61"/>
          <p:cNvSpPr/>
          <p:nvPr/>
        </p:nvSpPr>
        <p:spPr>
          <a:xfrm>
            <a:off x="669727" y="4718149"/>
            <a:ext cx="8009215" cy="171450"/>
          </a:xfrm>
          <a:prstGeom prst="rect">
            <a:avLst/>
          </a:prstGeom>
          <a:noFill/>
          <a:ln/>
        </p:spPr>
        <p:txBody>
          <a:bodyPr wrap="square" lIns="0" tIns="0" rIns="0" bIns="0" rtlCol="0" anchor="t"/>
          <a:lstStyle/>
          <a:p>
            <a:pPr algn="l" indent="0" marL="0">
              <a:buNone/>
            </a:pPr>
            <a:r>
              <a:rPr lang="en-US" sz="1200" b="1" dirty="0">
                <a:solidFill>
                  <a:srgbClr val="92400E"/>
                </a:solidFill>
                <a:latin typeface="Arial" pitchFamily="34" charset="0"/>
                <a:ea typeface="Arial" pitchFamily="34" charset="-122"/>
                <a:cs typeface="Arial" pitchFamily="34" charset="-120"/>
              </a:rPr>
              <a:t>Rule:</a:t>
            </a:r>
            <a:pPr algn="l" indent="0" marL="0">
              <a:buNone/>
            </a:pPr>
            <a:r>
              <a:rPr lang="en-US" sz="1200" dirty="0">
                <a:solidFill>
                  <a:srgbClr val="92400E"/>
                </a:solidFill>
                <a:latin typeface="Arial" pitchFamily="34" charset="0"/>
                <a:ea typeface="Arial" pitchFamily="34" charset="-122"/>
                <a:cs typeface="Arial" pitchFamily="34" charset="-120"/>
              </a:rPr>
              <a:t> Start with the cheapest check that catches the failure. AI judges only when no deterministic check is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399755"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Retry with Targeted Feedback</a:t>
            </a:r>
            <a:endParaRPr lang="en-US" sz="2400" dirty="0"/>
          </a:p>
        </p:txBody>
      </p:sp>
      <p:sp>
        <p:nvSpPr>
          <p:cNvPr id="4" name="Text 2"/>
          <p:cNvSpPr/>
          <p:nvPr/>
        </p:nvSpPr>
        <p:spPr>
          <a:xfrm>
            <a:off x="444401" y="990451"/>
            <a:ext cx="8420302" cy="200025"/>
          </a:xfrm>
          <a:prstGeom prst="rect">
            <a:avLst/>
          </a:prstGeom>
          <a:noFill/>
          <a:ln/>
        </p:spPr>
        <p:txBody>
          <a:bodyPr wrap="square" lIns="0" tIns="0" rIns="0" bIns="0" rtlCol="0" anchor="t"/>
          <a:lstStyle/>
          <a:p>
            <a:pPr algn="l" indent="0" marL="0">
              <a:buNone/>
            </a:pPr>
            <a:r>
              <a:rPr lang="en-US" sz="1300" dirty="0">
                <a:solidFill>
                  <a:srgbClr val="374151"/>
                </a:solidFill>
                <a:latin typeface="Arial" pitchFamily="34" charset="0"/>
                <a:ea typeface="Arial" pitchFamily="34" charset="-122"/>
                <a:cs typeface="Arial" pitchFamily="34" charset="-120"/>
              </a:rPr>
              <a:t>When a guardrail fails, the harness doesn’t just try again — it tells the agent </a:t>
            </a:r>
            <a:pPr algn="l" indent="0" marL="0">
              <a:buNone/>
            </a:pPr>
            <a:r>
              <a:rPr lang="en-US" sz="1300" b="1" dirty="0">
                <a:solidFill>
                  <a:srgbClr val="374151"/>
                </a:solidFill>
                <a:latin typeface="Arial" pitchFamily="34" charset="0"/>
                <a:ea typeface="Arial" pitchFamily="34" charset="-122"/>
                <a:cs typeface="Arial" pitchFamily="34" charset="-120"/>
              </a:rPr>
              <a:t>exactly</a:t>
            </a:r>
            <a:pPr algn="l" indent="0" marL="0">
              <a:buNone/>
            </a:pPr>
            <a:r>
              <a:rPr lang="en-US" sz="1300" dirty="0">
                <a:solidFill>
                  <a:srgbClr val="374151"/>
                </a:solidFill>
                <a:latin typeface="Arial" pitchFamily="34" charset="0"/>
                <a:ea typeface="Arial" pitchFamily="34" charset="-122"/>
                <a:cs typeface="Arial" pitchFamily="34" charset="-120"/>
              </a:rPr>
              <a:t> what failed:</a:t>
            </a:r>
            <a:endParaRPr lang="en-US" sz="1300" dirty="0"/>
          </a:p>
        </p:txBody>
      </p:sp>
      <p:sp>
        <p:nvSpPr>
          <p:cNvPr id="5" name="Text 3"/>
          <p:cNvSpPr/>
          <p:nvPr/>
        </p:nvSpPr>
        <p:spPr>
          <a:xfrm>
            <a:off x="444401" y="1330077"/>
            <a:ext cx="8255198" cy="2626072"/>
          </a:xfrm>
          <a:prstGeom prst="roundRect">
            <a:avLst>
              <a:gd name="adj" fmla="val 3869"/>
            </a:avLst>
          </a:prstGeom>
          <a:solidFill>
            <a:srgbClr val="1E293B"/>
          </a:solidFill>
          <a:ln/>
        </p:spPr>
        <p:txBody>
          <a:bodyPr wrap="square" rtlCol="0" anchor="ctr"/>
          <a:lstStyle/>
          <a:p>
            <a:pPr indent="0" marL="0">
              <a:buNone/>
            </a:pPr>
            <a:endParaRPr lang="en-US" dirty="0"/>
          </a:p>
        </p:txBody>
      </p:sp>
      <p:sp>
        <p:nvSpPr>
          <p:cNvPr id="6" name="Text 4"/>
          <p:cNvSpPr/>
          <p:nvPr/>
        </p:nvSpPr>
        <p:spPr>
          <a:xfrm>
            <a:off x="647551" y="1495127"/>
            <a:ext cx="8005876" cy="190351"/>
          </a:xfrm>
          <a:prstGeom prst="rect">
            <a:avLst/>
          </a:prstGeom>
          <a:noFill/>
          <a:ln/>
        </p:spPr>
        <p:txBody>
          <a:bodyPr wrap="square" lIns="0" tIns="0" rIns="0" bIns="0" rtlCol="0" anchor="t"/>
          <a:lstStyle/>
          <a:p>
            <a:pPr algn="l" indent="0" marL="0">
              <a:lnSpc>
                <a:spcPts val="1500"/>
              </a:lnSpc>
              <a:spcAft>
                <a:spcPts val="600"/>
              </a:spcAft>
              <a:buNone/>
            </a:pPr>
            <a:r>
              <a:rPr lang="en-US" sz="1000" dirty="0">
                <a:solidFill>
                  <a:srgbClr val="94A3B8"/>
                </a:solidFill>
                <a:latin typeface="Courier New" pitchFamily="34" charset="0"/>
                <a:ea typeface="Courier New" pitchFamily="34" charset="-122"/>
                <a:cs typeface="Courier New" pitchFamily="34" charset="-120"/>
              </a:rPr>
              <a:t>Attempt 2 feedback:</a:t>
            </a:r>
            <a:endParaRPr lang="en-US" sz="1000" dirty="0"/>
          </a:p>
        </p:txBody>
      </p:sp>
      <p:sp>
        <p:nvSpPr>
          <p:cNvPr id="7" name="Text 5"/>
          <p:cNvSpPr/>
          <p:nvPr/>
        </p:nvSpPr>
        <p:spPr>
          <a:xfrm>
            <a:off x="647551" y="1761679"/>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F87171"/>
                </a:solidFill>
                <a:latin typeface="Courier New" pitchFamily="34" charset="0"/>
                <a:ea typeface="Courier New" pitchFamily="34" charset="-122"/>
                <a:cs typeface="Courier New" pitchFamily="34" charset="-120"/>
              </a:rPr>
              <a:t>✗ 01-build-passes.ps1 exited 1</a:t>
            </a:r>
            <a:endParaRPr lang="en-US" sz="1000" dirty="0"/>
          </a:p>
        </p:txBody>
      </p:sp>
      <p:sp>
        <p:nvSpPr>
          <p:cNvPr id="8" name="Text 6"/>
          <p:cNvSpPr/>
          <p:nvPr/>
        </p:nvSpPr>
        <p:spPr>
          <a:xfrm>
            <a:off x="647551" y="1952030"/>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94A3B8"/>
                </a:solidFill>
                <a:latin typeface="Courier New" pitchFamily="34" charset="0"/>
                <a:ea typeface="Courier New" pitchFamily="34" charset="-122"/>
                <a:cs typeface="Courier New" pitchFamily="34" charset="-120"/>
              </a:rPr>
              <a:t>stderr: CS0103: The name 'CustomerRepository' does not exist</a:t>
            </a:r>
            <a:endParaRPr lang="en-US" sz="1000" dirty="0"/>
          </a:p>
        </p:txBody>
      </p:sp>
      <p:sp>
        <p:nvSpPr>
          <p:cNvPr id="9" name="Text 7"/>
          <p:cNvSpPr/>
          <p:nvPr/>
        </p:nvSpPr>
        <p:spPr>
          <a:xfrm>
            <a:off x="647551" y="2142381"/>
            <a:ext cx="8005876" cy="190351"/>
          </a:xfrm>
          <a:prstGeom prst="rect">
            <a:avLst/>
          </a:prstGeom>
          <a:noFill/>
          <a:ln/>
        </p:spPr>
        <p:txBody>
          <a:bodyPr wrap="square" lIns="0" tIns="0" rIns="0" bIns="0" rtlCol="0" anchor="t"/>
          <a:lstStyle/>
          <a:p>
            <a:pPr algn="l" indent="0" marL="0">
              <a:lnSpc>
                <a:spcPts val="1500"/>
              </a:lnSpc>
              <a:spcAft>
                <a:spcPts val="800"/>
              </a:spcAft>
              <a:buNone/>
            </a:pPr>
            <a:r>
              <a:rPr lang="en-US" sz="1000" dirty="0">
                <a:solidFill>
                  <a:srgbClr val="94A3B8"/>
                </a:solidFill>
                <a:latin typeface="Courier New" pitchFamily="34" charset="0"/>
                <a:ea typeface="Courier New" pitchFamily="34" charset="-122"/>
                <a:cs typeface="Courier New" pitchFamily="34" charset="-120"/>
              </a:rPr>
              <a:t>src/Services/CustomerService.cs (line 47)</a:t>
            </a:r>
            <a:endParaRPr lang="en-US" sz="1000" dirty="0"/>
          </a:p>
        </p:txBody>
      </p:sp>
      <p:sp>
        <p:nvSpPr>
          <p:cNvPr id="10" name="Text 8"/>
          <p:cNvSpPr/>
          <p:nvPr/>
        </p:nvSpPr>
        <p:spPr>
          <a:xfrm>
            <a:off x="647551" y="2434233"/>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F87171"/>
                </a:solidFill>
                <a:latin typeface="Courier New" pitchFamily="34" charset="0"/>
                <a:ea typeface="Courier New" pitchFamily="34" charset="-122"/>
                <a:cs typeface="Courier New" pitchFamily="34" charset="-120"/>
              </a:rPr>
              <a:t>✗ 02-tests-pass.ps1 exited 1</a:t>
            </a:r>
            <a:endParaRPr lang="en-US" sz="1000" dirty="0"/>
          </a:p>
        </p:txBody>
      </p:sp>
      <p:sp>
        <p:nvSpPr>
          <p:cNvPr id="11" name="Text 9"/>
          <p:cNvSpPr/>
          <p:nvPr/>
        </p:nvSpPr>
        <p:spPr>
          <a:xfrm>
            <a:off x="647551" y="2624584"/>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94A3B8"/>
                </a:solidFill>
                <a:latin typeface="Courier New" pitchFamily="34" charset="0"/>
                <a:ea typeface="Courier New" pitchFamily="34" charset="-122"/>
                <a:cs typeface="Courier New" pitchFamily="34" charset="-120"/>
              </a:rPr>
              <a:t>3 tests failed:</a:t>
            </a:r>
            <a:endParaRPr lang="en-US" sz="1000" dirty="0"/>
          </a:p>
        </p:txBody>
      </p:sp>
      <p:sp>
        <p:nvSpPr>
          <p:cNvPr id="12" name="Text 10"/>
          <p:cNvSpPr/>
          <p:nvPr/>
        </p:nvSpPr>
        <p:spPr>
          <a:xfrm>
            <a:off x="647551" y="2814935"/>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94A3B8"/>
                </a:solidFill>
                <a:latin typeface="Courier New" pitchFamily="34" charset="0"/>
                <a:ea typeface="Courier New" pitchFamily="34" charset="-122"/>
                <a:cs typeface="Courier New" pitchFamily="34" charset="-120"/>
              </a:rPr>
              <a:t>CustomerService_GetById_ReturnsNull (expected NotNull)</a:t>
            </a:r>
            <a:endParaRPr lang="en-US" sz="1000" dirty="0"/>
          </a:p>
        </p:txBody>
      </p:sp>
      <p:sp>
        <p:nvSpPr>
          <p:cNvPr id="13" name="Text 11"/>
          <p:cNvSpPr/>
          <p:nvPr/>
        </p:nvSpPr>
        <p:spPr>
          <a:xfrm>
            <a:off x="647551" y="3005286"/>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94A3B8"/>
                </a:solidFill>
                <a:latin typeface="Courier New" pitchFamily="34" charset="0"/>
                <a:ea typeface="Courier New" pitchFamily="34" charset="-122"/>
                <a:cs typeface="Courier New" pitchFamily="34" charset="-120"/>
              </a:rPr>
              <a:t>CustomerService_Create_PersistsToDb</a:t>
            </a:r>
            <a:endParaRPr lang="en-US" sz="1000" dirty="0"/>
          </a:p>
        </p:txBody>
      </p:sp>
      <p:sp>
        <p:nvSpPr>
          <p:cNvPr id="14" name="Text 12"/>
          <p:cNvSpPr/>
          <p:nvPr/>
        </p:nvSpPr>
        <p:spPr>
          <a:xfrm>
            <a:off x="647551" y="3195638"/>
            <a:ext cx="8005876" cy="190351"/>
          </a:xfrm>
          <a:prstGeom prst="rect">
            <a:avLst/>
          </a:prstGeom>
          <a:noFill/>
          <a:ln/>
        </p:spPr>
        <p:txBody>
          <a:bodyPr wrap="square" lIns="0" tIns="0" rIns="0" bIns="0" rtlCol="0" anchor="t"/>
          <a:lstStyle/>
          <a:p>
            <a:pPr algn="l" indent="0" marL="0">
              <a:lnSpc>
                <a:spcPts val="1500"/>
              </a:lnSpc>
              <a:buNone/>
            </a:pPr>
            <a:r>
              <a:rPr lang="en-US" sz="1000" dirty="0">
                <a:solidFill>
                  <a:srgbClr val="94A3B8"/>
                </a:solidFill>
                <a:latin typeface="Courier New" pitchFamily="34" charset="0"/>
                <a:ea typeface="Courier New" pitchFamily="34" charset="-122"/>
                <a:cs typeface="Courier New" pitchFamily="34" charset="-120"/>
              </a:rPr>
              <a:t>CustomerService_List_ReturnsAll</a:t>
            </a:r>
            <a:endParaRPr lang="en-US" sz="1000" dirty="0"/>
          </a:p>
        </p:txBody>
      </p:sp>
      <p:sp>
        <p:nvSpPr>
          <p:cNvPr id="15" name="Text 13"/>
          <p:cNvSpPr/>
          <p:nvPr/>
        </p:nvSpPr>
        <p:spPr>
          <a:xfrm>
            <a:off x="444401" y="4095750"/>
            <a:ext cx="2633216" cy="895350"/>
          </a:xfrm>
          <a:prstGeom prst="rect">
            <a:avLst/>
          </a:prstGeom>
          <a:solidFill>
            <a:srgbClr val="EFF6FF"/>
          </a:solidFill>
          <a:ln/>
        </p:spPr>
        <p:txBody>
          <a:bodyPr wrap="square" rtlCol="0" anchor="ctr"/>
          <a:lstStyle/>
          <a:p>
            <a:pPr indent="0" marL="0">
              <a:buNone/>
            </a:pPr>
            <a:endParaRPr lang="en-US" dirty="0"/>
          </a:p>
        </p:txBody>
      </p:sp>
      <p:sp>
        <p:nvSpPr>
          <p:cNvPr id="16" name="Shape 14"/>
          <p:cNvSpPr/>
          <p:nvPr/>
        </p:nvSpPr>
        <p:spPr>
          <a:xfrm>
            <a:off x="468213" y="4095750"/>
            <a:ext cx="0" cy="895350"/>
          </a:xfrm>
          <a:prstGeom prst="line">
            <a:avLst/>
          </a:prstGeom>
          <a:noFill/>
          <a:ln w="47625">
            <a:solidFill>
              <a:srgbClr val="01499B"/>
            </a:solidFill>
            <a:prstDash val="solid"/>
          </a:ln>
        </p:spPr>
      </p:sp>
      <p:sp>
        <p:nvSpPr>
          <p:cNvPr id="17" name="Text 15"/>
          <p:cNvSpPr/>
          <p:nvPr/>
        </p:nvSpPr>
        <p:spPr>
          <a:xfrm>
            <a:off x="631627" y="42100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Agent knows what's wrong</a:t>
            </a:r>
            <a:endParaRPr lang="en-US" sz="1200" dirty="0"/>
          </a:p>
        </p:txBody>
      </p:sp>
      <p:sp>
        <p:nvSpPr>
          <p:cNvPr id="18" name="Text 16"/>
          <p:cNvSpPr/>
          <p:nvPr/>
        </p:nvSpPr>
        <p:spPr>
          <a:xfrm>
            <a:off x="631627" y="4419600"/>
            <a:ext cx="2352517"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Exact file, line number, and failing test — not just “something failed”</a:t>
            </a:r>
            <a:endParaRPr lang="en-US" sz="1100" dirty="0"/>
          </a:p>
        </p:txBody>
      </p:sp>
      <p:sp>
        <p:nvSpPr>
          <p:cNvPr id="19" name="Text 17"/>
          <p:cNvSpPr/>
          <p:nvPr/>
        </p:nvSpPr>
        <p:spPr>
          <a:xfrm>
            <a:off x="3255318" y="4095750"/>
            <a:ext cx="2633216" cy="895350"/>
          </a:xfrm>
          <a:prstGeom prst="rect">
            <a:avLst/>
          </a:prstGeom>
          <a:solidFill>
            <a:srgbClr val="EFF6FF"/>
          </a:solidFill>
          <a:ln/>
        </p:spPr>
        <p:txBody>
          <a:bodyPr wrap="square" rtlCol="0" anchor="ctr"/>
          <a:lstStyle/>
          <a:p>
            <a:pPr indent="0" marL="0">
              <a:buNone/>
            </a:pPr>
            <a:endParaRPr lang="en-US" dirty="0"/>
          </a:p>
        </p:txBody>
      </p:sp>
      <p:sp>
        <p:nvSpPr>
          <p:cNvPr id="20" name="Shape 18"/>
          <p:cNvSpPr/>
          <p:nvPr/>
        </p:nvSpPr>
        <p:spPr>
          <a:xfrm>
            <a:off x="3279130" y="4095750"/>
            <a:ext cx="0" cy="895350"/>
          </a:xfrm>
          <a:prstGeom prst="line">
            <a:avLst/>
          </a:prstGeom>
          <a:noFill/>
          <a:ln w="47625">
            <a:solidFill>
              <a:srgbClr val="01499B"/>
            </a:solidFill>
            <a:prstDash val="solid"/>
          </a:ln>
        </p:spPr>
      </p:sp>
      <p:sp>
        <p:nvSpPr>
          <p:cNvPr id="21" name="Text 19"/>
          <p:cNvSpPr/>
          <p:nvPr/>
        </p:nvSpPr>
        <p:spPr>
          <a:xfrm>
            <a:off x="3442543" y="42100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Default: 2 retries</a:t>
            </a:r>
            <a:endParaRPr lang="en-US" sz="1200" dirty="0"/>
          </a:p>
        </p:txBody>
      </p:sp>
      <p:sp>
        <p:nvSpPr>
          <p:cNvPr id="22" name="Text 20"/>
          <p:cNvSpPr/>
          <p:nvPr/>
        </p:nvSpPr>
        <p:spPr>
          <a:xfrm>
            <a:off x="3442543" y="4419600"/>
            <a:ext cx="2352517" cy="4572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Budget exhausted → NeedsHuman; humans step in at exactly the right point</a:t>
            </a:r>
            <a:endParaRPr lang="en-US" sz="1100" dirty="0"/>
          </a:p>
        </p:txBody>
      </p:sp>
      <p:sp>
        <p:nvSpPr>
          <p:cNvPr id="23" name="Text 21"/>
          <p:cNvSpPr/>
          <p:nvPr/>
        </p:nvSpPr>
        <p:spPr>
          <a:xfrm>
            <a:off x="6066234" y="4095750"/>
            <a:ext cx="2633216" cy="895350"/>
          </a:xfrm>
          <a:prstGeom prst="rect">
            <a:avLst/>
          </a:prstGeom>
          <a:solidFill>
            <a:srgbClr val="EFF6FF"/>
          </a:solidFill>
          <a:ln/>
        </p:spPr>
        <p:txBody>
          <a:bodyPr wrap="square" rtlCol="0" anchor="ctr"/>
          <a:lstStyle/>
          <a:p>
            <a:pPr indent="0" marL="0">
              <a:buNone/>
            </a:pPr>
            <a:endParaRPr lang="en-US" dirty="0"/>
          </a:p>
        </p:txBody>
      </p:sp>
      <p:sp>
        <p:nvSpPr>
          <p:cNvPr id="24" name="Shape 22"/>
          <p:cNvSpPr/>
          <p:nvPr/>
        </p:nvSpPr>
        <p:spPr>
          <a:xfrm>
            <a:off x="6090047" y="4095750"/>
            <a:ext cx="0" cy="895350"/>
          </a:xfrm>
          <a:prstGeom prst="line">
            <a:avLst/>
          </a:prstGeom>
          <a:noFill/>
          <a:ln w="47625">
            <a:solidFill>
              <a:srgbClr val="01499B"/>
            </a:solidFill>
            <a:prstDash val="solid"/>
          </a:ln>
        </p:spPr>
      </p:sp>
      <p:sp>
        <p:nvSpPr>
          <p:cNvPr id="25" name="Text 23"/>
          <p:cNvSpPr/>
          <p:nvPr/>
        </p:nvSpPr>
        <p:spPr>
          <a:xfrm>
            <a:off x="6253460" y="42100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Like a code review</a:t>
            </a:r>
            <a:endParaRPr lang="en-US" sz="1200" dirty="0"/>
          </a:p>
        </p:txBody>
      </p:sp>
      <p:sp>
        <p:nvSpPr>
          <p:cNvPr id="26" name="Text 24"/>
          <p:cNvSpPr/>
          <p:nvPr/>
        </p:nvSpPr>
        <p:spPr>
          <a:xfrm>
            <a:off x="6253460" y="4419600"/>
            <a:ext cx="2352517"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Targeted feedback on retry, just as a human developer would receive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348597"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State Passing Between Tasks</a:t>
            </a:r>
            <a:endParaRPr lang="en-US" sz="2400" dirty="0"/>
          </a:p>
        </p:txBody>
      </p:sp>
      <p:sp>
        <p:nvSpPr>
          <p:cNvPr id="4" name="Text 2"/>
          <p:cNvSpPr/>
          <p:nvPr/>
        </p:nvSpPr>
        <p:spPr>
          <a:xfrm>
            <a:off x="444401" y="990451"/>
            <a:ext cx="8420302" cy="200025"/>
          </a:xfrm>
          <a:prstGeom prst="rect">
            <a:avLst/>
          </a:prstGeom>
          <a:noFill/>
          <a:ln/>
        </p:spPr>
        <p:txBody>
          <a:bodyPr wrap="square" lIns="0" tIns="0" rIns="0" bIns="0" rtlCol="0" anchor="t"/>
          <a:lstStyle/>
          <a:p>
            <a:pPr algn="l" indent="0" marL="0">
              <a:buNone/>
            </a:pPr>
            <a:r>
              <a:rPr lang="en-US" sz="1300" dirty="0">
                <a:solidFill>
                  <a:srgbClr val="374151"/>
                </a:solidFill>
                <a:latin typeface="Arial" pitchFamily="34" charset="0"/>
                <a:ea typeface="Arial" pitchFamily="34" charset="-122"/>
                <a:cs typeface="Arial" pitchFamily="34" charset="-120"/>
              </a:rPr>
              <a:t>Tasks share data through a </a:t>
            </a:r>
            <a:pPr algn="l" indent="0" marL="0">
              <a:buNone/>
            </a:pPr>
            <a:r>
              <a:rPr lang="en-US" sz="1300" b="1" dirty="0">
                <a:solidFill>
                  <a:srgbClr val="374151"/>
                </a:solidFill>
                <a:latin typeface="Arial" pitchFamily="34" charset="0"/>
                <a:ea typeface="Arial" pitchFamily="34" charset="-122"/>
                <a:cs typeface="Arial" pitchFamily="34" charset="-120"/>
              </a:rPr>
              <a:t>snapshot-in / fragment-out</a:t>
            </a:r>
            <a:pPr algn="l" indent="0" marL="0">
              <a:buNone/>
            </a:pPr>
            <a:r>
              <a:rPr lang="en-US" sz="1300" dirty="0">
                <a:solidFill>
                  <a:srgbClr val="374151"/>
                </a:solidFill>
                <a:latin typeface="Arial" pitchFamily="34" charset="0"/>
                <a:ea typeface="Arial" pitchFamily="34" charset="-122"/>
                <a:cs typeface="Arial" pitchFamily="34" charset="-120"/>
              </a:rPr>
              <a:t> model:</a:t>
            </a:r>
            <a:endParaRPr lang="en-US" sz="1300" dirty="0"/>
          </a:p>
        </p:txBody>
      </p:sp>
      <p:sp>
        <p:nvSpPr>
          <p:cNvPr id="5" name="Text 3"/>
          <p:cNvSpPr/>
          <p:nvPr/>
        </p:nvSpPr>
        <p:spPr>
          <a:xfrm>
            <a:off x="444401" y="1330077"/>
            <a:ext cx="8255198" cy="2778472"/>
          </a:xfrm>
          <a:prstGeom prst="roundRect">
            <a:avLst>
              <a:gd name="adj" fmla="val 3657"/>
            </a:avLst>
          </a:prstGeom>
          <a:solidFill>
            <a:srgbClr val="1E293B"/>
          </a:solidFill>
          <a:ln/>
        </p:spPr>
        <p:txBody>
          <a:bodyPr wrap="square" rtlCol="0" anchor="ctr"/>
          <a:lstStyle/>
          <a:p>
            <a:pPr indent="0" marL="0">
              <a:buNone/>
            </a:pPr>
            <a:endParaRPr lang="en-US" dirty="0"/>
          </a:p>
        </p:txBody>
      </p:sp>
      <p:sp>
        <p:nvSpPr>
          <p:cNvPr id="6" name="Text 4"/>
          <p:cNvSpPr/>
          <p:nvPr/>
        </p:nvSpPr>
        <p:spPr>
          <a:xfrm>
            <a:off x="647551" y="1482477"/>
            <a:ext cx="8005876" cy="203002"/>
          </a:xfrm>
          <a:prstGeom prst="rect">
            <a:avLst/>
          </a:prstGeom>
          <a:noFill/>
          <a:ln/>
        </p:spPr>
        <p:txBody>
          <a:bodyPr wrap="square" lIns="0" tIns="0" rIns="0" bIns="0" rtlCol="0" anchor="t"/>
          <a:lstStyle/>
          <a:p>
            <a:pPr algn="l" indent="0" marL="0">
              <a:lnSpc>
                <a:spcPts val="1600"/>
              </a:lnSpc>
              <a:spcAft>
                <a:spcPts val="200"/>
              </a:spcAft>
              <a:buNone/>
            </a:pPr>
            <a:r>
              <a:rPr lang="en-US" sz="1000" dirty="0">
                <a:solidFill>
                  <a:srgbClr val="FBB98C"/>
                </a:solidFill>
                <a:latin typeface="Courier New" pitchFamily="34" charset="0"/>
                <a:ea typeface="Courier New" pitchFamily="34" charset="-122"/>
                <a:cs typeface="Courier New" pitchFamily="34" charset="-120"/>
              </a:rPr>
              <a:t>Task 01 runs:</a:t>
            </a:r>
            <a:endParaRPr lang="en-US" sz="1000" dirty="0"/>
          </a:p>
        </p:txBody>
      </p:sp>
      <p:sp>
        <p:nvSpPr>
          <p:cNvPr id="7" name="Text 5"/>
          <p:cNvSpPr/>
          <p:nvPr/>
        </p:nvSpPr>
        <p:spPr>
          <a:xfrm>
            <a:off x="647551" y="1710779"/>
            <a:ext cx="8005876" cy="203002"/>
          </a:xfrm>
          <a:prstGeom prst="rect">
            <a:avLst/>
          </a:prstGeom>
          <a:noFill/>
          <a:ln/>
        </p:spPr>
        <p:txBody>
          <a:bodyPr wrap="square" lIns="0" tIns="0" rIns="0" bIns="0" rtlCol="0" anchor="t"/>
          <a:lstStyle/>
          <a:p>
            <a:pPr algn="l" indent="0" marL="0">
              <a:lnSpc>
                <a:spcPts val="1600"/>
              </a:lnSpc>
              <a:buNone/>
            </a:pPr>
            <a:r>
              <a:rPr lang="en-US" sz="1000" dirty="0">
                <a:solidFill>
                  <a:srgbClr val="94A3B8"/>
                </a:solidFill>
                <a:latin typeface="Courier New" pitchFamily="34" charset="0"/>
                <a:ea typeface="Courier New" pitchFamily="34" charset="-122"/>
                <a:cs typeface="Courier New" pitchFamily="34" charset="-120"/>
              </a:rPr>
              <a:t>reads:  state snapshot (empty at start)</a:t>
            </a:r>
            <a:endParaRPr lang="en-US" sz="1000" dirty="0"/>
          </a:p>
        </p:txBody>
      </p:sp>
      <p:sp>
        <p:nvSpPr>
          <p:cNvPr id="8" name="Text 6"/>
          <p:cNvSpPr/>
          <p:nvPr/>
        </p:nvSpPr>
        <p:spPr>
          <a:xfrm>
            <a:off x="647551" y="1913781"/>
            <a:ext cx="8005876" cy="203002"/>
          </a:xfrm>
          <a:prstGeom prst="rect">
            <a:avLst/>
          </a:prstGeom>
          <a:noFill/>
          <a:ln/>
        </p:spPr>
        <p:txBody>
          <a:bodyPr wrap="square" lIns="0" tIns="0" rIns="0" bIns="0" rtlCol="0" anchor="t"/>
          <a:lstStyle/>
          <a:p>
            <a:pPr algn="l" indent="0" marL="0">
              <a:lnSpc>
                <a:spcPts val="1600"/>
              </a:lnSpc>
              <a:spcAft>
                <a:spcPts val="1000"/>
              </a:spcAft>
              <a:buNone/>
            </a:pPr>
            <a:r>
              <a:rPr lang="en-US" sz="1000" dirty="0">
                <a:solidFill>
                  <a:srgbClr val="60A5FA"/>
                </a:solidFill>
                <a:latin typeface="Courier New" pitchFamily="34" charset="0"/>
                <a:ea typeface="Courier New" pitchFamily="34" charset="-122"/>
                <a:cs typeface="Courier New" pitchFamily="34" charset="-120"/>
              </a:rPr>
              <a:t>writes: { "01-write-tests": { "testFileHashes": { ... } } }</a:t>
            </a:r>
            <a:endParaRPr lang="en-US" sz="1000" dirty="0"/>
          </a:p>
        </p:txBody>
      </p:sp>
      <p:sp>
        <p:nvSpPr>
          <p:cNvPr id="9" name="Text 7"/>
          <p:cNvSpPr/>
          <p:nvPr/>
        </p:nvSpPr>
        <p:spPr>
          <a:xfrm>
            <a:off x="647551" y="2243733"/>
            <a:ext cx="8005876" cy="203002"/>
          </a:xfrm>
          <a:prstGeom prst="rect">
            <a:avLst/>
          </a:prstGeom>
          <a:noFill/>
          <a:ln/>
        </p:spPr>
        <p:txBody>
          <a:bodyPr wrap="square" lIns="0" tIns="0" rIns="0" bIns="0" rtlCol="0" anchor="t"/>
          <a:lstStyle/>
          <a:p>
            <a:pPr algn="l" indent="0" marL="0">
              <a:lnSpc>
                <a:spcPts val="1600"/>
              </a:lnSpc>
              <a:spcAft>
                <a:spcPts val="200"/>
              </a:spcAft>
              <a:buNone/>
            </a:pPr>
            <a:r>
              <a:rPr lang="en-US" sz="1000" dirty="0">
                <a:solidFill>
                  <a:srgbClr val="FBB98C"/>
                </a:solidFill>
                <a:latin typeface="Courier New" pitchFamily="34" charset="0"/>
                <a:ea typeface="Courier New" pitchFamily="34" charset="-122"/>
                <a:cs typeface="Courier New" pitchFamily="34" charset="-120"/>
              </a:rPr>
              <a:t>Task 02 runs (after 01 succeeds):</a:t>
            </a:r>
            <a:endParaRPr lang="en-US" sz="1000" dirty="0"/>
          </a:p>
        </p:txBody>
      </p:sp>
      <p:sp>
        <p:nvSpPr>
          <p:cNvPr id="10" name="Text 8"/>
          <p:cNvSpPr/>
          <p:nvPr/>
        </p:nvSpPr>
        <p:spPr>
          <a:xfrm>
            <a:off x="647551" y="2472035"/>
            <a:ext cx="8005876" cy="203002"/>
          </a:xfrm>
          <a:prstGeom prst="rect">
            <a:avLst/>
          </a:prstGeom>
          <a:noFill/>
          <a:ln/>
        </p:spPr>
        <p:txBody>
          <a:bodyPr wrap="square" lIns="0" tIns="0" rIns="0" bIns="0" rtlCol="0" anchor="t"/>
          <a:lstStyle/>
          <a:p>
            <a:pPr algn="l" indent="0" marL="0">
              <a:lnSpc>
                <a:spcPts val="1600"/>
              </a:lnSpc>
              <a:buNone/>
            </a:pPr>
            <a:r>
              <a:rPr lang="en-US" sz="1000" dirty="0">
                <a:solidFill>
                  <a:srgbClr val="94A3B8"/>
                </a:solidFill>
                <a:latin typeface="Courier New" pitchFamily="34" charset="0"/>
                <a:ea typeface="Courier New" pitchFamily="34" charset="-122"/>
                <a:cs typeface="Courier New" pitchFamily="34" charset="-120"/>
              </a:rPr>
              <a:t>reads:  state snapshot including 01’s output</a:t>
            </a:r>
            <a:endParaRPr lang="en-US" sz="1000" dirty="0"/>
          </a:p>
        </p:txBody>
      </p:sp>
      <p:sp>
        <p:nvSpPr>
          <p:cNvPr id="11" name="Text 9"/>
          <p:cNvSpPr/>
          <p:nvPr/>
        </p:nvSpPr>
        <p:spPr>
          <a:xfrm>
            <a:off x="647551" y="2675037"/>
            <a:ext cx="8005876" cy="203002"/>
          </a:xfrm>
          <a:prstGeom prst="rect">
            <a:avLst/>
          </a:prstGeom>
          <a:noFill/>
          <a:ln/>
        </p:spPr>
        <p:txBody>
          <a:bodyPr wrap="square" lIns="0" tIns="0" rIns="0" bIns="0" rtlCol="0" anchor="t"/>
          <a:lstStyle/>
          <a:p>
            <a:pPr algn="l" indent="0" marL="0">
              <a:lnSpc>
                <a:spcPts val="1600"/>
              </a:lnSpc>
              <a:spcAft>
                <a:spcPts val="1000"/>
              </a:spcAft>
              <a:buNone/>
            </a:pPr>
            <a:r>
              <a:rPr lang="en-US" sz="1000" dirty="0">
                <a:solidFill>
                  <a:srgbClr val="60A5FA"/>
                </a:solidFill>
                <a:latin typeface="Courier New" pitchFamily="34" charset="0"/>
                <a:ea typeface="Courier New" pitchFamily="34" charset="-122"/>
                <a:cs typeface="Courier New" pitchFamily="34" charset="-120"/>
              </a:rPr>
              <a:t>writes: { "02-implement": { "featureFile": "src/Feature.cs" } }</a:t>
            </a:r>
            <a:endParaRPr lang="en-US" sz="1000" dirty="0"/>
          </a:p>
        </p:txBody>
      </p:sp>
      <p:sp>
        <p:nvSpPr>
          <p:cNvPr id="12" name="Text 10"/>
          <p:cNvSpPr/>
          <p:nvPr/>
        </p:nvSpPr>
        <p:spPr>
          <a:xfrm>
            <a:off x="647551" y="3004989"/>
            <a:ext cx="8005876" cy="203002"/>
          </a:xfrm>
          <a:prstGeom prst="rect">
            <a:avLst/>
          </a:prstGeom>
          <a:noFill/>
          <a:ln/>
        </p:spPr>
        <p:txBody>
          <a:bodyPr wrap="square" lIns="0" tIns="0" rIns="0" bIns="0" rtlCol="0" anchor="t"/>
          <a:lstStyle/>
          <a:p>
            <a:pPr algn="l" indent="0" marL="0">
              <a:lnSpc>
                <a:spcPts val="1600"/>
              </a:lnSpc>
              <a:spcAft>
                <a:spcPts val="200"/>
              </a:spcAft>
              <a:buNone/>
            </a:pPr>
            <a:r>
              <a:rPr lang="en-US" sz="1000" dirty="0">
                <a:solidFill>
                  <a:srgbClr val="FBB98C"/>
                </a:solidFill>
                <a:latin typeface="Courier New" pitchFamily="34" charset="0"/>
                <a:ea typeface="Courier New" pitchFamily="34" charset="-122"/>
                <a:cs typeface="Courier New" pitchFamily="34" charset="-120"/>
              </a:rPr>
              <a:t>Task 03 runs (after 02 succeeds):</a:t>
            </a:r>
            <a:endParaRPr lang="en-US" sz="1000" dirty="0"/>
          </a:p>
        </p:txBody>
      </p:sp>
      <p:sp>
        <p:nvSpPr>
          <p:cNvPr id="13" name="Text 11"/>
          <p:cNvSpPr/>
          <p:nvPr/>
        </p:nvSpPr>
        <p:spPr>
          <a:xfrm>
            <a:off x="647551" y="3233291"/>
            <a:ext cx="8005876" cy="203002"/>
          </a:xfrm>
          <a:prstGeom prst="rect">
            <a:avLst/>
          </a:prstGeom>
          <a:noFill/>
          <a:ln/>
        </p:spPr>
        <p:txBody>
          <a:bodyPr wrap="square" lIns="0" tIns="0" rIns="0" bIns="0" rtlCol="0" anchor="t"/>
          <a:lstStyle/>
          <a:p>
            <a:pPr algn="l" indent="0" marL="0">
              <a:lnSpc>
                <a:spcPts val="1600"/>
              </a:lnSpc>
              <a:buNone/>
            </a:pPr>
            <a:r>
              <a:rPr lang="en-US" sz="1000" dirty="0">
                <a:solidFill>
                  <a:srgbClr val="94A3B8"/>
                </a:solidFill>
                <a:latin typeface="Courier New" pitchFamily="34" charset="0"/>
                <a:ea typeface="Courier New" pitchFamily="34" charset="-122"/>
                <a:cs typeface="Courier New" pitchFamily="34" charset="-120"/>
              </a:rPr>
              <a:t>reads:  full merged state — sees everything 01 and 02 produced</a:t>
            </a:r>
            <a:endParaRPr lang="en-US" sz="1000" dirty="0"/>
          </a:p>
        </p:txBody>
      </p:sp>
      <p:sp>
        <p:nvSpPr>
          <p:cNvPr id="14" name="Text 12"/>
          <p:cNvSpPr/>
          <p:nvPr/>
        </p:nvSpPr>
        <p:spPr>
          <a:xfrm>
            <a:off x="444401" y="4248150"/>
            <a:ext cx="2633216" cy="742950"/>
          </a:xfrm>
          <a:prstGeom prst="rect">
            <a:avLst/>
          </a:prstGeom>
          <a:solidFill>
            <a:srgbClr val="EFF6FF"/>
          </a:solidFill>
          <a:ln/>
        </p:spPr>
        <p:txBody>
          <a:bodyPr wrap="square" rtlCol="0" anchor="ctr"/>
          <a:lstStyle/>
          <a:p>
            <a:pPr indent="0" marL="0">
              <a:buNone/>
            </a:pPr>
            <a:endParaRPr lang="en-US" dirty="0"/>
          </a:p>
        </p:txBody>
      </p:sp>
      <p:sp>
        <p:nvSpPr>
          <p:cNvPr id="15" name="Shape 13"/>
          <p:cNvSpPr/>
          <p:nvPr/>
        </p:nvSpPr>
        <p:spPr>
          <a:xfrm>
            <a:off x="468213" y="4248150"/>
            <a:ext cx="0" cy="742950"/>
          </a:xfrm>
          <a:prstGeom prst="line">
            <a:avLst/>
          </a:prstGeom>
          <a:noFill/>
          <a:ln w="47625">
            <a:solidFill>
              <a:srgbClr val="F36F21"/>
            </a:solidFill>
            <a:prstDash val="solid"/>
          </a:ln>
        </p:spPr>
      </p:sp>
      <p:sp>
        <p:nvSpPr>
          <p:cNvPr id="16" name="Text 14"/>
          <p:cNvSpPr/>
          <p:nvPr/>
        </p:nvSpPr>
        <p:spPr>
          <a:xfrm>
            <a:off x="631627" y="43624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F36F21"/>
                </a:solidFill>
                <a:latin typeface="Arial" pitchFamily="34" charset="0"/>
                <a:ea typeface="Arial" pitchFamily="34" charset="-122"/>
                <a:cs typeface="Arial" pitchFamily="34" charset="-120"/>
              </a:rPr>
              <a:t>No locks. No races.</a:t>
            </a:r>
            <a:endParaRPr lang="en-US" sz="1200" dirty="0"/>
          </a:p>
        </p:txBody>
      </p:sp>
      <p:sp>
        <p:nvSpPr>
          <p:cNvPr id="17" name="Text 15"/>
          <p:cNvSpPr/>
          <p:nvPr/>
        </p:nvSpPr>
        <p:spPr>
          <a:xfrm>
            <a:off x="631627" y="4572000"/>
            <a:ext cx="2352517"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Harness is the single writer; each child writes only its own fragment</a:t>
            </a:r>
            <a:endParaRPr lang="en-US" sz="1100" dirty="0"/>
          </a:p>
        </p:txBody>
      </p:sp>
      <p:sp>
        <p:nvSpPr>
          <p:cNvPr id="18" name="Text 16"/>
          <p:cNvSpPr/>
          <p:nvPr/>
        </p:nvSpPr>
        <p:spPr>
          <a:xfrm>
            <a:off x="3255318" y="4248150"/>
            <a:ext cx="2633216" cy="742950"/>
          </a:xfrm>
          <a:prstGeom prst="rect">
            <a:avLst/>
          </a:prstGeom>
          <a:solidFill>
            <a:srgbClr val="EFF6FF"/>
          </a:solidFill>
          <a:ln/>
        </p:spPr>
        <p:txBody>
          <a:bodyPr wrap="square" rtlCol="0" anchor="ctr"/>
          <a:lstStyle/>
          <a:p>
            <a:pPr indent="0" marL="0">
              <a:buNone/>
            </a:pPr>
            <a:endParaRPr lang="en-US" dirty="0"/>
          </a:p>
        </p:txBody>
      </p:sp>
      <p:sp>
        <p:nvSpPr>
          <p:cNvPr id="19" name="Shape 17"/>
          <p:cNvSpPr/>
          <p:nvPr/>
        </p:nvSpPr>
        <p:spPr>
          <a:xfrm>
            <a:off x="3279130" y="4248150"/>
            <a:ext cx="0" cy="742950"/>
          </a:xfrm>
          <a:prstGeom prst="line">
            <a:avLst/>
          </a:prstGeom>
          <a:noFill/>
          <a:ln w="47625">
            <a:solidFill>
              <a:srgbClr val="01499B"/>
            </a:solidFill>
            <a:prstDash val="solid"/>
          </a:ln>
        </p:spPr>
      </p:sp>
      <p:sp>
        <p:nvSpPr>
          <p:cNvPr id="20" name="Text 18"/>
          <p:cNvSpPr/>
          <p:nvPr/>
        </p:nvSpPr>
        <p:spPr>
          <a:xfrm>
            <a:off x="3442543" y="43624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Context builds up</a:t>
            </a:r>
            <a:endParaRPr lang="en-US" sz="1200" dirty="0"/>
          </a:p>
        </p:txBody>
      </p:sp>
      <p:sp>
        <p:nvSpPr>
          <p:cNvPr id="21" name="Text 19"/>
          <p:cNvSpPr/>
          <p:nvPr/>
        </p:nvSpPr>
        <p:spPr>
          <a:xfrm>
            <a:off x="3442543" y="4572000"/>
            <a:ext cx="2352517"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File paths, test names, API endpoints passed safely between tasks</a:t>
            </a:r>
            <a:endParaRPr lang="en-US" sz="1100" dirty="0"/>
          </a:p>
        </p:txBody>
      </p:sp>
      <p:sp>
        <p:nvSpPr>
          <p:cNvPr id="22" name="Text 20"/>
          <p:cNvSpPr/>
          <p:nvPr/>
        </p:nvSpPr>
        <p:spPr>
          <a:xfrm>
            <a:off x="6066234" y="4248150"/>
            <a:ext cx="2633216" cy="742950"/>
          </a:xfrm>
          <a:prstGeom prst="rect">
            <a:avLst/>
          </a:prstGeom>
          <a:solidFill>
            <a:srgbClr val="EFF6FF"/>
          </a:solidFill>
          <a:ln/>
        </p:spPr>
        <p:txBody>
          <a:bodyPr wrap="square" rtlCol="0" anchor="ctr"/>
          <a:lstStyle/>
          <a:p>
            <a:pPr indent="0" marL="0">
              <a:buNone/>
            </a:pPr>
            <a:endParaRPr lang="en-US" dirty="0"/>
          </a:p>
        </p:txBody>
      </p:sp>
      <p:sp>
        <p:nvSpPr>
          <p:cNvPr id="23" name="Shape 21"/>
          <p:cNvSpPr/>
          <p:nvPr/>
        </p:nvSpPr>
        <p:spPr>
          <a:xfrm>
            <a:off x="6090047" y="4248150"/>
            <a:ext cx="0" cy="742950"/>
          </a:xfrm>
          <a:prstGeom prst="line">
            <a:avLst/>
          </a:prstGeom>
          <a:noFill/>
          <a:ln w="47625">
            <a:solidFill>
              <a:srgbClr val="01499B"/>
            </a:solidFill>
            <a:prstDash val="solid"/>
          </a:ln>
        </p:spPr>
      </p:sp>
      <p:sp>
        <p:nvSpPr>
          <p:cNvPr id="24" name="Text 22"/>
          <p:cNvSpPr/>
          <p:nvPr/>
        </p:nvSpPr>
        <p:spPr>
          <a:xfrm>
            <a:off x="6253460" y="4362450"/>
            <a:ext cx="2352517" cy="171450"/>
          </a:xfrm>
          <a:prstGeom prst="rect">
            <a:avLst/>
          </a:prstGeom>
          <a:noFill/>
          <a:ln/>
        </p:spPr>
        <p:txBody>
          <a:bodyPr wrap="square" lIns="0" tIns="0" rIns="0" bIns="0" rtlCol="0" anchor="t"/>
          <a:lstStyle/>
          <a:p>
            <a:pPr algn="l" indent="0" marL="0">
              <a:spcAft>
                <a:spcPts val="300"/>
              </a:spcAft>
              <a:buNone/>
            </a:pPr>
            <a:r>
              <a:rPr lang="en-US" sz="1200" b="1" dirty="0">
                <a:solidFill>
                  <a:srgbClr val="01499B"/>
                </a:solidFill>
                <a:latin typeface="Arial" pitchFamily="34" charset="0"/>
                <a:ea typeface="Arial" pitchFamily="34" charset="-122"/>
                <a:cs typeface="Arial" pitchFamily="34" charset="-120"/>
              </a:rPr>
              <a:t>Atomic writes</a:t>
            </a:r>
            <a:endParaRPr lang="en-US" sz="1200" dirty="0"/>
          </a:p>
        </p:txBody>
      </p:sp>
      <p:sp>
        <p:nvSpPr>
          <p:cNvPr id="25" name="Text 23"/>
          <p:cNvSpPr/>
          <p:nvPr/>
        </p:nvSpPr>
        <p:spPr>
          <a:xfrm>
            <a:off x="6253460" y="4572000"/>
            <a:ext cx="2352517"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Temp-file + rename — safe under crash or concurrent runs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5544818"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Independent Branches Keep Running</a:t>
            </a:r>
            <a:endParaRPr lang="en-US" sz="2400" dirty="0"/>
          </a:p>
        </p:txBody>
      </p:sp>
      <p:sp>
        <p:nvSpPr>
          <p:cNvPr id="4" name="Text 2"/>
          <p:cNvSpPr/>
          <p:nvPr/>
        </p:nvSpPr>
        <p:spPr>
          <a:xfrm>
            <a:off x="444401" y="990451"/>
            <a:ext cx="4572298" cy="393502"/>
          </a:xfrm>
          <a:prstGeom prst="roundRect">
            <a:avLst>
              <a:gd name="adj" fmla="val 19365"/>
            </a:avLst>
          </a:prstGeom>
          <a:solidFill>
            <a:srgbClr val="01499B"/>
          </a:solidFill>
          <a:ln/>
        </p:spPr>
        <p:txBody>
          <a:bodyPr wrap="square" rtlCol="0" anchor="ctr"/>
          <a:lstStyle/>
          <a:p>
            <a:pPr indent="0" marL="0">
              <a:buNone/>
            </a:pPr>
            <a:endParaRPr lang="en-US" dirty="0"/>
          </a:p>
        </p:txBody>
      </p:sp>
      <p:sp>
        <p:nvSpPr>
          <p:cNvPr id="5" name="Text 3"/>
          <p:cNvSpPr/>
          <p:nvPr/>
        </p:nvSpPr>
        <p:spPr>
          <a:xfrm>
            <a:off x="554126" y="1091952"/>
            <a:ext cx="4352848" cy="1905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01-write-tests ✓</a:t>
            </a:r>
            <a:endParaRPr lang="en-US" sz="1100" dirty="0"/>
          </a:p>
        </p:txBody>
      </p:sp>
      <p:sp>
        <p:nvSpPr>
          <p:cNvPr id="6" name="Text 4"/>
          <p:cNvSpPr/>
          <p:nvPr/>
        </p:nvSpPr>
        <p:spPr>
          <a:xfrm>
            <a:off x="398678" y="1472803"/>
            <a:ext cx="4663744" cy="238125"/>
          </a:xfrm>
          <a:prstGeom prst="rect">
            <a:avLst/>
          </a:prstGeom>
          <a:noFill/>
          <a:ln/>
        </p:spPr>
        <p:txBody>
          <a:bodyPr wrap="square" lIns="0" tIns="0" rIns="0" bIns="0" rtlCol="0" anchor="t"/>
          <a:lstStyle/>
          <a:p>
            <a:pPr algn="ctr" indent="0" marL="0">
              <a:buNone/>
            </a:pPr>
            <a:r>
              <a:rPr lang="en-US" sz="1600" dirty="0">
                <a:solidFill>
                  <a:srgbClr val="01499B"/>
                </a:solidFill>
                <a:latin typeface="Arial" pitchFamily="34" charset="0"/>
                <a:ea typeface="Arial" pitchFamily="34" charset="-122"/>
                <a:cs typeface="Arial" pitchFamily="34" charset="-120"/>
              </a:rPr>
              <a:t>↓</a:t>
            </a:r>
            <a:endParaRPr lang="en-US" sz="1600" dirty="0"/>
          </a:p>
        </p:txBody>
      </p:sp>
      <p:sp>
        <p:nvSpPr>
          <p:cNvPr id="7" name="Text 5"/>
          <p:cNvSpPr/>
          <p:nvPr/>
        </p:nvSpPr>
        <p:spPr>
          <a:xfrm>
            <a:off x="444401" y="1799779"/>
            <a:ext cx="4572298" cy="431602"/>
          </a:xfrm>
          <a:prstGeom prst="roundRect">
            <a:avLst>
              <a:gd name="adj" fmla="val 17655"/>
            </a:avLst>
          </a:prstGeom>
          <a:solidFill>
            <a:srgbClr val="FEE2E2"/>
          </a:solidFill>
          <a:ln w="19050">
            <a:solidFill>
              <a:srgbClr val="DC2626"/>
            </a:solidFill>
          </a:ln>
        </p:spPr>
        <p:txBody>
          <a:bodyPr wrap="square" rtlCol="0" anchor="ctr"/>
          <a:lstStyle/>
          <a:p>
            <a:pPr indent="0" marL="0">
              <a:buNone/>
            </a:pPr>
            <a:endParaRPr lang="en-US" dirty="0"/>
          </a:p>
        </p:txBody>
      </p:sp>
      <p:sp>
        <p:nvSpPr>
          <p:cNvPr id="8" name="Text 6"/>
          <p:cNvSpPr/>
          <p:nvPr/>
        </p:nvSpPr>
        <p:spPr>
          <a:xfrm>
            <a:off x="573557" y="1920329"/>
            <a:ext cx="4313986" cy="190500"/>
          </a:xfrm>
          <a:prstGeom prst="rect">
            <a:avLst/>
          </a:prstGeom>
          <a:noFill/>
          <a:ln/>
        </p:spPr>
        <p:txBody>
          <a:bodyPr wrap="square" lIns="0" tIns="0" rIns="0" bIns="0" rtlCol="0" anchor="t"/>
          <a:lstStyle/>
          <a:p>
            <a:pPr algn="ctr" indent="0" marL="0">
              <a:buNone/>
            </a:pPr>
            <a:r>
              <a:rPr lang="en-US" sz="1100" b="1" dirty="0">
                <a:solidFill>
                  <a:srgbClr val="DC2626"/>
                </a:solidFill>
                <a:latin typeface="Arial" pitchFamily="34" charset="0"/>
                <a:ea typeface="Arial" pitchFamily="34" charset="-122"/>
                <a:cs typeface="Arial" pitchFamily="34" charset="-120"/>
              </a:rPr>
              <a:t>02-implement ✗ NeedsHuman</a:t>
            </a:r>
            <a:endParaRPr lang="en-US" sz="1100" dirty="0"/>
          </a:p>
        </p:txBody>
      </p:sp>
      <p:sp>
        <p:nvSpPr>
          <p:cNvPr id="9" name="Text 7"/>
          <p:cNvSpPr/>
          <p:nvPr/>
        </p:nvSpPr>
        <p:spPr>
          <a:xfrm>
            <a:off x="398678" y="2320230"/>
            <a:ext cx="4663744" cy="238125"/>
          </a:xfrm>
          <a:prstGeom prst="rect">
            <a:avLst/>
          </a:prstGeom>
          <a:noFill/>
          <a:ln/>
        </p:spPr>
        <p:txBody>
          <a:bodyPr wrap="square" lIns="0" tIns="0" rIns="0" bIns="0" rtlCol="0" anchor="t"/>
          <a:lstStyle/>
          <a:p>
            <a:pPr algn="ctr" indent="0" marL="0">
              <a:buNone/>
            </a:pPr>
            <a:r>
              <a:rPr lang="en-US" sz="1600" dirty="0">
                <a:solidFill>
                  <a:srgbClr val="9CA3A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444401" y="2647206"/>
            <a:ext cx="4572298" cy="393502"/>
          </a:xfrm>
          <a:prstGeom prst="roundRect">
            <a:avLst>
              <a:gd name="adj" fmla="val 19365"/>
            </a:avLst>
          </a:prstGeom>
          <a:solidFill>
            <a:srgbClr val="F3F4F6"/>
          </a:solidFill>
          <a:ln w="19050">
            <a:solidFill>
              <a:srgbClr val="9CA3AF"/>
            </a:solidFill>
          </a:ln>
        </p:spPr>
        <p:txBody>
          <a:bodyPr wrap="square" rtlCol="0" anchor="ctr"/>
          <a:lstStyle/>
          <a:p>
            <a:pPr indent="0" marL="0">
              <a:buNone/>
            </a:pPr>
            <a:endParaRPr lang="en-US" dirty="0"/>
          </a:p>
        </p:txBody>
      </p:sp>
      <p:sp>
        <p:nvSpPr>
          <p:cNvPr id="11" name="Text 9"/>
          <p:cNvSpPr/>
          <p:nvPr/>
        </p:nvSpPr>
        <p:spPr>
          <a:xfrm>
            <a:off x="573557" y="2767757"/>
            <a:ext cx="4313986" cy="15240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03-integration-test — Blocked</a:t>
            </a:r>
            <a:endParaRPr lang="en-US" sz="1100" dirty="0"/>
          </a:p>
        </p:txBody>
      </p:sp>
      <p:sp>
        <p:nvSpPr>
          <p:cNvPr id="12" name="Shape 10"/>
          <p:cNvSpPr/>
          <p:nvPr/>
        </p:nvSpPr>
        <p:spPr>
          <a:xfrm>
            <a:off x="444401" y="3210520"/>
            <a:ext cx="4572298" cy="0"/>
          </a:xfrm>
          <a:prstGeom prst="line">
            <a:avLst/>
          </a:prstGeom>
          <a:noFill/>
          <a:ln w="9525">
            <a:solidFill>
              <a:srgbClr val="D1D5DB"/>
            </a:solidFill>
            <a:prstDash val="solid"/>
          </a:ln>
        </p:spPr>
      </p:sp>
      <p:sp>
        <p:nvSpPr>
          <p:cNvPr id="13" name="Text 11"/>
          <p:cNvSpPr/>
          <p:nvPr/>
        </p:nvSpPr>
        <p:spPr>
          <a:xfrm>
            <a:off x="444401" y="3291483"/>
            <a:ext cx="4663744" cy="152400"/>
          </a:xfrm>
          <a:prstGeom prst="rect">
            <a:avLst/>
          </a:prstGeom>
          <a:noFill/>
          <a:ln/>
        </p:spPr>
        <p:txBody>
          <a:bodyPr wrap="square" lIns="0" tIns="0" rIns="0" bIns="0" rtlCol="0" anchor="t"/>
          <a:lstStyle/>
          <a:p>
            <a:pPr algn="l" indent="0" marL="0">
              <a:spcAft>
                <a:spcPts val="600"/>
              </a:spcAft>
              <a:buNone/>
            </a:pPr>
            <a:r>
              <a:rPr lang="en-US" sz="1100" b="1" dirty="0">
                <a:solidFill>
                  <a:srgbClr val="F36F21"/>
                </a:solidFill>
                <a:latin typeface="Arial" pitchFamily="34" charset="0"/>
                <a:ea typeface="Arial" pitchFamily="34" charset="-122"/>
                <a:cs typeface="Arial" pitchFamily="34" charset="-120"/>
              </a:rPr>
              <a:t>Independent tasks run anyway:</a:t>
            </a:r>
            <a:endParaRPr lang="en-US" sz="1100" dirty="0"/>
          </a:p>
        </p:txBody>
      </p:sp>
      <p:sp>
        <p:nvSpPr>
          <p:cNvPr id="14" name="Text 12"/>
          <p:cNvSpPr/>
          <p:nvPr/>
        </p:nvSpPr>
        <p:spPr>
          <a:xfrm>
            <a:off x="444401" y="3608933"/>
            <a:ext cx="4572298" cy="431602"/>
          </a:xfrm>
          <a:prstGeom prst="roundRect">
            <a:avLst>
              <a:gd name="adj" fmla="val 17655"/>
            </a:avLst>
          </a:prstGeom>
          <a:solidFill>
            <a:srgbClr val="FEF0E6"/>
          </a:solidFill>
          <a:ln w="19050">
            <a:solidFill>
              <a:srgbClr val="F36F21"/>
            </a:solidFill>
          </a:ln>
        </p:spPr>
        <p:txBody>
          <a:bodyPr wrap="square" rtlCol="0" anchor="ctr"/>
          <a:lstStyle/>
          <a:p>
            <a:pPr indent="0" marL="0">
              <a:buNone/>
            </a:pPr>
            <a:endParaRPr lang="en-US" dirty="0"/>
          </a:p>
        </p:txBody>
      </p:sp>
      <p:sp>
        <p:nvSpPr>
          <p:cNvPr id="15" name="Text 13"/>
          <p:cNvSpPr/>
          <p:nvPr/>
        </p:nvSpPr>
        <p:spPr>
          <a:xfrm>
            <a:off x="573557" y="3729484"/>
            <a:ext cx="4313986" cy="190500"/>
          </a:xfrm>
          <a:prstGeom prst="rect">
            <a:avLst/>
          </a:prstGeom>
          <a:noFill/>
          <a:ln/>
        </p:spPr>
        <p:txBody>
          <a:bodyPr wrap="square" lIns="0" tIns="0" rIns="0" bIns="0" rtlCol="0" anchor="t"/>
          <a:lstStyle/>
          <a:p>
            <a:pPr algn="ctr" indent="0" marL="0">
              <a:buNone/>
            </a:pPr>
            <a:r>
              <a:rPr lang="en-US" sz="1100" b="1" dirty="0">
                <a:solidFill>
                  <a:srgbClr val="7C2D10"/>
                </a:solidFill>
                <a:latin typeface="Arial" pitchFamily="34" charset="0"/>
                <a:ea typeface="Arial" pitchFamily="34" charset="-122"/>
                <a:cs typeface="Arial" pitchFamily="34" charset="-120"/>
              </a:rPr>
              <a:t>04-update-docs ✓</a:t>
            </a:r>
            <a:endParaRPr lang="en-US" sz="1100" dirty="0"/>
          </a:p>
        </p:txBody>
      </p:sp>
      <p:sp>
        <p:nvSpPr>
          <p:cNvPr id="16" name="Text 14"/>
          <p:cNvSpPr/>
          <p:nvPr/>
        </p:nvSpPr>
        <p:spPr>
          <a:xfrm>
            <a:off x="444401" y="4129385"/>
            <a:ext cx="4572298" cy="431602"/>
          </a:xfrm>
          <a:prstGeom prst="roundRect">
            <a:avLst>
              <a:gd name="adj" fmla="val 17655"/>
            </a:avLst>
          </a:prstGeom>
          <a:solidFill>
            <a:srgbClr val="FEF0E6"/>
          </a:solidFill>
          <a:ln w="19050">
            <a:solidFill>
              <a:srgbClr val="F36F21"/>
            </a:solidFill>
          </a:ln>
        </p:spPr>
        <p:txBody>
          <a:bodyPr wrap="square" rtlCol="0" anchor="ctr"/>
          <a:lstStyle/>
          <a:p>
            <a:pPr indent="0" marL="0">
              <a:buNone/>
            </a:pPr>
            <a:endParaRPr lang="en-US" dirty="0"/>
          </a:p>
        </p:txBody>
      </p:sp>
      <p:sp>
        <p:nvSpPr>
          <p:cNvPr id="17" name="Text 15"/>
          <p:cNvSpPr/>
          <p:nvPr/>
        </p:nvSpPr>
        <p:spPr>
          <a:xfrm>
            <a:off x="573557" y="4249936"/>
            <a:ext cx="4313986" cy="190500"/>
          </a:xfrm>
          <a:prstGeom prst="rect">
            <a:avLst/>
          </a:prstGeom>
          <a:noFill/>
          <a:ln/>
        </p:spPr>
        <p:txBody>
          <a:bodyPr wrap="square" lIns="0" tIns="0" rIns="0" bIns="0" rtlCol="0" anchor="t"/>
          <a:lstStyle/>
          <a:p>
            <a:pPr algn="ctr" indent="0" marL="0">
              <a:buNone/>
            </a:pPr>
            <a:r>
              <a:rPr lang="en-US" sz="1100" b="1" dirty="0">
                <a:solidFill>
                  <a:srgbClr val="7C2D10"/>
                </a:solidFill>
                <a:latin typeface="Arial" pitchFamily="34" charset="0"/>
                <a:ea typeface="Arial" pitchFamily="34" charset="-122"/>
                <a:cs typeface="Arial" pitchFamily="34" charset="-120"/>
              </a:rPr>
              <a:t>05-update-changelog ✓</a:t>
            </a:r>
            <a:endParaRPr lang="en-US" sz="1100" dirty="0"/>
          </a:p>
        </p:txBody>
      </p:sp>
      <p:sp>
        <p:nvSpPr>
          <p:cNvPr id="18" name="Text 16"/>
          <p:cNvSpPr/>
          <p:nvPr/>
        </p:nvSpPr>
        <p:spPr>
          <a:xfrm>
            <a:off x="5270599" y="990451"/>
            <a:ext cx="3429000" cy="1028551"/>
          </a:xfrm>
          <a:prstGeom prst="rect">
            <a:avLst/>
          </a:prstGeom>
          <a:solidFill>
            <a:srgbClr val="EFF6FF"/>
          </a:solidFill>
          <a:ln/>
        </p:spPr>
        <p:txBody>
          <a:bodyPr wrap="square" rtlCol="0" anchor="ctr"/>
          <a:lstStyle/>
          <a:p>
            <a:pPr indent="0" marL="0">
              <a:buNone/>
            </a:pPr>
            <a:endParaRPr lang="en-US" dirty="0"/>
          </a:p>
        </p:txBody>
      </p:sp>
      <p:sp>
        <p:nvSpPr>
          <p:cNvPr id="19" name="Shape 17"/>
          <p:cNvSpPr/>
          <p:nvPr/>
        </p:nvSpPr>
        <p:spPr>
          <a:xfrm>
            <a:off x="5294412" y="990451"/>
            <a:ext cx="0" cy="1028551"/>
          </a:xfrm>
          <a:prstGeom prst="line">
            <a:avLst/>
          </a:prstGeom>
          <a:noFill/>
          <a:ln w="47625">
            <a:solidFill>
              <a:srgbClr val="01499B"/>
            </a:solidFill>
            <a:prstDash val="solid"/>
          </a:ln>
        </p:spPr>
      </p:sp>
      <p:sp>
        <p:nvSpPr>
          <p:cNvPr id="20" name="Text 18"/>
          <p:cNvSpPr/>
          <p:nvPr/>
        </p:nvSpPr>
        <p:spPr>
          <a:xfrm>
            <a:off x="5470624" y="1117402"/>
            <a:ext cx="3138107" cy="200025"/>
          </a:xfrm>
          <a:prstGeom prst="rect">
            <a:avLst/>
          </a:prstGeom>
          <a:noFill/>
          <a:ln/>
        </p:spPr>
        <p:txBody>
          <a:bodyPr wrap="square" lIns="0" tIns="0" rIns="0" bIns="0" rtlCol="0" anchor="t"/>
          <a:lstStyle/>
          <a:p>
            <a:pPr algn="l" indent="0" marL="0">
              <a:spcAft>
                <a:spcPts val="400"/>
              </a:spcAft>
              <a:buNone/>
            </a:pPr>
            <a:r>
              <a:rPr lang="en-US" sz="1300" b="1" dirty="0">
                <a:solidFill>
                  <a:srgbClr val="01499B"/>
                </a:solidFill>
                <a:latin typeface="Arial" pitchFamily="34" charset="0"/>
                <a:ea typeface="Arial" pitchFamily="34" charset="-122"/>
                <a:cs typeface="Arial" pitchFamily="34" charset="-120"/>
              </a:rPr>
              <a:t>Durable progress</a:t>
            </a:r>
            <a:endParaRPr lang="en-US" sz="1300" dirty="0"/>
          </a:p>
        </p:txBody>
      </p:sp>
      <p:sp>
        <p:nvSpPr>
          <p:cNvPr id="21" name="Text 19"/>
          <p:cNvSpPr/>
          <p:nvPr/>
        </p:nvSpPr>
        <p:spPr>
          <a:xfrm>
            <a:off x="5470624" y="1368177"/>
            <a:ext cx="3138107" cy="523875"/>
          </a:xfrm>
          <a:prstGeom prst="rect">
            <a:avLst/>
          </a:prstGeom>
          <a:noFill/>
          <a:ln/>
        </p:spPr>
        <p:txBody>
          <a:bodyPr wrap="square" lIns="0" tIns="0" rIns="0" bIns="0" rtlCol="0" anchor="t"/>
          <a:lstStyle/>
          <a:p>
            <a:pPr algn="l" indent="0" marL="0">
              <a:buNone/>
            </a:pPr>
            <a:r>
              <a:rPr lang="en-US" sz="1200" dirty="0">
                <a:solidFill>
                  <a:srgbClr val="374151"/>
                </a:solidFill>
                <a:latin typeface="Arial" pitchFamily="34" charset="0"/>
                <a:ea typeface="Arial" pitchFamily="34" charset="-122"/>
                <a:cs typeface="Arial" pitchFamily="34" charset="-120"/>
              </a:rPr>
              <a:t>All completed work is saved. Fix the failure and guardrails run again — completed tasks are skipped.</a:t>
            </a:r>
            <a:endParaRPr lang="en-US" sz="1200" dirty="0"/>
          </a:p>
        </p:txBody>
      </p:sp>
      <p:sp>
        <p:nvSpPr>
          <p:cNvPr id="22" name="Text 20"/>
          <p:cNvSpPr/>
          <p:nvPr/>
        </p:nvSpPr>
        <p:spPr>
          <a:xfrm>
            <a:off x="5270599" y="2145953"/>
            <a:ext cx="3429000" cy="1657350"/>
          </a:xfrm>
          <a:prstGeom prst="roundRect">
            <a:avLst>
              <a:gd name="adj" fmla="val 4598"/>
            </a:avLst>
          </a:prstGeom>
          <a:noFill/>
          <a:ln w="9525">
            <a:solidFill>
              <a:srgbClr val="D1D5DB"/>
            </a:solidFill>
          </a:ln>
        </p:spPr>
        <p:txBody>
          <a:bodyPr wrap="square" rtlCol="0" anchor="ctr"/>
          <a:lstStyle/>
          <a:p>
            <a:pPr indent="0" marL="0">
              <a:buNone/>
            </a:pPr>
            <a:endParaRPr lang="en-US" dirty="0"/>
          </a:p>
        </p:txBody>
      </p:sp>
      <p:sp>
        <p:nvSpPr>
          <p:cNvPr id="23" name="Shape 21"/>
          <p:cNvSpPr/>
          <p:nvPr/>
        </p:nvSpPr>
        <p:spPr>
          <a:xfrm>
            <a:off x="5280124" y="2465040"/>
            <a:ext cx="3409950" cy="0"/>
          </a:xfrm>
          <a:prstGeom prst="line">
            <a:avLst/>
          </a:prstGeom>
          <a:noFill/>
          <a:ln w="9525">
            <a:solidFill>
              <a:srgbClr val="D1D5DB"/>
            </a:solidFill>
            <a:prstDash val="solid"/>
          </a:ln>
        </p:spPr>
      </p:sp>
      <p:sp>
        <p:nvSpPr>
          <p:cNvPr id="24" name="Text 22"/>
          <p:cNvSpPr/>
          <p:nvPr/>
        </p:nvSpPr>
        <p:spPr>
          <a:xfrm>
            <a:off x="5280124" y="2155478"/>
            <a:ext cx="1013371" cy="304800"/>
          </a:xfrm>
          <a:prstGeom prst="rect">
            <a:avLst/>
          </a:prstGeom>
          <a:solidFill>
            <a:srgbClr val="01499B"/>
          </a:solidFill>
          <a:ln/>
        </p:spPr>
        <p:txBody>
          <a:bodyPr wrap="square" rtlCol="0" anchor="ctr"/>
          <a:lstStyle/>
          <a:p>
            <a:pPr indent="0" marL="0">
              <a:buNone/>
            </a:pPr>
            <a:endParaRPr lang="en-US" dirty="0"/>
          </a:p>
        </p:txBody>
      </p:sp>
      <p:sp>
        <p:nvSpPr>
          <p:cNvPr id="25" name="Shape 23"/>
          <p:cNvSpPr/>
          <p:nvPr/>
        </p:nvSpPr>
        <p:spPr>
          <a:xfrm>
            <a:off x="6288732" y="2155478"/>
            <a:ext cx="0" cy="304800"/>
          </a:xfrm>
          <a:prstGeom prst="line">
            <a:avLst/>
          </a:prstGeom>
          <a:noFill/>
          <a:ln w="9525">
            <a:solidFill>
              <a:srgbClr val="E5E7EB"/>
            </a:solidFill>
            <a:prstDash val="solid"/>
          </a:ln>
        </p:spPr>
      </p:sp>
      <p:sp>
        <p:nvSpPr>
          <p:cNvPr id="26" name="Text 24"/>
          <p:cNvSpPr/>
          <p:nvPr/>
        </p:nvSpPr>
        <p:spPr>
          <a:xfrm>
            <a:off x="5407075" y="2231678"/>
            <a:ext cx="764944"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Exit</a:t>
            </a:r>
            <a:endParaRPr lang="en-US" sz="1100" dirty="0"/>
          </a:p>
        </p:txBody>
      </p:sp>
      <p:sp>
        <p:nvSpPr>
          <p:cNvPr id="27" name="Text 25"/>
          <p:cNvSpPr/>
          <p:nvPr/>
        </p:nvSpPr>
        <p:spPr>
          <a:xfrm>
            <a:off x="6293495" y="2155478"/>
            <a:ext cx="2396579" cy="304800"/>
          </a:xfrm>
          <a:prstGeom prst="rect">
            <a:avLst/>
          </a:prstGeom>
          <a:solidFill>
            <a:srgbClr val="01499B"/>
          </a:solidFill>
          <a:ln/>
        </p:spPr>
        <p:txBody>
          <a:bodyPr wrap="square" rtlCol="0" anchor="ctr"/>
          <a:lstStyle/>
          <a:p>
            <a:pPr indent="0" marL="0">
              <a:buNone/>
            </a:pPr>
            <a:endParaRPr lang="en-US" dirty="0"/>
          </a:p>
        </p:txBody>
      </p:sp>
      <p:sp>
        <p:nvSpPr>
          <p:cNvPr id="28" name="Text 26"/>
          <p:cNvSpPr/>
          <p:nvPr/>
        </p:nvSpPr>
        <p:spPr>
          <a:xfrm>
            <a:off x="6420445" y="2231678"/>
            <a:ext cx="2185532"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Meaning</a:t>
            </a:r>
            <a:endParaRPr lang="en-US" sz="1100" dirty="0"/>
          </a:p>
        </p:txBody>
      </p:sp>
      <p:sp>
        <p:nvSpPr>
          <p:cNvPr id="29" name="Shape 27"/>
          <p:cNvSpPr/>
          <p:nvPr/>
        </p:nvSpPr>
        <p:spPr>
          <a:xfrm>
            <a:off x="5280124" y="2865090"/>
            <a:ext cx="3409950" cy="0"/>
          </a:xfrm>
          <a:prstGeom prst="line">
            <a:avLst/>
          </a:prstGeom>
          <a:noFill/>
          <a:ln w="9525">
            <a:solidFill>
              <a:srgbClr val="D1D5DB"/>
            </a:solidFill>
            <a:prstDash val="solid"/>
          </a:ln>
        </p:spPr>
      </p:sp>
      <p:sp>
        <p:nvSpPr>
          <p:cNvPr id="30" name="Text 28"/>
          <p:cNvSpPr/>
          <p:nvPr/>
        </p:nvSpPr>
        <p:spPr>
          <a:xfrm>
            <a:off x="5280124" y="2469803"/>
            <a:ext cx="1013371" cy="390525"/>
          </a:xfrm>
          <a:prstGeom prst="rect">
            <a:avLst/>
          </a:prstGeom>
          <a:solidFill>
            <a:srgbClr val="FEF0E6"/>
          </a:solidFill>
          <a:ln/>
        </p:spPr>
        <p:txBody>
          <a:bodyPr wrap="square" rtlCol="0" anchor="ctr"/>
          <a:lstStyle/>
          <a:p>
            <a:pPr indent="0" marL="0">
              <a:buNone/>
            </a:pPr>
            <a:endParaRPr lang="en-US" dirty="0"/>
          </a:p>
        </p:txBody>
      </p:sp>
      <p:sp>
        <p:nvSpPr>
          <p:cNvPr id="31" name="Shape 29"/>
          <p:cNvSpPr/>
          <p:nvPr/>
        </p:nvSpPr>
        <p:spPr>
          <a:xfrm>
            <a:off x="6288732" y="2469803"/>
            <a:ext cx="0" cy="390525"/>
          </a:xfrm>
          <a:prstGeom prst="line">
            <a:avLst/>
          </a:prstGeom>
          <a:noFill/>
          <a:ln w="9525">
            <a:solidFill>
              <a:srgbClr val="E5E7EB"/>
            </a:solidFill>
            <a:prstDash val="solid"/>
          </a:ln>
        </p:spPr>
      </p:sp>
      <p:sp>
        <p:nvSpPr>
          <p:cNvPr id="32" name="Text 30"/>
          <p:cNvSpPr/>
          <p:nvPr/>
        </p:nvSpPr>
        <p:spPr>
          <a:xfrm>
            <a:off x="5399575" y="2546003"/>
            <a:ext cx="764944" cy="238125"/>
          </a:xfrm>
          <a:prstGeom prst="rect">
            <a:avLst/>
          </a:prstGeom>
          <a:noFill/>
          <a:ln/>
        </p:spPr>
        <p:txBody>
          <a:bodyPr wrap="square" lIns="0" tIns="0" rIns="0" bIns="0" rtlCol="0" anchor="t"/>
          <a:lstStyle/>
          <a:p>
            <a:pPr algn="ctr" indent="0" marL="0">
              <a:buNone/>
            </a:pPr>
            <a:r>
              <a:rPr lang="en-US" sz="1600" b="1" dirty="0">
                <a:solidFill>
                  <a:srgbClr val="F36F21"/>
                </a:solidFill>
                <a:latin typeface="Arial" pitchFamily="34" charset="0"/>
                <a:ea typeface="Arial" pitchFamily="34" charset="-122"/>
                <a:cs typeface="Arial" pitchFamily="34" charset="-120"/>
              </a:rPr>
              <a:t>0</a:t>
            </a:r>
            <a:endParaRPr lang="en-US" sz="1600" dirty="0"/>
          </a:p>
        </p:txBody>
      </p:sp>
      <p:sp>
        <p:nvSpPr>
          <p:cNvPr id="33" name="Text 31"/>
          <p:cNvSpPr/>
          <p:nvPr/>
        </p:nvSpPr>
        <p:spPr>
          <a:xfrm>
            <a:off x="6293495" y="2469803"/>
            <a:ext cx="2396579" cy="390525"/>
          </a:xfrm>
          <a:prstGeom prst="rect">
            <a:avLst/>
          </a:prstGeom>
          <a:solidFill>
            <a:srgbClr val="F8FAFC"/>
          </a:solidFill>
          <a:ln/>
        </p:spPr>
        <p:txBody>
          <a:bodyPr wrap="square" rtlCol="0" anchor="ctr"/>
          <a:lstStyle/>
          <a:p>
            <a:pPr indent="0" marL="0">
              <a:buNone/>
            </a:pPr>
            <a:endParaRPr lang="en-US" dirty="0"/>
          </a:p>
        </p:txBody>
      </p:sp>
      <p:sp>
        <p:nvSpPr>
          <p:cNvPr id="34" name="Text 32"/>
          <p:cNvSpPr/>
          <p:nvPr/>
        </p:nvSpPr>
        <p:spPr>
          <a:xfrm>
            <a:off x="6420445" y="2546003"/>
            <a:ext cx="2185532" cy="1524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All tasks succeeded</a:t>
            </a:r>
            <a:endParaRPr lang="en-US" sz="1100" dirty="0"/>
          </a:p>
        </p:txBody>
      </p:sp>
      <p:sp>
        <p:nvSpPr>
          <p:cNvPr id="35" name="Shape 33"/>
          <p:cNvSpPr/>
          <p:nvPr/>
        </p:nvSpPr>
        <p:spPr>
          <a:xfrm>
            <a:off x="5280124" y="3331815"/>
            <a:ext cx="3409950" cy="0"/>
          </a:xfrm>
          <a:prstGeom prst="line">
            <a:avLst/>
          </a:prstGeom>
          <a:noFill/>
          <a:ln w="9525">
            <a:solidFill>
              <a:srgbClr val="D1D5DB"/>
            </a:solidFill>
            <a:prstDash val="solid"/>
          </a:ln>
        </p:spPr>
      </p:sp>
      <p:sp>
        <p:nvSpPr>
          <p:cNvPr id="36" name="Text 34"/>
          <p:cNvSpPr/>
          <p:nvPr/>
        </p:nvSpPr>
        <p:spPr>
          <a:xfrm>
            <a:off x="5280124" y="2869853"/>
            <a:ext cx="1013371" cy="457200"/>
          </a:xfrm>
          <a:prstGeom prst="rect">
            <a:avLst/>
          </a:prstGeom>
          <a:solidFill>
            <a:srgbClr val="FFF7ED"/>
          </a:solidFill>
          <a:ln/>
        </p:spPr>
        <p:txBody>
          <a:bodyPr wrap="square" rtlCol="0" anchor="ctr"/>
          <a:lstStyle/>
          <a:p>
            <a:pPr indent="0" marL="0">
              <a:buNone/>
            </a:pPr>
            <a:endParaRPr lang="en-US" dirty="0"/>
          </a:p>
        </p:txBody>
      </p:sp>
      <p:sp>
        <p:nvSpPr>
          <p:cNvPr id="37" name="Shape 35"/>
          <p:cNvSpPr/>
          <p:nvPr/>
        </p:nvSpPr>
        <p:spPr>
          <a:xfrm>
            <a:off x="6288732" y="2869853"/>
            <a:ext cx="0" cy="457200"/>
          </a:xfrm>
          <a:prstGeom prst="line">
            <a:avLst/>
          </a:prstGeom>
          <a:noFill/>
          <a:ln w="9525">
            <a:solidFill>
              <a:srgbClr val="E5E7EB"/>
            </a:solidFill>
            <a:prstDash val="solid"/>
          </a:ln>
        </p:spPr>
      </p:sp>
      <p:sp>
        <p:nvSpPr>
          <p:cNvPr id="38" name="Text 36"/>
          <p:cNvSpPr/>
          <p:nvPr/>
        </p:nvSpPr>
        <p:spPr>
          <a:xfrm>
            <a:off x="5399575" y="2946053"/>
            <a:ext cx="764944" cy="238125"/>
          </a:xfrm>
          <a:prstGeom prst="rect">
            <a:avLst/>
          </a:prstGeom>
          <a:noFill/>
          <a:ln/>
        </p:spPr>
        <p:txBody>
          <a:bodyPr wrap="square" lIns="0" tIns="0" rIns="0" bIns="0" rtlCol="0" anchor="t"/>
          <a:lstStyle/>
          <a:p>
            <a:pPr algn="ctr" indent="0" marL="0">
              <a:buNone/>
            </a:pPr>
            <a:r>
              <a:rPr lang="en-US" sz="1600" b="1" dirty="0">
                <a:solidFill>
                  <a:srgbClr val="D97706"/>
                </a:solidFill>
                <a:latin typeface="Arial" pitchFamily="34" charset="0"/>
                <a:ea typeface="Arial" pitchFamily="34" charset="-122"/>
                <a:cs typeface="Arial" pitchFamily="34" charset="-120"/>
              </a:rPr>
              <a:t>2</a:t>
            </a:r>
            <a:endParaRPr lang="en-US" sz="1600" dirty="0"/>
          </a:p>
        </p:txBody>
      </p:sp>
      <p:sp>
        <p:nvSpPr>
          <p:cNvPr id="39" name="Text 37"/>
          <p:cNvSpPr/>
          <p:nvPr/>
        </p:nvSpPr>
        <p:spPr>
          <a:xfrm>
            <a:off x="6293495" y="2869853"/>
            <a:ext cx="2396579" cy="457200"/>
          </a:xfrm>
          <a:prstGeom prst="rect">
            <a:avLst/>
          </a:prstGeom>
          <a:solidFill>
            <a:srgbClr val="FFFFFF"/>
          </a:solidFill>
          <a:ln/>
        </p:spPr>
        <p:txBody>
          <a:bodyPr wrap="square" rtlCol="0" anchor="ctr"/>
          <a:lstStyle/>
          <a:p>
            <a:pPr indent="0" marL="0">
              <a:buNone/>
            </a:pPr>
            <a:endParaRPr lang="en-US" dirty="0"/>
          </a:p>
        </p:txBody>
      </p:sp>
      <p:sp>
        <p:nvSpPr>
          <p:cNvPr id="40" name="Text 38"/>
          <p:cNvSpPr/>
          <p:nvPr/>
        </p:nvSpPr>
        <p:spPr>
          <a:xfrm>
            <a:off x="6420445" y="2946053"/>
            <a:ext cx="2185532"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One or more need human review (progress saved)</a:t>
            </a:r>
            <a:endParaRPr lang="en-US" sz="1100" dirty="0"/>
          </a:p>
        </p:txBody>
      </p:sp>
      <p:sp>
        <p:nvSpPr>
          <p:cNvPr id="41" name="Text 39"/>
          <p:cNvSpPr/>
          <p:nvPr/>
        </p:nvSpPr>
        <p:spPr>
          <a:xfrm>
            <a:off x="5280124" y="3336578"/>
            <a:ext cx="1013371" cy="457200"/>
          </a:xfrm>
          <a:prstGeom prst="rect">
            <a:avLst/>
          </a:prstGeom>
          <a:solidFill>
            <a:srgbClr val="FEE2E2"/>
          </a:solidFill>
          <a:ln/>
        </p:spPr>
        <p:txBody>
          <a:bodyPr wrap="square" rtlCol="0" anchor="ctr"/>
          <a:lstStyle/>
          <a:p>
            <a:pPr indent="0" marL="0">
              <a:buNone/>
            </a:pPr>
            <a:endParaRPr lang="en-US" dirty="0"/>
          </a:p>
        </p:txBody>
      </p:sp>
      <p:sp>
        <p:nvSpPr>
          <p:cNvPr id="42" name="Shape 40"/>
          <p:cNvSpPr/>
          <p:nvPr/>
        </p:nvSpPr>
        <p:spPr>
          <a:xfrm>
            <a:off x="6288732" y="3336578"/>
            <a:ext cx="0" cy="457200"/>
          </a:xfrm>
          <a:prstGeom prst="line">
            <a:avLst/>
          </a:prstGeom>
          <a:noFill/>
          <a:ln w="9525">
            <a:solidFill>
              <a:srgbClr val="E5E7EB"/>
            </a:solidFill>
            <a:prstDash val="solid"/>
          </a:ln>
        </p:spPr>
      </p:sp>
      <p:sp>
        <p:nvSpPr>
          <p:cNvPr id="43" name="Text 41"/>
          <p:cNvSpPr/>
          <p:nvPr/>
        </p:nvSpPr>
        <p:spPr>
          <a:xfrm>
            <a:off x="5399575" y="3412778"/>
            <a:ext cx="764944" cy="238125"/>
          </a:xfrm>
          <a:prstGeom prst="rect">
            <a:avLst/>
          </a:prstGeom>
          <a:noFill/>
          <a:ln/>
        </p:spPr>
        <p:txBody>
          <a:bodyPr wrap="square" lIns="0" tIns="0" rIns="0" bIns="0" rtlCol="0" anchor="t"/>
          <a:lstStyle/>
          <a:p>
            <a:pPr algn="ctr" indent="0" marL="0">
              <a:buNone/>
            </a:pPr>
            <a:r>
              <a:rPr lang="en-US" sz="1600" b="1" dirty="0">
                <a:solidFill>
                  <a:srgbClr val="DC2626"/>
                </a:solidFill>
                <a:latin typeface="Arial" pitchFamily="34" charset="0"/>
                <a:ea typeface="Arial" pitchFamily="34" charset="-122"/>
                <a:cs typeface="Arial" pitchFamily="34" charset="-120"/>
              </a:rPr>
              <a:t>1</a:t>
            </a:r>
            <a:endParaRPr lang="en-US" sz="1600" dirty="0"/>
          </a:p>
        </p:txBody>
      </p:sp>
      <p:sp>
        <p:nvSpPr>
          <p:cNvPr id="44" name="Text 42"/>
          <p:cNvSpPr/>
          <p:nvPr/>
        </p:nvSpPr>
        <p:spPr>
          <a:xfrm>
            <a:off x="6293495" y="3336578"/>
            <a:ext cx="2396579" cy="457200"/>
          </a:xfrm>
          <a:prstGeom prst="rect">
            <a:avLst/>
          </a:prstGeom>
          <a:solidFill>
            <a:srgbClr val="F8FAFC"/>
          </a:solidFill>
          <a:ln/>
        </p:spPr>
        <p:txBody>
          <a:bodyPr wrap="square" rtlCol="0" anchor="ctr"/>
          <a:lstStyle/>
          <a:p>
            <a:pPr indent="0" marL="0">
              <a:buNone/>
            </a:pPr>
            <a:endParaRPr lang="en-US" dirty="0"/>
          </a:p>
        </p:txBody>
      </p:sp>
      <p:sp>
        <p:nvSpPr>
          <p:cNvPr id="45" name="Text 43"/>
          <p:cNvSpPr/>
          <p:nvPr/>
        </p:nvSpPr>
        <p:spPr>
          <a:xfrm>
            <a:off x="6420445" y="3412778"/>
            <a:ext cx="2185532"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Harness error (misconfiguration, missing file)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499B"/>
        </a:solidFill>
      </p:bgPr>
    </p:bg>
    <p:spTree>
      <p:nvGrpSpPr>
        <p:cNvPr id="1" name=""/>
        <p:cNvGrpSpPr/>
        <p:nvPr/>
      </p:nvGrpSpPr>
      <p:grpSpPr>
        <a:xfrm>
          <a:off x="0" y="0"/>
          <a:ext cx="0" cy="0"/>
          <a:chOff x="0" y="0"/>
          <a:chExt cx="0" cy="0"/>
        </a:xfrm>
      </p:grpSpPr>
      <p:sp>
        <p:nvSpPr>
          <p:cNvPr id="2" name="Text 0"/>
          <p:cNvSpPr/>
          <p:nvPr/>
        </p:nvSpPr>
        <p:spPr>
          <a:xfrm>
            <a:off x="2866019" y="1770013"/>
            <a:ext cx="3411962" cy="1104900"/>
          </a:xfrm>
          <a:prstGeom prst="rect">
            <a:avLst/>
          </a:prstGeom>
          <a:noFill/>
          <a:ln/>
        </p:spPr>
        <p:txBody>
          <a:bodyPr wrap="square" lIns="0" tIns="0" rIns="0" bIns="0" rtlCol="0" anchor="t"/>
          <a:lstStyle/>
          <a:p>
            <a:pPr algn="ctr" indent="0" marL="0">
              <a:buNone/>
            </a:pPr>
            <a:r>
              <a:rPr lang="en-US" sz="7600" b="1" dirty="0">
                <a:solidFill>
                  <a:srgbClr val="FFFFFF"/>
                </a:solidFill>
                <a:latin typeface="Arial" pitchFamily="34" charset="0"/>
                <a:ea typeface="Arial" pitchFamily="34" charset="-122"/>
                <a:cs typeface="Arial" pitchFamily="34" charset="-120"/>
              </a:rPr>
              <a:t>Demo</a:t>
            </a:r>
            <a:endParaRPr lang="en-US" sz="7600" dirty="0"/>
          </a:p>
        </p:txBody>
      </p:sp>
      <p:sp>
        <p:nvSpPr>
          <p:cNvPr id="3" name="Text 1"/>
          <p:cNvSpPr/>
          <p:nvPr/>
        </p:nvSpPr>
        <p:spPr>
          <a:xfrm>
            <a:off x="2866019" y="3078063"/>
            <a:ext cx="3411962" cy="295275"/>
          </a:xfrm>
          <a:prstGeom prst="rect">
            <a:avLst/>
          </a:prstGeom>
          <a:noFill/>
          <a:ln/>
        </p:spPr>
        <p:txBody>
          <a:bodyPr wrap="square" lIns="0" tIns="0" rIns="0" bIns="0" rtlCol="0" anchor="t"/>
          <a:lstStyle/>
          <a:p>
            <a:pPr algn="ctr" indent="0" marL="0">
              <a:spcBef>
                <a:spcPts val="1600"/>
              </a:spcBef>
              <a:buNone/>
            </a:pPr>
            <a:r>
              <a:rPr lang="en-US" sz="2000" dirty="0">
                <a:solidFill>
                  <a:srgbClr val="FBB98C"/>
                </a:solidFill>
                <a:latin typeface="Arial" pitchFamily="34" charset="0"/>
                <a:ea typeface="Arial" pitchFamily="34" charset="-122"/>
                <a:cs typeface="Arial" pitchFamily="34" charset="-120"/>
              </a:rPr>
              <a:t>Live scenario · current project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4646741"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Getting Started in 3 Commands</a:t>
            </a:r>
            <a:endParaRPr lang="en-US" sz="2400" dirty="0"/>
          </a:p>
        </p:txBody>
      </p:sp>
      <p:sp>
        <p:nvSpPr>
          <p:cNvPr id="4" name="Text 2"/>
          <p:cNvSpPr/>
          <p:nvPr/>
        </p:nvSpPr>
        <p:spPr>
          <a:xfrm>
            <a:off x="444401" y="990451"/>
            <a:ext cx="8255198" cy="2165003"/>
          </a:xfrm>
          <a:prstGeom prst="roundRect">
            <a:avLst>
              <a:gd name="adj" fmla="val 4693"/>
            </a:avLst>
          </a:prstGeom>
          <a:solidFill>
            <a:srgbClr val="1E293B"/>
          </a:solidFill>
          <a:ln/>
        </p:spPr>
        <p:txBody>
          <a:bodyPr wrap="square" rtlCol="0" anchor="ctr"/>
          <a:lstStyle/>
          <a:p>
            <a:pPr indent="0" marL="0">
              <a:buNone/>
            </a:pPr>
            <a:endParaRPr lang="en-US" dirty="0"/>
          </a:p>
        </p:txBody>
      </p:sp>
      <p:sp>
        <p:nvSpPr>
          <p:cNvPr id="5" name="Text 3"/>
          <p:cNvSpPr/>
          <p:nvPr/>
        </p:nvSpPr>
        <p:spPr>
          <a:xfrm>
            <a:off x="647551" y="1155502"/>
            <a:ext cx="8005876" cy="171450"/>
          </a:xfrm>
          <a:prstGeom prst="rect">
            <a:avLst/>
          </a:prstGeom>
          <a:noFill/>
          <a:ln/>
        </p:spPr>
        <p:txBody>
          <a:bodyPr wrap="square" lIns="0" tIns="0" rIns="0" bIns="0" rtlCol="0" anchor="t"/>
          <a:lstStyle/>
          <a:p>
            <a:pPr algn="l" indent="0" marL="0">
              <a:lnSpc>
                <a:spcPts val="1350"/>
              </a:lnSpc>
              <a:spcAft>
                <a:spcPts val="400"/>
              </a:spcAft>
              <a:buNone/>
            </a:pPr>
            <a:r>
              <a:rPr lang="en-US" sz="900" dirty="0">
                <a:solidFill>
                  <a:srgbClr val="94A3B8"/>
                </a:solidFill>
                <a:latin typeface="Courier New" pitchFamily="34" charset="0"/>
                <a:ea typeface="Courier New" pitchFamily="34" charset="-122"/>
                <a:cs typeface="Courier New" pitchFamily="34" charset="-120"/>
              </a:rPr>
              <a:t># 1. Install the tool</a:t>
            </a:r>
            <a:endParaRPr lang="en-US" sz="900" dirty="0"/>
          </a:p>
        </p:txBody>
      </p:sp>
      <p:sp>
        <p:nvSpPr>
          <p:cNvPr id="6" name="Text 4"/>
          <p:cNvSpPr/>
          <p:nvPr/>
        </p:nvSpPr>
        <p:spPr>
          <a:xfrm>
            <a:off x="647551" y="1377702"/>
            <a:ext cx="8005876" cy="209550"/>
          </a:xfrm>
          <a:prstGeom prst="rect">
            <a:avLst/>
          </a:prstGeom>
          <a:noFill/>
          <a:ln/>
        </p:spPr>
        <p:txBody>
          <a:bodyPr wrap="square" lIns="0" tIns="0" rIns="0" bIns="0" rtlCol="0" anchor="t"/>
          <a:lstStyle/>
          <a:p>
            <a:pPr algn="l" indent="0" marL="0">
              <a:lnSpc>
                <a:spcPts val="1650"/>
              </a:lnSpc>
              <a:spcAft>
                <a:spcPts val="1200"/>
              </a:spcAft>
              <a:buNone/>
            </a:pPr>
            <a:r>
              <a:rPr lang="en-US" sz="1100" dirty="0">
                <a:solidFill>
                  <a:srgbClr val="60A5FA"/>
                </a:solidFill>
                <a:latin typeface="Courier New" pitchFamily="34" charset="0"/>
                <a:ea typeface="Courier New" pitchFamily="34" charset="-122"/>
                <a:cs typeface="Courier New" pitchFamily="34" charset="-120"/>
              </a:rPr>
              <a:t>dotnet tool install --global ServantSoftware.Guardrails --prerelease</a:t>
            </a:r>
            <a:endParaRPr lang="en-US" sz="1100" dirty="0"/>
          </a:p>
        </p:txBody>
      </p:sp>
      <p:sp>
        <p:nvSpPr>
          <p:cNvPr id="7" name="Text 5"/>
          <p:cNvSpPr/>
          <p:nvPr/>
        </p:nvSpPr>
        <p:spPr>
          <a:xfrm>
            <a:off x="647551" y="1739652"/>
            <a:ext cx="8005876" cy="171450"/>
          </a:xfrm>
          <a:prstGeom prst="rect">
            <a:avLst/>
          </a:prstGeom>
          <a:noFill/>
          <a:ln/>
        </p:spPr>
        <p:txBody>
          <a:bodyPr wrap="square" lIns="0" tIns="0" rIns="0" bIns="0" rtlCol="0" anchor="t"/>
          <a:lstStyle/>
          <a:p>
            <a:pPr algn="l" indent="0" marL="0">
              <a:lnSpc>
                <a:spcPts val="1350"/>
              </a:lnSpc>
              <a:spcAft>
                <a:spcPts val="400"/>
              </a:spcAft>
              <a:buNone/>
            </a:pPr>
            <a:r>
              <a:rPr lang="en-US" sz="900" dirty="0">
                <a:solidFill>
                  <a:srgbClr val="94A3B8"/>
                </a:solidFill>
                <a:latin typeface="Courier New" pitchFamily="34" charset="0"/>
                <a:ea typeface="Courier New" pitchFamily="34" charset="-122"/>
                <a:cs typeface="Courier New" pitchFamily="34" charset="-120"/>
              </a:rPr>
              <a:t># 2. Install the Claude Code skills</a:t>
            </a:r>
            <a:endParaRPr lang="en-US" sz="900" dirty="0"/>
          </a:p>
        </p:txBody>
      </p:sp>
      <p:sp>
        <p:nvSpPr>
          <p:cNvPr id="8" name="Text 6"/>
          <p:cNvSpPr/>
          <p:nvPr/>
        </p:nvSpPr>
        <p:spPr>
          <a:xfrm>
            <a:off x="647551" y="1961852"/>
            <a:ext cx="8005876" cy="209550"/>
          </a:xfrm>
          <a:prstGeom prst="rect">
            <a:avLst/>
          </a:prstGeom>
          <a:noFill/>
          <a:ln/>
        </p:spPr>
        <p:txBody>
          <a:bodyPr wrap="square" lIns="0" tIns="0" rIns="0" bIns="0" rtlCol="0" anchor="t"/>
          <a:lstStyle/>
          <a:p>
            <a:pPr algn="l" indent="0" marL="0">
              <a:lnSpc>
                <a:spcPts val="1650"/>
              </a:lnSpc>
              <a:spcAft>
                <a:spcPts val="1200"/>
              </a:spcAft>
              <a:buNone/>
            </a:pPr>
            <a:r>
              <a:rPr lang="en-US" sz="1100" dirty="0">
                <a:solidFill>
                  <a:srgbClr val="60A5FA"/>
                </a:solidFill>
                <a:latin typeface="Courier New" pitchFamily="34" charset="0"/>
                <a:ea typeface="Courier New" pitchFamily="34" charset="-122"/>
                <a:cs typeface="Courier New" pitchFamily="34" charset="-120"/>
              </a:rPr>
              <a:t>guardrails skills install</a:t>
            </a:r>
            <a:endParaRPr lang="en-US" sz="1100" dirty="0"/>
          </a:p>
        </p:txBody>
      </p:sp>
      <p:sp>
        <p:nvSpPr>
          <p:cNvPr id="9" name="Text 7"/>
          <p:cNvSpPr/>
          <p:nvPr/>
        </p:nvSpPr>
        <p:spPr>
          <a:xfrm>
            <a:off x="647551" y="2323802"/>
            <a:ext cx="8005876" cy="171450"/>
          </a:xfrm>
          <a:prstGeom prst="rect">
            <a:avLst/>
          </a:prstGeom>
          <a:noFill/>
          <a:ln/>
        </p:spPr>
        <p:txBody>
          <a:bodyPr wrap="square" lIns="0" tIns="0" rIns="0" bIns="0" rtlCol="0" anchor="t"/>
          <a:lstStyle/>
          <a:p>
            <a:pPr algn="l" indent="0" marL="0">
              <a:lnSpc>
                <a:spcPts val="1350"/>
              </a:lnSpc>
              <a:spcAft>
                <a:spcPts val="400"/>
              </a:spcAft>
              <a:buNone/>
            </a:pPr>
            <a:r>
              <a:rPr lang="en-US" sz="900" dirty="0">
                <a:solidFill>
                  <a:srgbClr val="94A3B8"/>
                </a:solidFill>
                <a:latin typeface="Courier New" pitchFamily="34" charset="0"/>
                <a:ea typeface="Courier New" pitchFamily="34" charset="-122"/>
                <a:cs typeface="Courier New" pitchFamily="34" charset="-120"/>
              </a:rPr>
              <a:t># 3. Break down your plan and run it (inside Claude Code)</a:t>
            </a:r>
            <a:endParaRPr lang="en-US" sz="900" dirty="0"/>
          </a:p>
        </p:txBody>
      </p:sp>
      <p:sp>
        <p:nvSpPr>
          <p:cNvPr id="10" name="Text 8"/>
          <p:cNvSpPr/>
          <p:nvPr/>
        </p:nvSpPr>
        <p:spPr>
          <a:xfrm>
            <a:off x="647551" y="2546003"/>
            <a:ext cx="8005876" cy="209550"/>
          </a:xfrm>
          <a:prstGeom prst="rect">
            <a:avLst/>
          </a:prstGeom>
          <a:noFill/>
          <a:ln/>
        </p:spPr>
        <p:txBody>
          <a:bodyPr wrap="square" lIns="0" tIns="0" rIns="0" bIns="0" rtlCol="0" anchor="t"/>
          <a:lstStyle/>
          <a:p>
            <a:pPr algn="l" indent="0" marL="0">
              <a:lnSpc>
                <a:spcPts val="1650"/>
              </a:lnSpc>
              <a:spcAft>
                <a:spcPts val="200"/>
              </a:spcAft>
              <a:buNone/>
            </a:pPr>
            <a:r>
              <a:rPr lang="en-US" sz="1100" dirty="0">
                <a:solidFill>
                  <a:srgbClr val="60A5FA"/>
                </a:solidFill>
                <a:latin typeface="Courier New" pitchFamily="34" charset="0"/>
                <a:ea typeface="Courier New" pitchFamily="34" charset="-122"/>
                <a:cs typeface="Courier New" pitchFamily="34" charset="-120"/>
              </a:rPr>
              <a:t>/plan-breakdown</a:t>
            </a:r>
            <a:endParaRPr lang="en-US" sz="1100" dirty="0"/>
          </a:p>
        </p:txBody>
      </p:sp>
      <p:sp>
        <p:nvSpPr>
          <p:cNvPr id="11" name="Text 9"/>
          <p:cNvSpPr/>
          <p:nvPr/>
        </p:nvSpPr>
        <p:spPr>
          <a:xfrm>
            <a:off x="647551" y="2780854"/>
            <a:ext cx="8005876" cy="209550"/>
          </a:xfrm>
          <a:prstGeom prst="rect">
            <a:avLst/>
          </a:prstGeom>
          <a:noFill/>
          <a:ln/>
        </p:spPr>
        <p:txBody>
          <a:bodyPr wrap="square" lIns="0" tIns="0" rIns="0" bIns="0" rtlCol="0" anchor="t"/>
          <a:lstStyle/>
          <a:p>
            <a:pPr algn="l" indent="0" marL="0">
              <a:lnSpc>
                <a:spcPts val="1650"/>
              </a:lnSpc>
              <a:buNone/>
            </a:pPr>
            <a:r>
              <a:rPr lang="en-US" sz="1100" dirty="0">
                <a:solidFill>
                  <a:srgbClr val="60A5FA"/>
                </a:solidFill>
                <a:latin typeface="Courier New" pitchFamily="34" charset="0"/>
                <a:ea typeface="Courier New" pitchFamily="34" charset="-122"/>
                <a:cs typeface="Courier New" pitchFamily="34" charset="-120"/>
              </a:rPr>
              <a:t>guardrails run my-plan/</a:t>
            </a:r>
            <a:endParaRPr lang="en-US" sz="1100" dirty="0"/>
          </a:p>
        </p:txBody>
      </p:sp>
      <p:sp>
        <p:nvSpPr>
          <p:cNvPr id="12" name="Text 10"/>
          <p:cNvSpPr/>
          <p:nvPr/>
        </p:nvSpPr>
        <p:spPr>
          <a:xfrm>
            <a:off x="444401" y="3307854"/>
            <a:ext cx="1919585" cy="812602"/>
          </a:xfrm>
          <a:prstGeom prst="roundRect">
            <a:avLst>
              <a:gd name="adj" fmla="val 9377"/>
            </a:avLst>
          </a:prstGeom>
          <a:solidFill>
            <a:srgbClr val="F8FAFC"/>
          </a:solidFill>
          <a:ln w="9525">
            <a:solidFill>
              <a:srgbClr val="E5E7EB"/>
            </a:solidFill>
          </a:ln>
        </p:spPr>
        <p:txBody>
          <a:bodyPr wrap="square" rtlCol="0" anchor="ctr"/>
          <a:lstStyle/>
          <a:p>
            <a:pPr indent="0" marL="0">
              <a:buNone/>
            </a:pPr>
            <a:endParaRPr lang="en-US" dirty="0"/>
          </a:p>
        </p:txBody>
      </p:sp>
      <p:sp>
        <p:nvSpPr>
          <p:cNvPr id="13" name="Text 11"/>
          <p:cNvSpPr/>
          <p:nvPr/>
        </p:nvSpPr>
        <p:spPr>
          <a:xfrm>
            <a:off x="606326" y="3444329"/>
            <a:ext cx="1627650" cy="171450"/>
          </a:xfrm>
          <a:prstGeom prst="rect">
            <a:avLst/>
          </a:prstGeom>
          <a:noFill/>
          <a:ln/>
        </p:spPr>
        <p:txBody>
          <a:bodyPr wrap="square" lIns="0" tIns="0" rIns="0" bIns="0" rtlCol="0" anchor="t"/>
          <a:lstStyle/>
          <a:p>
            <a:pPr algn="l" indent="0" marL="0">
              <a:spcAft>
                <a:spcPts val="500"/>
              </a:spcAft>
              <a:buNone/>
            </a:pPr>
            <a:r>
              <a:rPr lang="en-US" sz="1200" b="1" dirty="0">
                <a:solidFill>
                  <a:srgbClr val="01499B"/>
                </a:solidFill>
                <a:latin typeface="Arial" pitchFamily="34" charset="0"/>
                <a:ea typeface="Arial" pitchFamily="34" charset="-122"/>
                <a:cs typeface="Arial" pitchFamily="34" charset="-120"/>
              </a:rPr>
              <a:t>.NET Runtime</a:t>
            </a:r>
            <a:endParaRPr lang="en-US" sz="1200" dirty="0"/>
          </a:p>
        </p:txBody>
      </p:sp>
      <p:sp>
        <p:nvSpPr>
          <p:cNvPr id="14" name="Text 12"/>
          <p:cNvSpPr/>
          <p:nvPr/>
        </p:nvSpPr>
        <p:spPr>
          <a:xfrm>
            <a:off x="606326" y="3679180"/>
            <a:ext cx="1627650"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8+ required. Windows, Linux, macOS</a:t>
            </a:r>
            <a:endParaRPr lang="en-US" sz="1100" dirty="0"/>
          </a:p>
        </p:txBody>
      </p:sp>
      <p:sp>
        <p:nvSpPr>
          <p:cNvPr id="15" name="Text 13"/>
          <p:cNvSpPr/>
          <p:nvPr/>
        </p:nvSpPr>
        <p:spPr>
          <a:xfrm>
            <a:off x="2516386" y="3307854"/>
            <a:ext cx="1919585" cy="812602"/>
          </a:xfrm>
          <a:prstGeom prst="roundRect">
            <a:avLst>
              <a:gd name="adj" fmla="val 9377"/>
            </a:avLst>
          </a:prstGeom>
          <a:solidFill>
            <a:srgbClr val="F8FAFC"/>
          </a:solidFill>
          <a:ln w="9525">
            <a:solidFill>
              <a:srgbClr val="E5E7EB"/>
            </a:solidFill>
          </a:ln>
        </p:spPr>
        <p:txBody>
          <a:bodyPr wrap="square" rtlCol="0" anchor="ctr"/>
          <a:lstStyle/>
          <a:p>
            <a:pPr indent="0" marL="0">
              <a:buNone/>
            </a:pPr>
            <a:endParaRPr lang="en-US" dirty="0"/>
          </a:p>
        </p:txBody>
      </p:sp>
      <p:sp>
        <p:nvSpPr>
          <p:cNvPr id="16" name="Text 14"/>
          <p:cNvSpPr/>
          <p:nvPr/>
        </p:nvSpPr>
        <p:spPr>
          <a:xfrm>
            <a:off x="2678311" y="3444329"/>
            <a:ext cx="1627650" cy="171450"/>
          </a:xfrm>
          <a:prstGeom prst="rect">
            <a:avLst/>
          </a:prstGeom>
          <a:noFill/>
          <a:ln/>
        </p:spPr>
        <p:txBody>
          <a:bodyPr wrap="square" lIns="0" tIns="0" rIns="0" bIns="0" rtlCol="0" anchor="t"/>
          <a:lstStyle/>
          <a:p>
            <a:pPr algn="l" indent="0" marL="0">
              <a:spcAft>
                <a:spcPts val="500"/>
              </a:spcAft>
              <a:buNone/>
            </a:pPr>
            <a:r>
              <a:rPr lang="en-US" sz="1200" b="1" dirty="0">
                <a:solidFill>
                  <a:srgbClr val="01499B"/>
                </a:solidFill>
                <a:latin typeface="Arial" pitchFamily="34" charset="0"/>
                <a:ea typeface="Arial" pitchFamily="34" charset="-122"/>
                <a:cs typeface="Arial" pitchFamily="34" charset="-120"/>
              </a:rPr>
              <a:t>Claude Code CLI</a:t>
            </a:r>
            <a:endParaRPr lang="en-US" sz="1200" dirty="0"/>
          </a:p>
        </p:txBody>
      </p:sp>
      <p:sp>
        <p:nvSpPr>
          <p:cNvPr id="17" name="Text 15"/>
          <p:cNvSpPr/>
          <p:nvPr/>
        </p:nvSpPr>
        <p:spPr>
          <a:xfrm>
            <a:off x="2678311" y="3679180"/>
            <a:ext cx="1627650"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For /plan-breakdown and prompt tasks</a:t>
            </a:r>
            <a:endParaRPr lang="en-US" sz="1100" dirty="0"/>
          </a:p>
        </p:txBody>
      </p:sp>
      <p:sp>
        <p:nvSpPr>
          <p:cNvPr id="18" name="Text 16"/>
          <p:cNvSpPr/>
          <p:nvPr/>
        </p:nvSpPr>
        <p:spPr>
          <a:xfrm>
            <a:off x="4588371" y="3307854"/>
            <a:ext cx="1919585" cy="812602"/>
          </a:xfrm>
          <a:prstGeom prst="roundRect">
            <a:avLst>
              <a:gd name="adj" fmla="val 9377"/>
            </a:avLst>
          </a:prstGeom>
          <a:solidFill>
            <a:srgbClr val="F8FAFC"/>
          </a:solidFill>
          <a:ln w="9525">
            <a:solidFill>
              <a:srgbClr val="E5E7EB"/>
            </a:solidFill>
          </a:ln>
        </p:spPr>
        <p:txBody>
          <a:bodyPr wrap="square" rtlCol="0" anchor="ctr"/>
          <a:lstStyle/>
          <a:p>
            <a:pPr indent="0" marL="0">
              <a:buNone/>
            </a:pPr>
            <a:endParaRPr lang="en-US" dirty="0"/>
          </a:p>
        </p:txBody>
      </p:sp>
      <p:sp>
        <p:nvSpPr>
          <p:cNvPr id="19" name="Text 17"/>
          <p:cNvSpPr/>
          <p:nvPr/>
        </p:nvSpPr>
        <p:spPr>
          <a:xfrm>
            <a:off x="4750296" y="3444329"/>
            <a:ext cx="1627650" cy="171450"/>
          </a:xfrm>
          <a:prstGeom prst="rect">
            <a:avLst/>
          </a:prstGeom>
          <a:noFill/>
          <a:ln/>
        </p:spPr>
        <p:txBody>
          <a:bodyPr wrap="square" lIns="0" tIns="0" rIns="0" bIns="0" rtlCol="0" anchor="t"/>
          <a:lstStyle/>
          <a:p>
            <a:pPr algn="l" indent="0" marL="0">
              <a:spcAft>
                <a:spcPts val="500"/>
              </a:spcAft>
              <a:buNone/>
            </a:pPr>
            <a:r>
              <a:rPr lang="en-US" sz="1200" b="1" dirty="0">
                <a:solidFill>
                  <a:srgbClr val="01499B"/>
                </a:solidFill>
                <a:latin typeface="Arial" pitchFamily="34" charset="0"/>
                <a:ea typeface="Arial" pitchFamily="34" charset="-122"/>
                <a:cs typeface="Arial" pitchFamily="34" charset="-120"/>
              </a:rPr>
              <a:t>Scripts</a:t>
            </a:r>
            <a:endParaRPr lang="en-US" sz="1200" dirty="0"/>
          </a:p>
        </p:txBody>
      </p:sp>
      <p:sp>
        <p:nvSpPr>
          <p:cNvPr id="20" name="Text 18"/>
          <p:cNvSpPr/>
          <p:nvPr/>
        </p:nvSpPr>
        <p:spPr>
          <a:xfrm>
            <a:off x="4750296" y="3679180"/>
            <a:ext cx="1627650"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PowerShell Core (pwsh) and/or bash</a:t>
            </a:r>
            <a:endParaRPr lang="en-US" sz="1100" dirty="0"/>
          </a:p>
        </p:txBody>
      </p:sp>
      <p:sp>
        <p:nvSpPr>
          <p:cNvPr id="21" name="Text 19"/>
          <p:cNvSpPr/>
          <p:nvPr/>
        </p:nvSpPr>
        <p:spPr>
          <a:xfrm>
            <a:off x="6660356" y="3307854"/>
            <a:ext cx="2039094" cy="812602"/>
          </a:xfrm>
          <a:prstGeom prst="roundRect">
            <a:avLst>
              <a:gd name="adj" fmla="val 9377"/>
            </a:avLst>
          </a:prstGeom>
          <a:solidFill>
            <a:srgbClr val="F8FAFC"/>
          </a:solidFill>
          <a:ln w="9525">
            <a:solidFill>
              <a:srgbClr val="E5E7EB"/>
            </a:solidFill>
          </a:ln>
        </p:spPr>
        <p:txBody>
          <a:bodyPr wrap="square" rtlCol="0" anchor="ctr"/>
          <a:lstStyle/>
          <a:p>
            <a:pPr indent="0" marL="0">
              <a:buNone/>
            </a:pPr>
            <a:endParaRPr lang="en-US" dirty="0"/>
          </a:p>
        </p:txBody>
      </p:sp>
      <p:sp>
        <p:nvSpPr>
          <p:cNvPr id="22" name="Text 20"/>
          <p:cNvSpPr/>
          <p:nvPr/>
        </p:nvSpPr>
        <p:spPr>
          <a:xfrm>
            <a:off x="6822281" y="3444329"/>
            <a:ext cx="1749549" cy="171450"/>
          </a:xfrm>
          <a:prstGeom prst="rect">
            <a:avLst/>
          </a:prstGeom>
          <a:noFill/>
          <a:ln/>
        </p:spPr>
        <p:txBody>
          <a:bodyPr wrap="square" lIns="0" tIns="0" rIns="0" bIns="0" rtlCol="0" anchor="t"/>
          <a:lstStyle/>
          <a:p>
            <a:pPr algn="l" indent="0" marL="0">
              <a:spcAft>
                <a:spcPts val="500"/>
              </a:spcAft>
              <a:buNone/>
            </a:pPr>
            <a:r>
              <a:rPr lang="en-US" sz="1200" b="1" dirty="0">
                <a:solidFill>
                  <a:srgbClr val="F36F21"/>
                </a:solidFill>
                <a:latin typeface="Arial" pitchFamily="34" charset="0"/>
                <a:ea typeface="Arial" pitchFamily="34" charset="-122"/>
                <a:cs typeface="Arial" pitchFamily="34" charset="-120"/>
              </a:rPr>
              <a:t>NuGet</a:t>
            </a:r>
            <a:endParaRPr lang="en-US" sz="1200" dirty="0"/>
          </a:p>
        </p:txBody>
      </p:sp>
      <p:sp>
        <p:nvSpPr>
          <p:cNvPr id="23" name="Text 21"/>
          <p:cNvSpPr/>
          <p:nvPr/>
        </p:nvSpPr>
        <p:spPr>
          <a:xfrm>
            <a:off x="6822281" y="3679180"/>
            <a:ext cx="1749549"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ServantSoftware.Guardrails · 1.0.0-preview.3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25401"/>
          </a:xfrm>
          <a:prstGeom prst="rect">
            <a:avLst/>
          </a:prstGeom>
          <a:solidFill>
            <a:srgbClr val="01499B"/>
          </a:solidFill>
          <a:ln/>
        </p:spPr>
        <p:txBody>
          <a:bodyPr wrap="square" rtlCol="0" anchor="ctr"/>
          <a:lstStyle/>
          <a:p>
            <a:pPr indent="0" marL="0">
              <a:buNone/>
            </a:pPr>
            <a:endParaRPr lang="en-US" dirty="0"/>
          </a:p>
        </p:txBody>
      </p:sp>
      <p:sp>
        <p:nvSpPr>
          <p:cNvPr id="3" name="Text 1"/>
          <p:cNvSpPr/>
          <p:nvPr/>
        </p:nvSpPr>
        <p:spPr>
          <a:xfrm>
            <a:off x="444401" y="236488"/>
            <a:ext cx="1710080"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Questions?</a:t>
            </a:r>
            <a:endParaRPr lang="en-US" sz="2400" dirty="0"/>
          </a:p>
        </p:txBody>
      </p:sp>
      <p:sp>
        <p:nvSpPr>
          <p:cNvPr id="4" name="Text 2"/>
          <p:cNvSpPr/>
          <p:nvPr/>
        </p:nvSpPr>
        <p:spPr>
          <a:xfrm>
            <a:off x="444401" y="990451"/>
            <a:ext cx="1949500" cy="3241923"/>
          </a:xfrm>
          <a:prstGeom prst="roundRect">
            <a:avLst>
              <a:gd name="adj" fmla="val 5212"/>
            </a:avLst>
          </a:prstGeom>
          <a:solidFill>
            <a:srgbClr val="EFF6FF"/>
          </a:solidFill>
          <a:ln/>
        </p:spPr>
        <p:txBody>
          <a:bodyPr wrap="square" rtlCol="0" anchor="ctr"/>
          <a:lstStyle/>
          <a:p>
            <a:pPr indent="0" marL="0">
              <a:buNone/>
            </a:pPr>
            <a:endParaRPr lang="en-US" dirty="0"/>
          </a:p>
        </p:txBody>
      </p:sp>
      <p:sp>
        <p:nvSpPr>
          <p:cNvPr id="5" name="Shape 3"/>
          <p:cNvSpPr/>
          <p:nvPr/>
        </p:nvSpPr>
        <p:spPr>
          <a:xfrm>
            <a:off x="444401" y="1014264"/>
            <a:ext cx="1949500" cy="0"/>
          </a:xfrm>
          <a:prstGeom prst="line">
            <a:avLst/>
          </a:prstGeom>
          <a:noFill/>
          <a:ln w="47625">
            <a:solidFill>
              <a:srgbClr val="01499B"/>
            </a:solidFill>
            <a:prstDash val="solid"/>
          </a:ln>
        </p:spPr>
      </p:sp>
      <p:sp>
        <p:nvSpPr>
          <p:cNvPr id="6" name="Text 4"/>
          <p:cNvSpPr/>
          <p:nvPr/>
        </p:nvSpPr>
        <p:spPr>
          <a:xfrm>
            <a:off x="596801" y="1203127"/>
            <a:ext cx="1677594" cy="323850"/>
          </a:xfrm>
          <a:prstGeom prst="rect">
            <a:avLst/>
          </a:prstGeom>
          <a:noFill/>
          <a:ln/>
        </p:spPr>
        <p:txBody>
          <a:bodyPr wrap="square" lIns="0" tIns="0" rIns="0" bIns="0" rtlCol="0" anchor="t"/>
          <a:lstStyle/>
          <a:p>
            <a:pPr algn="l" indent="0" marL="0">
              <a:spcAft>
                <a:spcPts val="600"/>
              </a:spcAft>
              <a:buNone/>
            </a:pPr>
            <a:r>
              <a:rPr lang="en-US" sz="2200" b="1" dirty="0">
                <a:solidFill>
                  <a:srgbClr val="01499B"/>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596801" y="1603177"/>
            <a:ext cx="1677594" cy="400050"/>
          </a:xfrm>
          <a:prstGeom prst="rect">
            <a:avLst/>
          </a:prstGeom>
          <a:noFill/>
          <a:ln/>
        </p:spPr>
        <p:txBody>
          <a:bodyPr wrap="square" lIns="0" tIns="0" rIns="0" bIns="0" rtlCol="0" anchor="t"/>
          <a:lstStyle/>
          <a:p>
            <a:pPr algn="l" indent="0" marL="0">
              <a:spcAft>
                <a:spcPts val="400"/>
              </a:spcAft>
              <a:buNone/>
            </a:pPr>
            <a:r>
              <a:rPr lang="en-US" sz="1300" b="1" dirty="0">
                <a:solidFill>
                  <a:srgbClr val="01499B"/>
                </a:solidFill>
                <a:latin typeface="Arial" pitchFamily="34" charset="0"/>
                <a:ea typeface="Arial" pitchFamily="34" charset="-122"/>
                <a:cs typeface="Arial" pitchFamily="34" charset="-120"/>
              </a:rPr>
              <a:t>Agents need verification</a:t>
            </a:r>
            <a:endParaRPr lang="en-US" sz="1300" dirty="0"/>
          </a:p>
        </p:txBody>
      </p:sp>
      <p:sp>
        <p:nvSpPr>
          <p:cNvPr id="8" name="Text 6"/>
          <p:cNvSpPr/>
          <p:nvPr/>
        </p:nvSpPr>
        <p:spPr>
          <a:xfrm>
            <a:off x="596801" y="2053977"/>
            <a:ext cx="1677594" cy="1524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Hope is not a strategy</a:t>
            </a:r>
            <a:endParaRPr lang="en-US" sz="1100" dirty="0"/>
          </a:p>
        </p:txBody>
      </p:sp>
      <p:sp>
        <p:nvSpPr>
          <p:cNvPr id="9" name="Text 7"/>
          <p:cNvSpPr/>
          <p:nvPr/>
        </p:nvSpPr>
        <p:spPr>
          <a:xfrm>
            <a:off x="2546300" y="990451"/>
            <a:ext cx="1949500" cy="3241923"/>
          </a:xfrm>
          <a:prstGeom prst="roundRect">
            <a:avLst>
              <a:gd name="adj" fmla="val 5212"/>
            </a:avLst>
          </a:prstGeom>
          <a:solidFill>
            <a:srgbClr val="FEF0E6"/>
          </a:solidFill>
          <a:ln/>
        </p:spPr>
        <p:txBody>
          <a:bodyPr wrap="square" rtlCol="0" anchor="ctr"/>
          <a:lstStyle/>
          <a:p>
            <a:pPr indent="0" marL="0">
              <a:buNone/>
            </a:pPr>
            <a:endParaRPr lang="en-US" dirty="0"/>
          </a:p>
        </p:txBody>
      </p:sp>
      <p:sp>
        <p:nvSpPr>
          <p:cNvPr id="10" name="Shape 8"/>
          <p:cNvSpPr/>
          <p:nvPr/>
        </p:nvSpPr>
        <p:spPr>
          <a:xfrm>
            <a:off x="2546300" y="1014264"/>
            <a:ext cx="1949500" cy="0"/>
          </a:xfrm>
          <a:prstGeom prst="line">
            <a:avLst/>
          </a:prstGeom>
          <a:noFill/>
          <a:ln w="47625">
            <a:solidFill>
              <a:srgbClr val="F36F21"/>
            </a:solidFill>
            <a:prstDash val="solid"/>
          </a:ln>
        </p:spPr>
      </p:sp>
      <p:sp>
        <p:nvSpPr>
          <p:cNvPr id="11" name="Text 9"/>
          <p:cNvSpPr/>
          <p:nvPr/>
        </p:nvSpPr>
        <p:spPr>
          <a:xfrm>
            <a:off x="2698700" y="1203127"/>
            <a:ext cx="1677594" cy="323850"/>
          </a:xfrm>
          <a:prstGeom prst="rect">
            <a:avLst/>
          </a:prstGeom>
          <a:noFill/>
          <a:ln/>
        </p:spPr>
        <p:txBody>
          <a:bodyPr wrap="square" lIns="0" tIns="0" rIns="0" bIns="0" rtlCol="0" anchor="t"/>
          <a:lstStyle/>
          <a:p>
            <a:pPr algn="l" indent="0" marL="0">
              <a:spcAft>
                <a:spcPts val="600"/>
              </a:spcAft>
              <a:buNone/>
            </a:pPr>
            <a:r>
              <a:rPr lang="en-US" sz="2200" b="1" dirty="0">
                <a:solidFill>
                  <a:srgbClr val="F36F21"/>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2698700" y="1603177"/>
            <a:ext cx="1677594" cy="400050"/>
          </a:xfrm>
          <a:prstGeom prst="rect">
            <a:avLst/>
          </a:prstGeom>
          <a:noFill/>
          <a:ln/>
        </p:spPr>
        <p:txBody>
          <a:bodyPr wrap="square" lIns="0" tIns="0" rIns="0" bIns="0" rtlCol="0" anchor="t"/>
          <a:lstStyle/>
          <a:p>
            <a:pPr algn="l" indent="0" marL="0">
              <a:spcAft>
                <a:spcPts val="400"/>
              </a:spcAft>
              <a:buNone/>
            </a:pPr>
            <a:r>
              <a:rPr lang="en-US" sz="1300" b="1" dirty="0">
                <a:solidFill>
                  <a:srgbClr val="7C2D10"/>
                </a:solidFill>
                <a:latin typeface="Arial" pitchFamily="34" charset="0"/>
                <a:ea typeface="Arial" pitchFamily="34" charset="-122"/>
                <a:cs typeface="Arial" pitchFamily="34" charset="-120"/>
              </a:rPr>
              <a:t>CI pipeline for agents</a:t>
            </a:r>
            <a:endParaRPr lang="en-US" sz="1300" dirty="0"/>
          </a:p>
        </p:txBody>
      </p:sp>
      <p:sp>
        <p:nvSpPr>
          <p:cNvPr id="13" name="Text 11"/>
          <p:cNvSpPr/>
          <p:nvPr/>
        </p:nvSpPr>
        <p:spPr>
          <a:xfrm>
            <a:off x="2698700" y="2053977"/>
            <a:ext cx="1677594"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Executable checks, not docs</a:t>
            </a:r>
            <a:endParaRPr lang="en-US" sz="1100" dirty="0"/>
          </a:p>
        </p:txBody>
      </p:sp>
      <p:sp>
        <p:nvSpPr>
          <p:cNvPr id="14" name="Text 12"/>
          <p:cNvSpPr/>
          <p:nvPr/>
        </p:nvSpPr>
        <p:spPr>
          <a:xfrm>
            <a:off x="4648200" y="990451"/>
            <a:ext cx="1949500" cy="3241923"/>
          </a:xfrm>
          <a:prstGeom prst="roundRect">
            <a:avLst>
              <a:gd name="adj" fmla="val 5212"/>
            </a:avLst>
          </a:prstGeom>
          <a:solidFill>
            <a:srgbClr val="FFF7ED"/>
          </a:solidFill>
          <a:ln/>
        </p:spPr>
        <p:txBody>
          <a:bodyPr wrap="square" rtlCol="0" anchor="ctr"/>
          <a:lstStyle/>
          <a:p>
            <a:pPr indent="0" marL="0">
              <a:buNone/>
            </a:pPr>
            <a:endParaRPr lang="en-US" dirty="0"/>
          </a:p>
        </p:txBody>
      </p:sp>
      <p:sp>
        <p:nvSpPr>
          <p:cNvPr id="15" name="Shape 13"/>
          <p:cNvSpPr/>
          <p:nvPr/>
        </p:nvSpPr>
        <p:spPr>
          <a:xfrm>
            <a:off x="4648200" y="1014264"/>
            <a:ext cx="1949500" cy="0"/>
          </a:xfrm>
          <a:prstGeom prst="line">
            <a:avLst/>
          </a:prstGeom>
          <a:noFill/>
          <a:ln w="47625">
            <a:solidFill>
              <a:srgbClr val="D97706"/>
            </a:solidFill>
            <a:prstDash val="solid"/>
          </a:ln>
        </p:spPr>
      </p:sp>
      <p:sp>
        <p:nvSpPr>
          <p:cNvPr id="16" name="Text 14"/>
          <p:cNvSpPr/>
          <p:nvPr/>
        </p:nvSpPr>
        <p:spPr>
          <a:xfrm>
            <a:off x="4800600" y="1203127"/>
            <a:ext cx="1677594" cy="323850"/>
          </a:xfrm>
          <a:prstGeom prst="rect">
            <a:avLst/>
          </a:prstGeom>
          <a:noFill/>
          <a:ln/>
        </p:spPr>
        <p:txBody>
          <a:bodyPr wrap="square" lIns="0" tIns="0" rIns="0" bIns="0" rtlCol="0" anchor="t"/>
          <a:lstStyle/>
          <a:p>
            <a:pPr algn="l" indent="0" marL="0">
              <a:spcAft>
                <a:spcPts val="600"/>
              </a:spcAft>
              <a:buNone/>
            </a:pPr>
            <a:r>
              <a:rPr lang="en-US" sz="2200" b="1" dirty="0">
                <a:solidFill>
                  <a:srgbClr val="D97706"/>
                </a:solidFill>
                <a:latin typeface="Arial" pitchFamily="34" charset="0"/>
                <a:ea typeface="Arial" pitchFamily="34" charset="-122"/>
                <a:cs typeface="Arial" pitchFamily="34" charset="-120"/>
              </a:rPr>
              <a:t>3</a:t>
            </a:r>
            <a:endParaRPr lang="en-US" sz="2200" dirty="0"/>
          </a:p>
        </p:txBody>
      </p:sp>
      <p:sp>
        <p:nvSpPr>
          <p:cNvPr id="17" name="Text 15"/>
          <p:cNvSpPr/>
          <p:nvPr/>
        </p:nvSpPr>
        <p:spPr>
          <a:xfrm>
            <a:off x="4800600" y="1603177"/>
            <a:ext cx="1677594" cy="400050"/>
          </a:xfrm>
          <a:prstGeom prst="rect">
            <a:avLst/>
          </a:prstGeom>
          <a:noFill/>
          <a:ln/>
        </p:spPr>
        <p:txBody>
          <a:bodyPr wrap="square" lIns="0" tIns="0" rIns="0" bIns="0" rtlCol="0" anchor="t"/>
          <a:lstStyle/>
          <a:p>
            <a:pPr algn="l" indent="0" marL="0">
              <a:spcAft>
                <a:spcPts val="400"/>
              </a:spcAft>
              <a:buNone/>
            </a:pPr>
            <a:r>
              <a:rPr lang="en-US" sz="1300" b="1" dirty="0">
                <a:solidFill>
                  <a:srgbClr val="92400E"/>
                </a:solidFill>
                <a:latin typeface="Arial" pitchFamily="34" charset="0"/>
                <a:ea typeface="Arial" pitchFamily="34" charset="-122"/>
                <a:cs typeface="Arial" pitchFamily="34" charset="-120"/>
              </a:rPr>
              <a:t>Failure is recoverable</a:t>
            </a:r>
            <a:endParaRPr lang="en-US" sz="1300" dirty="0"/>
          </a:p>
        </p:txBody>
      </p:sp>
      <p:sp>
        <p:nvSpPr>
          <p:cNvPr id="18" name="Text 16"/>
          <p:cNvSpPr/>
          <p:nvPr/>
        </p:nvSpPr>
        <p:spPr>
          <a:xfrm>
            <a:off x="4800600" y="2053977"/>
            <a:ext cx="1677594"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Targeted feedback, retry, resume</a:t>
            </a:r>
            <a:endParaRPr lang="en-US" sz="1100" dirty="0"/>
          </a:p>
        </p:txBody>
      </p:sp>
      <p:sp>
        <p:nvSpPr>
          <p:cNvPr id="19" name="Text 17"/>
          <p:cNvSpPr/>
          <p:nvPr/>
        </p:nvSpPr>
        <p:spPr>
          <a:xfrm>
            <a:off x="6750100" y="990451"/>
            <a:ext cx="1949500" cy="3241923"/>
          </a:xfrm>
          <a:prstGeom prst="roundRect">
            <a:avLst>
              <a:gd name="adj" fmla="val 5212"/>
            </a:avLst>
          </a:prstGeom>
          <a:solidFill>
            <a:srgbClr val="F3F4F6"/>
          </a:solidFill>
          <a:ln/>
        </p:spPr>
        <p:txBody>
          <a:bodyPr wrap="square" rtlCol="0" anchor="ctr"/>
          <a:lstStyle/>
          <a:p>
            <a:pPr indent="0" marL="0">
              <a:buNone/>
            </a:pPr>
            <a:endParaRPr lang="en-US" dirty="0"/>
          </a:p>
        </p:txBody>
      </p:sp>
      <p:sp>
        <p:nvSpPr>
          <p:cNvPr id="20" name="Shape 18"/>
          <p:cNvSpPr/>
          <p:nvPr/>
        </p:nvSpPr>
        <p:spPr>
          <a:xfrm>
            <a:off x="6750100" y="1014264"/>
            <a:ext cx="1949500" cy="0"/>
          </a:xfrm>
          <a:prstGeom prst="line">
            <a:avLst/>
          </a:prstGeom>
          <a:noFill/>
          <a:ln w="47625">
            <a:solidFill>
              <a:srgbClr val="374151"/>
            </a:solidFill>
            <a:prstDash val="solid"/>
          </a:ln>
        </p:spPr>
      </p:sp>
      <p:sp>
        <p:nvSpPr>
          <p:cNvPr id="21" name="Text 19"/>
          <p:cNvSpPr/>
          <p:nvPr/>
        </p:nvSpPr>
        <p:spPr>
          <a:xfrm>
            <a:off x="6902500" y="1203127"/>
            <a:ext cx="1677594" cy="323850"/>
          </a:xfrm>
          <a:prstGeom prst="rect">
            <a:avLst/>
          </a:prstGeom>
          <a:noFill/>
          <a:ln/>
        </p:spPr>
        <p:txBody>
          <a:bodyPr wrap="square" lIns="0" tIns="0" rIns="0" bIns="0" rtlCol="0" anchor="t"/>
          <a:lstStyle/>
          <a:p>
            <a:pPr algn="l" indent="0" marL="0">
              <a:spcAft>
                <a:spcPts val="600"/>
              </a:spcAft>
              <a:buNone/>
            </a:pPr>
            <a:r>
              <a:rPr lang="en-US" sz="2200" b="1" dirty="0">
                <a:solidFill>
                  <a:srgbClr val="374151"/>
                </a:solidFill>
                <a:latin typeface="Arial" pitchFamily="34" charset="0"/>
                <a:ea typeface="Arial" pitchFamily="34" charset="-122"/>
                <a:cs typeface="Arial" pitchFamily="34" charset="-120"/>
              </a:rPr>
              <a:t>4</a:t>
            </a:r>
            <a:endParaRPr lang="en-US" sz="2200" dirty="0"/>
          </a:p>
        </p:txBody>
      </p:sp>
      <p:sp>
        <p:nvSpPr>
          <p:cNvPr id="22" name="Text 20"/>
          <p:cNvSpPr/>
          <p:nvPr/>
        </p:nvSpPr>
        <p:spPr>
          <a:xfrm>
            <a:off x="6902500" y="1603177"/>
            <a:ext cx="1677594" cy="400050"/>
          </a:xfrm>
          <a:prstGeom prst="rect">
            <a:avLst/>
          </a:prstGeom>
          <a:noFill/>
          <a:ln/>
        </p:spPr>
        <p:txBody>
          <a:bodyPr wrap="square" lIns="0" tIns="0" rIns="0" bIns="0" rtlCol="0" anchor="t"/>
          <a:lstStyle/>
          <a:p>
            <a:pPr algn="l" indent="0" marL="0">
              <a:spcAft>
                <a:spcPts val="400"/>
              </a:spcAft>
              <a:buNone/>
            </a:pPr>
            <a:r>
              <a:rPr lang="en-US" sz="1300" b="1" dirty="0">
                <a:solidFill>
                  <a:srgbClr val="1F2937"/>
                </a:solidFill>
                <a:latin typeface="Arial" pitchFamily="34" charset="0"/>
                <a:ea typeface="Arial" pitchFamily="34" charset="-122"/>
                <a:cs typeface="Arial" pitchFamily="34" charset="-120"/>
              </a:rPr>
              <a:t>Human review built in</a:t>
            </a:r>
            <a:endParaRPr lang="en-US" sz="1300" dirty="0"/>
          </a:p>
        </p:txBody>
      </p:sp>
      <p:sp>
        <p:nvSpPr>
          <p:cNvPr id="23" name="Text 21"/>
          <p:cNvSpPr/>
          <p:nvPr/>
        </p:nvSpPr>
        <p:spPr>
          <a:xfrm>
            <a:off x="6902500" y="2053977"/>
            <a:ext cx="1677594" cy="30480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Between plan-breakdown and execution</a:t>
            </a:r>
            <a:endParaRPr lang="en-US" sz="1100" dirty="0"/>
          </a:p>
        </p:txBody>
      </p:sp>
      <p:sp>
        <p:nvSpPr>
          <p:cNvPr id="24" name="Text 22"/>
          <p:cNvSpPr/>
          <p:nvPr/>
        </p:nvSpPr>
        <p:spPr>
          <a:xfrm>
            <a:off x="444401" y="4384774"/>
            <a:ext cx="8255198" cy="606326"/>
          </a:xfrm>
          <a:prstGeom prst="roundRect">
            <a:avLst>
              <a:gd name="adj" fmla="val 12567"/>
            </a:avLst>
          </a:prstGeom>
          <a:solidFill>
            <a:srgbClr val="1E293B"/>
          </a:solidFill>
          <a:ln/>
        </p:spPr>
        <p:txBody>
          <a:bodyPr wrap="square" rtlCol="0" anchor="ctr"/>
          <a:lstStyle/>
          <a:p>
            <a:pPr indent="0" marL="0">
              <a:buNone/>
            </a:pPr>
            <a:endParaRPr lang="en-US" dirty="0"/>
          </a:p>
        </p:txBody>
      </p:sp>
      <p:sp>
        <p:nvSpPr>
          <p:cNvPr id="25" name="Text 23"/>
          <p:cNvSpPr/>
          <p:nvPr/>
        </p:nvSpPr>
        <p:spPr>
          <a:xfrm>
            <a:off x="647551" y="4511725"/>
            <a:ext cx="2891879" cy="142875"/>
          </a:xfrm>
          <a:prstGeom prst="rect">
            <a:avLst/>
          </a:prstGeom>
          <a:noFill/>
          <a:ln/>
        </p:spPr>
        <p:txBody>
          <a:bodyPr wrap="square" lIns="0" tIns="0" rIns="0" bIns="0" rtlCol="0" anchor="t"/>
          <a:lstStyle/>
          <a:p>
            <a:pPr algn="l" indent="0" marL="0">
              <a:spcAft>
                <a:spcPts val="300"/>
              </a:spcAft>
              <a:buNone/>
            </a:pPr>
            <a:r>
              <a:rPr lang="en-US" sz="1000" b="1" dirty="0">
                <a:solidFill>
                  <a:srgbClr val="94A3B8"/>
                </a:solidFill>
                <a:latin typeface="Arial" pitchFamily="34" charset="0"/>
                <a:ea typeface="Arial" pitchFamily="34" charset="-122"/>
                <a:cs typeface="Arial" pitchFamily="34" charset="-120"/>
              </a:rPr>
              <a:t>GITHUB</a:t>
            </a:r>
            <a:endParaRPr lang="en-US" sz="1000" dirty="0"/>
          </a:p>
        </p:txBody>
      </p:sp>
      <p:sp>
        <p:nvSpPr>
          <p:cNvPr id="26" name="Text 24"/>
          <p:cNvSpPr/>
          <p:nvPr/>
        </p:nvSpPr>
        <p:spPr>
          <a:xfrm>
            <a:off x="647551" y="4692700"/>
            <a:ext cx="2891879" cy="171450"/>
          </a:xfrm>
          <a:prstGeom prst="rect">
            <a:avLst/>
          </a:prstGeom>
          <a:noFill/>
          <a:ln/>
        </p:spPr>
        <p:txBody>
          <a:bodyPr wrap="square" lIns="0" tIns="0" rIns="0" bIns="0" rtlCol="0" anchor="t"/>
          <a:lstStyle/>
          <a:p>
            <a:pPr algn="l" indent="0" marL="0">
              <a:buNone/>
            </a:pPr>
            <a:r>
              <a:rPr lang="en-US" sz="1200" dirty="0">
                <a:solidFill>
                  <a:srgbClr val="60A5FA"/>
                </a:solidFill>
                <a:latin typeface="Courier New" pitchFamily="34" charset="0"/>
                <a:ea typeface="Courier New" pitchFamily="34" charset="-122"/>
                <a:cs typeface="Courier New" pitchFamily="34" charset="-120"/>
              </a:rPr>
              <a:t>Servant-Software-LLC/Guardrails</a:t>
            </a:r>
            <a:endParaRPr lang="en-US" sz="1200" dirty="0"/>
          </a:p>
        </p:txBody>
      </p:sp>
      <p:sp>
        <p:nvSpPr>
          <p:cNvPr id="27" name="Text 25"/>
          <p:cNvSpPr/>
          <p:nvPr/>
        </p:nvSpPr>
        <p:spPr>
          <a:xfrm>
            <a:off x="3762077" y="4511725"/>
            <a:ext cx="2425383" cy="142875"/>
          </a:xfrm>
          <a:prstGeom prst="rect">
            <a:avLst/>
          </a:prstGeom>
          <a:noFill/>
          <a:ln/>
        </p:spPr>
        <p:txBody>
          <a:bodyPr wrap="square" lIns="0" tIns="0" rIns="0" bIns="0" rtlCol="0" anchor="t"/>
          <a:lstStyle/>
          <a:p>
            <a:pPr algn="l" indent="0" marL="0">
              <a:spcAft>
                <a:spcPts val="300"/>
              </a:spcAft>
              <a:buNone/>
            </a:pPr>
            <a:r>
              <a:rPr lang="en-US" sz="1000" b="1" dirty="0">
                <a:solidFill>
                  <a:srgbClr val="94A3B8"/>
                </a:solidFill>
                <a:latin typeface="Arial" pitchFamily="34" charset="0"/>
                <a:ea typeface="Arial" pitchFamily="34" charset="-122"/>
                <a:cs typeface="Arial" pitchFamily="34" charset="-120"/>
              </a:rPr>
              <a:t>NUGET</a:t>
            </a:r>
            <a:endParaRPr lang="en-US" sz="1000" dirty="0"/>
          </a:p>
        </p:txBody>
      </p:sp>
      <p:sp>
        <p:nvSpPr>
          <p:cNvPr id="28" name="Text 26"/>
          <p:cNvSpPr/>
          <p:nvPr/>
        </p:nvSpPr>
        <p:spPr>
          <a:xfrm>
            <a:off x="3762077" y="4692700"/>
            <a:ext cx="2425383" cy="171450"/>
          </a:xfrm>
          <a:prstGeom prst="rect">
            <a:avLst/>
          </a:prstGeom>
          <a:noFill/>
          <a:ln/>
        </p:spPr>
        <p:txBody>
          <a:bodyPr wrap="square" lIns="0" tIns="0" rIns="0" bIns="0" rtlCol="0" anchor="t"/>
          <a:lstStyle/>
          <a:p>
            <a:pPr algn="l" indent="0" marL="0">
              <a:buNone/>
            </a:pPr>
            <a:r>
              <a:rPr lang="en-US" sz="1200" dirty="0">
                <a:solidFill>
                  <a:srgbClr val="60A5FA"/>
                </a:solidFill>
                <a:latin typeface="Courier New" pitchFamily="34" charset="0"/>
                <a:ea typeface="Courier New" pitchFamily="34" charset="-122"/>
                <a:cs typeface="Courier New" pitchFamily="34" charset="-120"/>
              </a:rPr>
              <a:t>ServantSoftware.Guardrails</a:t>
            </a:r>
            <a:endParaRPr lang="en-US" sz="1200" dirty="0"/>
          </a:p>
        </p:txBody>
      </p:sp>
      <p:sp>
        <p:nvSpPr>
          <p:cNvPr id="29" name="Text 27"/>
          <p:cNvSpPr/>
          <p:nvPr/>
        </p:nvSpPr>
        <p:spPr>
          <a:xfrm>
            <a:off x="6419255" y="4511725"/>
            <a:ext cx="1446395" cy="142875"/>
          </a:xfrm>
          <a:prstGeom prst="rect">
            <a:avLst/>
          </a:prstGeom>
          <a:noFill/>
          <a:ln/>
        </p:spPr>
        <p:txBody>
          <a:bodyPr wrap="square" lIns="0" tIns="0" rIns="0" bIns="0" rtlCol="0" anchor="t"/>
          <a:lstStyle/>
          <a:p>
            <a:pPr algn="l" indent="0" marL="0">
              <a:spcAft>
                <a:spcPts val="300"/>
              </a:spcAft>
              <a:buNone/>
            </a:pPr>
            <a:r>
              <a:rPr lang="en-US" sz="1000" b="1" dirty="0">
                <a:solidFill>
                  <a:srgbClr val="94A3B8"/>
                </a:solidFill>
                <a:latin typeface="Arial" pitchFamily="34" charset="0"/>
                <a:ea typeface="Arial" pitchFamily="34" charset="-122"/>
                <a:cs typeface="Arial" pitchFamily="34" charset="-120"/>
              </a:rPr>
              <a:t>CURRENT VERSION</a:t>
            </a:r>
            <a:endParaRPr lang="en-US" sz="1000" dirty="0"/>
          </a:p>
        </p:txBody>
      </p:sp>
      <p:sp>
        <p:nvSpPr>
          <p:cNvPr id="30" name="Text 28"/>
          <p:cNvSpPr/>
          <p:nvPr/>
        </p:nvSpPr>
        <p:spPr>
          <a:xfrm>
            <a:off x="6419255" y="4692700"/>
            <a:ext cx="1446395" cy="171450"/>
          </a:xfrm>
          <a:prstGeom prst="rect">
            <a:avLst/>
          </a:prstGeom>
          <a:noFill/>
          <a:ln/>
        </p:spPr>
        <p:txBody>
          <a:bodyPr wrap="square" lIns="0" tIns="0" rIns="0" bIns="0" rtlCol="0" anchor="t"/>
          <a:lstStyle/>
          <a:p>
            <a:pPr algn="l" indent="0" marL="0">
              <a:buNone/>
            </a:pPr>
            <a:r>
              <a:rPr lang="en-US" sz="1200" dirty="0">
                <a:solidFill>
                  <a:srgbClr val="FBB98C"/>
                </a:solidFill>
                <a:latin typeface="Courier New" pitchFamily="34" charset="0"/>
                <a:ea typeface="Courier New" pitchFamily="34" charset="-122"/>
                <a:cs typeface="Courier New" pitchFamily="34" charset="-120"/>
              </a:rPr>
              <a:t>1.0.0-preview.3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Guardrails — Reliable Agentic Engineering</dc:title>
  <dc:subject>Lunch &amp; Learn AI Edition</dc:subject>
  <dc:creator>David Maltby</dc:creator>
  <cp:lastModifiedBy>David Maltby</cp:lastModifiedBy>
  <cp:revision>1</cp:revision>
  <dcterms:created xsi:type="dcterms:W3CDTF">2026-06-15T00:41:49Z</dcterms:created>
  <dcterms:modified xsi:type="dcterms:W3CDTF">2026-06-15T00:41:49Z</dcterms:modified>
</cp:coreProperties>
</file>