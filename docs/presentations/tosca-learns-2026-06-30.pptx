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ask a question, not sell anything. We've all gotten very good at getting an AI agent to write code for us. I think there might be a step in the middle we've quietly skipped — and I want to spend ten minutes on what that step is and why it matters. At the very end I'll show you one thing I built that fills it, but honestly the question is the point, not my tool.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workflow. You write a nice plan in markdown — maybe a really good one. You paste the whole thing into an agent and say 'implement this.' One prompt, one shot, and out comes a pull request. And it's genuinely impressive how often this works. But notice what we reviewed: the plan on the way in, and the diff on the way out. Everything in the middle — how the work was split up, in what order, what got checked — the agent did on its own, and we never saw it. The next three slides are about what lives in that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problem. A plan in markdown is prose — it reads top to bottom. But real work is a graph: this task depends on that one, these two are independent, that one has to come last. When you one-shot a markdown file, the agent invents that graph in its head and never shows you. And the breakdown is arguably the most important engineering decision in the whole job — get the dependencies wrong and everything downstream is shaky. We literally hit this: one task was writing code that referenced a type another task was supposed to create first, and nothing in the plan made that ordering visible. You can't review a structure that doesn't exist on paper. (For your reference, not the audience's: that was issue #176 in our own tracker — a failure mode the gate caught by dogfooding. Numbers stay off the slides.)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problem, and it's the big one: determinism. In a one-shot, the thing that decides whether the work succeeded is the same model that did the work. Definition of done is whatever it says in its summary — 'Done! All tests pass.' But 'the agent says it's done' is not a proof. We've seen all-green test suites sitting on top of a feature that was never connected to anything — the tests passed because they tested the wrong layer. We've seen a 'tests pass' check report success on code that didn't compile. A language model is, by design, a machine for producing plausible-sounding output. If you let it certify its own work, plausible is all you're guaranteed. (Your reference: those were issues #120 and #155 in our tracker.)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problem follows straight from the second. If the agent both does the work and decides the work is done, then the path of least resistance can be to game the check. Told 'make the failing test pass,' editing the test is a perfectly valid way to make it pass — and a terrible way to make the code correct. Same with scope: an agent fixing one thing wanders off and edits five other files, and in a one-shot you'd never notice until something breaks later. Here's the thing — this isn't solved by a better prompt or a sterner instruction. It's solved by a deterministic rule: the implementation task is mechanically only allowed to touch the source files, not the tests. Edit a test and it's an automatic failure, full stop. No trust required. (Your reference: that scope-enforcement work was issue #136.)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synthesis. Across all three problems it's the same shape: the agent proposes — it proposes a breakdown, it proposes the work, it proposes that it's finished — and nothing independent and deterministic ever certifies any of it. We've gotten incredibly good at the proposing half and we've quietly skipped the certifying half. That missing certifying step — a breakdown you can see, prompts you can read, and a gate that mechanically proves 'done' — that's the step I think we might be missing. Everything from here is just: what would filling it look like?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first attempt at filling the gap wasn't to build anything — it was to adopt something. Back in March I found Beads, which bills itself as a distributed graph issue tracker for AI agents. And it's a genuinely smart project: instead of a flat markdown to-do list, your tasks live in a real dependency graph, it persists across long agent sessions, it can tell an agent which tasks are 'ready' because their blockers are done. I was sold. I'll admit the name didn't hurt — anyone who knows me knows I have a bit of a Gastown thing. So for a while I thought: this is the missing step. It wasn't — and the way it fell short is what told me what the step actually 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where it came up short, for my purposes. One: the agents managed the tasks — claimed them, updated them, closed them — so I was still trusting the agent to drive. Two: I couldn't easily see it. The tasks and especially the dependency chains were hard to visualize; there was no picture I could put in front of a reviewer. Three: I couldn't see the prompt that drove each task — the actual instruction was invisible. And four, the big one: definition of done was still left to the agent doing the task. So Beads organized the work beautifully, but it left every piece of engineering judgment with the agent. It's the same gap as the one-shot, just tidier. To be fair, Beads is solving a different problem — agent memory — it just wasn't the verification step I was missing. That's when I started building the step itself.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this is the thing I built, and I'm going to keep it deliberately high-level because the mechanism matters less than the shape. It's the same four steps you'd expect — write a plan, break it down, review, execute — but the middle two, the part the one-shot hides, are now out in the open. The breakdown is a real DAG you can look at: a folder per task, with its dependencies. Each task's prompt is a plain file you can read and edit. And critically, 'done' for a task isn't the agent's opinion — it's a set of deterministic guardrails, ordinary executable checks that pass or fail. And before a single task runs, a human reviews the whole structure. Every row in that table is just one of the problems from earlier, turned around.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take one thing away, it's this line. A prompt may propose — only a deterministic gate may certify. The agent is allowed to be creative, fast, even brilliant — it proposes. But the thing that decides whether the work actually counts is never the prompt; it's a cheap, boring, deterministic check. The trick isn't trusting the AI more — it's trusting it less, in exactly the right place, so you can safely let it do far more everywhere else. That's the whole idea, and it's the step I think the one-shot skips. And to be clear — the gate covers what you CAN make deterministic: build, tests, scope, wiring. The genuinely subjective calls still go to the human review step. The gate doesn't replace judgment; it stops the agent from faking the part that can be checked. Put another way: the human review step is where you decide what 'done' means for each task; the deterministic gate just enforces that decision so the agent can't quietly redefine it mid-run.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if you want to feel it rather than take my word, here's a tiny public repo you can run yourself — I'll be running this exact one in the demo. It's already broken down, so you can skip straight to looking at the structure and running it. Install the tool, clone the repo, and the two commands that matter are 'graph' — which opens that visible DAG, the thing the one-shot never shows you — and 'run', which executes it with every task proving itself. The dry-run flag previews the whole thing at zero cost. The fun part to watch: two tasks run in parallel, both edit the same file, and an AI resolves the merge conflict — but only after a deterministic re-verify says the merged result actually builds and passes. Try it on your own machine while I run it up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I'll end where I started, with the question. Are we missing a step in agentic engineering? I think we might be — a step between writing the plan and shipping the diff, where a human still gets to see the breakdown, read the prompts, and rely on a deterministic gate instead of the agent's word. I built one answer to that, but I'm genuinely not here to prescribe it. I just wanted to put the question on the table, because I don't think we talk about that middle step enough. Happy to run the demo, and happier to argue about whether the step is real.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46304"/>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6304"/>
            <a:ext cx="9144000" cy="36576"/>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960120"/>
            <a:ext cx="4663440" cy="384048"/>
          </a:xfrm>
          <a:prstGeom prst="roundRect">
            <a:avLst>
              <a:gd name="adj" fmla="val 50000"/>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latin typeface="Arial"/>
              </a:rPr>
              <a:t>AGENTIC ENGINEERING   ·   TOSCA LEARNS</a:t>
            </a:r>
          </a:p>
        </p:txBody>
      </p:sp>
      <p:sp>
        <p:nvSpPr>
          <p:cNvPr id="6" name="TextBox 5"/>
          <p:cNvSpPr txBox="1"/>
          <p:nvPr/>
        </p:nvSpPr>
        <p:spPr>
          <a:xfrm>
            <a:off x="530352" y="1536192"/>
            <a:ext cx="8229600" cy="1737360"/>
          </a:xfrm>
          <a:prstGeom prst="rect">
            <a:avLst/>
          </a:prstGeom>
          <a:noFill/>
        </p:spPr>
        <p:txBody>
          <a:bodyPr wrap="square" anchor="t" lIns="54864" rIns="54864" tIns="27432" bIns="27432">
            <a:spAutoFit/>
          </a:bodyPr>
          <a:lstStyle/>
          <a:p>
            <a:pPr algn="l">
              <a:lnSpc>
                <a:spcPct val="104000"/>
              </a:lnSpc>
            </a:pPr>
            <a:r>
              <a:rPr sz="4300" b="1" i="0">
                <a:solidFill>
                  <a:srgbClr val="01499B"/>
                </a:solidFill>
                <a:latin typeface="Arial"/>
              </a:rPr>
              <a:t>Are we missing a step</a:t>
            </a:r>
          </a:p>
          <a:p>
            <a:pPr algn="l">
              <a:lnSpc>
                <a:spcPct val="104000"/>
              </a:lnSpc>
            </a:pPr>
            <a:r>
              <a:rPr sz="4300" b="1" i="0">
                <a:solidFill>
                  <a:srgbClr val="01499B"/>
                </a:solidFill>
                <a:latin typeface="Arial"/>
              </a:rPr>
              <a:t>in Agentic Engineering?</a:t>
            </a:r>
          </a:p>
        </p:txBody>
      </p:sp>
      <p:sp>
        <p:nvSpPr>
          <p:cNvPr id="7" name="Rectangle 6"/>
          <p:cNvSpPr/>
          <p:nvPr/>
        </p:nvSpPr>
        <p:spPr>
          <a:xfrm>
            <a:off x="585216" y="3246120"/>
            <a:ext cx="13716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401568"/>
            <a:ext cx="8229600" cy="640080"/>
          </a:xfrm>
          <a:prstGeom prst="rect">
            <a:avLst/>
          </a:prstGeom>
          <a:noFill/>
        </p:spPr>
        <p:txBody>
          <a:bodyPr wrap="square" anchor="t" lIns="54864" rIns="54864" tIns="27432" bIns="27432">
            <a:spAutoFit/>
          </a:bodyPr>
          <a:lstStyle/>
          <a:p>
            <a:pPr algn="l">
              <a:lnSpc>
                <a:spcPct val="112000"/>
              </a:lnSpc>
            </a:pPr>
            <a:r>
              <a:rPr sz="1600" b="1" i="0">
                <a:solidFill>
                  <a:srgbClr val="374151"/>
                </a:solidFill>
                <a:latin typeface="Arial"/>
              </a:rPr>
              <a:t>An honest question about how we ship AI-written code — </a:t>
            </a:r>
            <a:r>
              <a:rPr sz="1600" b="1" i="0">
                <a:solidFill>
                  <a:srgbClr val="C45C15"/>
                </a:solidFill>
                <a:latin typeface="Arial"/>
              </a:rPr>
              <a:t>not a pitch.</a:t>
            </a:r>
          </a:p>
        </p:txBody>
      </p:sp>
      <p:sp>
        <p:nvSpPr>
          <p:cNvPr id="9" name="TextBox 8"/>
          <p:cNvSpPr txBox="1"/>
          <p:nvPr/>
        </p:nvSpPr>
        <p:spPr>
          <a:xfrm>
            <a:off x="548640" y="4224528"/>
            <a:ext cx="8229600" cy="548640"/>
          </a:xfrm>
          <a:prstGeom prst="rect">
            <a:avLst/>
          </a:prstGeom>
          <a:noFill/>
        </p:spPr>
        <p:txBody>
          <a:bodyPr wrap="square" anchor="t" lIns="54864" rIns="54864" tIns="27432" bIns="27432">
            <a:spAutoFit/>
          </a:bodyPr>
          <a:lstStyle/>
          <a:p>
            <a:pPr algn="l"/>
            <a:r>
              <a:rPr sz="1400" b="1" i="0">
                <a:solidFill>
                  <a:srgbClr val="1F2937"/>
                </a:solidFill>
                <a:latin typeface="Arial"/>
              </a:rPr>
              <a:t>David Maltby</a:t>
            </a:r>
            <a:r>
              <a:rPr sz="1200" b="0" i="0">
                <a:solidFill>
                  <a:srgbClr val="6B7280"/>
                </a:solidFill>
                <a:latin typeface="Arial"/>
              </a:rPr>
              <a:t>     ·     Tosca Learns   ·   June 2026</a:t>
            </a:r>
          </a:p>
        </p:txBody>
      </p:sp>
      <p:sp>
        <p:nvSpPr>
          <p:cNvPr id="10" name="Rectangle 9"/>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 y="4992624"/>
            <a:ext cx="5486400" cy="182880"/>
          </a:xfrm>
          <a:prstGeom prst="rect">
            <a:avLst/>
          </a:prstGeom>
          <a:noFill/>
        </p:spPr>
        <p:txBody>
          <a:bodyPr wrap="square" anchor="t" lIns="54864" rIns="54864" tIns="27432" bIns="27432">
            <a:spAutoFit/>
          </a:bodyPr>
          <a:lstStyle/>
          <a:p>
            <a:pPr algn="l"/>
            <a:r>
              <a:rPr sz="800" b="0" i="0">
                <a:solidFill>
                  <a:srgbClr val="94A3B8"/>
                </a:solidFill>
                <a:latin typeface="Arial"/>
              </a:rPr>
              <a:t>Tosca Learns  ·  Agentic Engineering</a:t>
            </a:r>
          </a:p>
        </p:txBody>
      </p:sp>
      <p:sp>
        <p:nvSpPr>
          <p:cNvPr id="12" name="TextBox 11"/>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6858000" cy="603504"/>
          </a:xfrm>
          <a:prstGeom prst="rect">
            <a:avLst/>
          </a:prstGeom>
          <a:noFill/>
        </p:spPr>
        <p:txBody>
          <a:bodyPr wrap="square" anchor="ctr" lIns="54864" rIns="54864" tIns="27432" bIns="27432">
            <a:spAutoFit/>
          </a:bodyPr>
          <a:lstStyle/>
          <a:p>
            <a:pPr algn="l"/>
            <a:r>
              <a:rPr sz="2100" b="1" i="0">
                <a:solidFill>
                  <a:srgbClr val="FFFFFF"/>
                </a:solidFill>
                <a:latin typeface="Arial"/>
              </a:rPr>
              <a:t>How We Build With Agents Today</a:t>
            </a:r>
          </a:p>
        </p:txBody>
      </p:sp>
      <p:sp>
        <p:nvSpPr>
          <p:cNvPr id="5" name="Rounded Rectangle 4"/>
          <p:cNvSpPr/>
          <p:nvPr/>
        </p:nvSpPr>
        <p:spPr>
          <a:xfrm>
            <a:off x="7040880" y="256032"/>
            <a:ext cx="1691640" cy="329184"/>
          </a:xfrm>
          <a:prstGeom prst="roundRect">
            <a:avLst>
              <a:gd name="adj" fmla="val 50000"/>
            </a:avLst>
          </a:prstGeom>
          <a:solidFill>
            <a:srgbClr val="013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CFDEF5"/>
                </a:solidFill>
                <a:latin typeface="Arial"/>
              </a:rPr>
              <a:t>THE STATUS QUO</a:t>
            </a:r>
          </a:p>
        </p:txBody>
      </p:sp>
      <p:sp>
        <p:nvSpPr>
          <p:cNvPr id="6" name="Rounded Rectangle 5"/>
          <p:cNvSpPr/>
          <p:nvPr/>
        </p:nvSpPr>
        <p:spPr>
          <a:xfrm>
            <a:off x="448056" y="1234440"/>
            <a:ext cx="2615184" cy="1280160"/>
          </a:xfrm>
          <a:prstGeom prst="roundRect">
            <a:avLst>
              <a:gd name="adj" fmla="val 8000"/>
            </a:avLst>
          </a:prstGeom>
          <a:solidFill>
            <a:srgbClr val="EFF6FF"/>
          </a:solidFill>
          <a:ln w="15875">
            <a:solidFill>
              <a:srgbClr val="E0ECF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200"/>
              </a:spcAft>
            </a:pPr>
            <a:r>
              <a:rPr sz="1450" b="1" i="0">
                <a:solidFill>
                  <a:srgbClr val="01499B"/>
                </a:solidFill>
                <a:latin typeface="Arial"/>
              </a:rPr>
              <a:t>write a plan</a:t>
            </a:r>
          </a:p>
          <a:p>
            <a:pPr algn="ctr">
              <a:lnSpc>
                <a:spcPct val="103000"/>
              </a:lnSpc>
              <a:spcAft>
                <a:spcPts val="600"/>
              </a:spcAft>
            </a:pPr>
            <a:r>
              <a:rPr sz="1150" b="0" i="0">
                <a:solidFill>
                  <a:srgbClr val="374151"/>
                </a:solidFill>
                <a:latin typeface="Arial"/>
              </a:rPr>
              <a:t>in Markdown</a:t>
            </a:r>
          </a:p>
          <a:p>
            <a:pPr algn="ctr"/>
            <a:r>
              <a:rPr sz="1000" b="0" i="0">
                <a:solidFill>
                  <a:srgbClr val="6B7280"/>
                </a:solidFill>
                <a:latin typeface="Courier New"/>
              </a:rPr>
              <a:t>plan.md</a:t>
            </a:r>
          </a:p>
        </p:txBody>
      </p:sp>
      <p:sp>
        <p:nvSpPr>
          <p:cNvPr id="7" name="TextBox 6"/>
          <p:cNvSpPr txBox="1"/>
          <p:nvPr/>
        </p:nvSpPr>
        <p:spPr>
          <a:xfrm>
            <a:off x="3017520" y="1234440"/>
            <a:ext cx="338328" cy="1280160"/>
          </a:xfrm>
          <a:prstGeom prst="rect">
            <a:avLst/>
          </a:prstGeom>
          <a:noFill/>
        </p:spPr>
        <p:txBody>
          <a:bodyPr wrap="square" anchor="ctr" lIns="54864" rIns="54864" tIns="27432" bIns="27432">
            <a:spAutoFit/>
          </a:bodyPr>
          <a:lstStyle/>
          <a:p>
            <a:pPr algn="ctr"/>
            <a:r>
              <a:rPr sz="2400" b="1" i="0">
                <a:solidFill>
                  <a:srgbClr val="6B7280"/>
                </a:solidFill>
                <a:latin typeface="Arial"/>
              </a:rPr>
              <a:t>→</a:t>
            </a:r>
          </a:p>
        </p:txBody>
      </p:sp>
      <p:sp>
        <p:nvSpPr>
          <p:cNvPr id="8" name="Rounded Rectangle 7"/>
          <p:cNvSpPr/>
          <p:nvPr/>
        </p:nvSpPr>
        <p:spPr>
          <a:xfrm>
            <a:off x="3310128" y="1234440"/>
            <a:ext cx="2615184" cy="1280160"/>
          </a:xfrm>
          <a:prstGeom prst="roundRect">
            <a:avLst>
              <a:gd name="adj" fmla="val 8000"/>
            </a:avLst>
          </a:prstGeom>
          <a:solidFill>
            <a:srgbClr val="FFF7ED"/>
          </a:solidFill>
          <a:ln w="15875">
            <a:solidFill>
              <a:srgbClr val="F6D8B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200"/>
              </a:spcAft>
            </a:pPr>
            <a:r>
              <a:rPr sz="1450" b="1" i="0">
                <a:solidFill>
                  <a:srgbClr val="C45C15"/>
                </a:solidFill>
                <a:latin typeface="Arial"/>
              </a:rPr>
              <a:t>hand the WHOLE file</a:t>
            </a:r>
          </a:p>
          <a:p>
            <a:pPr algn="ctr">
              <a:lnSpc>
                <a:spcPct val="103000"/>
              </a:lnSpc>
              <a:spcAft>
                <a:spcPts val="600"/>
              </a:spcAft>
            </a:pPr>
            <a:r>
              <a:rPr sz="1150" b="0" i="0">
                <a:solidFill>
                  <a:srgbClr val="374151"/>
                </a:solidFill>
                <a:latin typeface="Arial"/>
              </a:rPr>
              <a:t>to an agent: “implement”</a:t>
            </a:r>
          </a:p>
          <a:p>
            <a:pPr algn="ctr"/>
            <a:r>
              <a:rPr sz="1000" b="0" i="0">
                <a:solidFill>
                  <a:srgbClr val="6B7280"/>
                </a:solidFill>
                <a:latin typeface="Courier New"/>
              </a:rPr>
              <a:t>one prompt · one shot</a:t>
            </a:r>
          </a:p>
        </p:txBody>
      </p:sp>
      <p:sp>
        <p:nvSpPr>
          <p:cNvPr id="9" name="TextBox 8"/>
          <p:cNvSpPr txBox="1"/>
          <p:nvPr/>
        </p:nvSpPr>
        <p:spPr>
          <a:xfrm>
            <a:off x="5879592" y="1234440"/>
            <a:ext cx="338328" cy="1280160"/>
          </a:xfrm>
          <a:prstGeom prst="rect">
            <a:avLst/>
          </a:prstGeom>
          <a:noFill/>
        </p:spPr>
        <p:txBody>
          <a:bodyPr wrap="square" anchor="ctr" lIns="54864" rIns="54864" tIns="27432" bIns="27432">
            <a:spAutoFit/>
          </a:bodyPr>
          <a:lstStyle/>
          <a:p>
            <a:pPr algn="ctr"/>
            <a:r>
              <a:rPr sz="2400" b="1" i="0">
                <a:solidFill>
                  <a:srgbClr val="6B7280"/>
                </a:solidFill>
                <a:latin typeface="Arial"/>
              </a:rPr>
              <a:t>→</a:t>
            </a:r>
          </a:p>
        </p:txBody>
      </p:sp>
      <p:sp>
        <p:nvSpPr>
          <p:cNvPr id="10" name="Rounded Rectangle 9"/>
          <p:cNvSpPr/>
          <p:nvPr/>
        </p:nvSpPr>
        <p:spPr>
          <a:xfrm>
            <a:off x="6172200" y="1234440"/>
            <a:ext cx="2615184" cy="1280160"/>
          </a:xfrm>
          <a:prstGeom prst="roundRect">
            <a:avLst>
              <a:gd name="adj" fmla="val 8000"/>
            </a:avLst>
          </a:prstGeom>
          <a:solidFill>
            <a:srgbClr val="EFF6FF"/>
          </a:solidFill>
          <a:ln w="15875">
            <a:solidFill>
              <a:srgbClr val="E0ECF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200"/>
              </a:spcAft>
            </a:pPr>
            <a:r>
              <a:rPr sz="1450" b="1" i="0">
                <a:solidFill>
                  <a:srgbClr val="01499B"/>
                </a:solidFill>
                <a:latin typeface="Arial"/>
              </a:rPr>
              <a:t>a big PR</a:t>
            </a:r>
          </a:p>
          <a:p>
            <a:pPr algn="ctr">
              <a:lnSpc>
                <a:spcPct val="103000"/>
              </a:lnSpc>
              <a:spcAft>
                <a:spcPts val="600"/>
              </a:spcAft>
            </a:pPr>
            <a:r>
              <a:rPr sz="1150" b="0" i="0">
                <a:solidFill>
                  <a:srgbClr val="374151"/>
                </a:solidFill>
                <a:latin typeface="Arial"/>
              </a:rPr>
              <a:t>of changes</a:t>
            </a:r>
          </a:p>
          <a:p>
            <a:pPr algn="ctr"/>
            <a:r>
              <a:rPr sz="1000" b="0" i="0">
                <a:solidFill>
                  <a:srgbClr val="6B7280"/>
                </a:solidFill>
                <a:latin typeface="Courier New"/>
              </a:rPr>
              <a:t>merge &amp; move on</a:t>
            </a:r>
          </a:p>
        </p:txBody>
      </p:sp>
      <p:sp>
        <p:nvSpPr>
          <p:cNvPr id="11" name="TextBox 10"/>
          <p:cNvSpPr txBox="1"/>
          <p:nvPr/>
        </p:nvSpPr>
        <p:spPr>
          <a:xfrm>
            <a:off x="448056" y="2697480"/>
            <a:ext cx="8257031" cy="365760"/>
          </a:xfrm>
          <a:prstGeom prst="rect">
            <a:avLst/>
          </a:prstGeom>
          <a:noFill/>
        </p:spPr>
        <p:txBody>
          <a:bodyPr wrap="square" anchor="t" lIns="54864" rIns="54864" tIns="27432" bIns="27432">
            <a:spAutoFit/>
          </a:bodyPr>
          <a:lstStyle/>
          <a:p>
            <a:pPr algn="ctr"/>
            <a:r>
              <a:rPr sz="1400" b="1" i="1">
                <a:solidFill>
                  <a:srgbClr val="374151"/>
                </a:solidFill>
                <a:latin typeface="Arial"/>
              </a:rPr>
              <a:t>It’s fast. It often works. It feels like magic.</a:t>
            </a:r>
          </a:p>
        </p:txBody>
      </p:sp>
      <p:sp>
        <p:nvSpPr>
          <p:cNvPr id="12" name="Rounded Rectangle 11"/>
          <p:cNvSpPr/>
          <p:nvPr/>
        </p:nvSpPr>
        <p:spPr>
          <a:xfrm>
            <a:off x="448056" y="3200400"/>
            <a:ext cx="8257031" cy="1371600"/>
          </a:xfrm>
          <a:prstGeom prst="roundRect">
            <a:avLst>
              <a:gd name="adj" fmla="val 6000"/>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 bIns="27432"/>
          <a:lstStyle/>
          <a:p>
            <a:pPr algn="l">
              <a:lnSpc>
                <a:spcPct val="110000"/>
              </a:lnSpc>
              <a:spcAft>
                <a:spcPts val="500"/>
              </a:spcAft>
            </a:pPr>
            <a:r>
              <a:rPr sz="1500" b="0" i="0">
                <a:solidFill>
                  <a:srgbClr val="FFFFFF"/>
                </a:solidFill>
                <a:latin typeface="Arial"/>
              </a:rPr>
              <a:t>But step back: what did we actually </a:t>
            </a:r>
            <a:r>
              <a:rPr sz="1500" b="1" i="0">
                <a:solidFill>
                  <a:srgbClr val="FFC9A3"/>
                </a:solidFill>
                <a:latin typeface="Arial"/>
              </a:rPr>
              <a:t>verify</a:t>
            </a:r>
            <a:r>
              <a:rPr sz="1500" b="0" i="0">
                <a:solidFill>
                  <a:srgbClr val="FFFFFF"/>
                </a:solidFill>
                <a:latin typeface="Arial"/>
              </a:rPr>
              <a:t>?</a:t>
            </a:r>
          </a:p>
          <a:p>
            <a:pPr algn="l">
              <a:lnSpc>
                <a:spcPct val="110000"/>
              </a:lnSpc>
            </a:pPr>
            <a:r>
              <a:rPr sz="1350" b="0" i="0">
                <a:solidFill>
                  <a:srgbClr val="DCE7F6"/>
                </a:solidFill>
                <a:latin typeface="Arial"/>
              </a:rPr>
              <a:t>We reviewed the prose going in, and the diff coming out. Everything </a:t>
            </a:r>
            <a:r>
              <a:rPr sz="1350" b="1" i="1">
                <a:solidFill>
                  <a:srgbClr val="FFFFFF"/>
                </a:solidFill>
                <a:latin typeface="Arial"/>
              </a:rPr>
              <a:t>in between</a:t>
            </a:r>
            <a:r>
              <a:rPr sz="1350" b="0" i="0">
                <a:solidFill>
                  <a:srgbClr val="DCE7F6"/>
                </a:solidFill>
                <a:latin typeface="Arial"/>
              </a:rPr>
              <a:t> — the agent just </a:t>
            </a:r>
            <a:r>
              <a:rPr sz="1350" b="1" i="0">
                <a:solidFill>
                  <a:srgbClr val="FFFFFF"/>
                </a:solidFill>
                <a:latin typeface="Arial"/>
              </a:rPr>
              <a:t>did.</a:t>
            </a:r>
          </a:p>
        </p:txBody>
      </p:sp>
      <p:sp>
        <p:nvSpPr>
          <p:cNvPr id="13" name="Rectangle 12"/>
          <p:cNvSpPr/>
          <p:nvPr/>
        </p:nvSpPr>
        <p:spPr>
          <a:xfrm>
            <a:off x="448056" y="3200400"/>
            <a:ext cx="109728" cy="137160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 y="4992624"/>
            <a:ext cx="5486400" cy="182880"/>
          </a:xfrm>
          <a:prstGeom prst="rect">
            <a:avLst/>
          </a:prstGeom>
          <a:noFill/>
        </p:spPr>
        <p:txBody>
          <a:bodyPr wrap="square" anchor="t" lIns="54864" rIns="54864" tIns="27432" bIns="27432">
            <a:spAutoFit/>
          </a:bodyPr>
          <a:lstStyle/>
          <a:p>
            <a:pPr algn="l"/>
            <a:r>
              <a:rPr sz="800" b="0" i="0">
                <a:solidFill>
                  <a:srgbClr val="94A3B8"/>
                </a:solidFill>
                <a:latin typeface="Arial"/>
              </a:rPr>
              <a:t>Tosca Learns  ·  Agentic Engineering</a:t>
            </a:r>
          </a:p>
        </p:txBody>
      </p:sp>
      <p:sp>
        <p:nvSpPr>
          <p:cNvPr id="16" name="TextBox 15"/>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6858000" cy="603504"/>
          </a:xfrm>
          <a:prstGeom prst="rect">
            <a:avLst/>
          </a:prstGeom>
          <a:noFill/>
        </p:spPr>
        <p:txBody>
          <a:bodyPr wrap="square" anchor="ctr" lIns="54864" rIns="54864" tIns="27432" bIns="27432">
            <a:spAutoFit/>
          </a:bodyPr>
          <a:lstStyle/>
          <a:p>
            <a:pPr algn="l"/>
            <a:r>
              <a:rPr sz="1700" b="1" i="0">
                <a:solidFill>
                  <a:srgbClr val="BFD3F0"/>
                </a:solidFill>
                <a:latin typeface="Arial"/>
              </a:rPr>
              <a:t>①   </a:t>
            </a:r>
            <a:r>
              <a:rPr sz="2100" b="1" i="0">
                <a:solidFill>
                  <a:srgbClr val="FFFFFF"/>
                </a:solidFill>
                <a:latin typeface="Arial"/>
              </a:rPr>
              <a:t>The Breakdown Is Invisible</a:t>
            </a:r>
          </a:p>
        </p:txBody>
      </p:sp>
      <p:sp>
        <p:nvSpPr>
          <p:cNvPr id="5" name="Rounded Rectangle 4"/>
          <p:cNvSpPr/>
          <p:nvPr/>
        </p:nvSpPr>
        <p:spPr>
          <a:xfrm>
            <a:off x="7040880" y="256032"/>
            <a:ext cx="1691640" cy="329184"/>
          </a:xfrm>
          <a:prstGeom prst="roundRect">
            <a:avLst>
              <a:gd name="adj" fmla="val 50000"/>
            </a:avLst>
          </a:prstGeom>
          <a:solidFill>
            <a:srgbClr val="013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CFDEF5"/>
                </a:solidFill>
                <a:latin typeface="Arial"/>
              </a:rPr>
              <a:t>PROBLEM 1 / 3</a:t>
            </a:r>
          </a:p>
        </p:txBody>
      </p:sp>
      <p:sp>
        <p:nvSpPr>
          <p:cNvPr id="6" name="TextBox 5"/>
          <p:cNvSpPr txBox="1"/>
          <p:nvPr/>
        </p:nvSpPr>
        <p:spPr>
          <a:xfrm>
            <a:off x="448056" y="960120"/>
            <a:ext cx="8257031" cy="384048"/>
          </a:xfrm>
          <a:prstGeom prst="rect">
            <a:avLst/>
          </a:prstGeom>
          <a:noFill/>
        </p:spPr>
        <p:txBody>
          <a:bodyPr wrap="square" anchor="t" lIns="54864" rIns="54864" tIns="27432" bIns="27432">
            <a:spAutoFit/>
          </a:bodyPr>
          <a:lstStyle/>
          <a:p>
            <a:pPr algn="l"/>
            <a:r>
              <a:rPr sz="1400" b="0" i="0">
                <a:solidFill>
                  <a:srgbClr val="374151"/>
                </a:solidFill>
                <a:latin typeface="Arial"/>
              </a:rPr>
              <a:t>A markdown plan is </a:t>
            </a:r>
            <a:r>
              <a:rPr sz="1400" b="1" i="0">
                <a:solidFill>
                  <a:srgbClr val="C45C15"/>
                </a:solidFill>
                <a:latin typeface="Arial"/>
              </a:rPr>
              <a:t>prose</a:t>
            </a:r>
            <a:r>
              <a:rPr sz="1400" b="0" i="0">
                <a:solidFill>
                  <a:srgbClr val="374151"/>
                </a:solidFill>
                <a:latin typeface="Arial"/>
              </a:rPr>
              <a:t>.  It doesn’t show a </a:t>
            </a:r>
            <a:r>
              <a:rPr sz="1400" b="1" i="0">
                <a:solidFill>
                  <a:srgbClr val="01499B"/>
                </a:solidFill>
                <a:latin typeface="Arial"/>
              </a:rPr>
              <a:t>DAG</a:t>
            </a:r>
            <a:r>
              <a:rPr sz="1400" b="0" i="0">
                <a:solidFill>
                  <a:srgbClr val="374151"/>
                </a:solidFill>
                <a:latin typeface="Arial"/>
              </a:rPr>
              <a:t>.</a:t>
            </a:r>
          </a:p>
        </p:txBody>
      </p:sp>
      <p:sp>
        <p:nvSpPr>
          <p:cNvPr id="7" name="Rounded Rectangle 6"/>
          <p:cNvSpPr/>
          <p:nvPr/>
        </p:nvSpPr>
        <p:spPr>
          <a:xfrm>
            <a:off x="448056" y="1463040"/>
            <a:ext cx="4160520" cy="2148840"/>
          </a:xfrm>
          <a:prstGeom prst="roundRect">
            <a:avLst>
              <a:gd name="adj" fmla="val 6000"/>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 y="1591056"/>
            <a:ext cx="3840480" cy="310896"/>
          </a:xfrm>
          <a:prstGeom prst="rect">
            <a:avLst/>
          </a:prstGeom>
          <a:noFill/>
        </p:spPr>
        <p:txBody>
          <a:bodyPr wrap="square" anchor="t" lIns="54864" rIns="54864" tIns="27432" bIns="27432">
            <a:spAutoFit/>
          </a:bodyPr>
          <a:lstStyle/>
          <a:p>
            <a:pPr algn="l"/>
            <a:r>
              <a:rPr sz="1300" b="1" i="0">
                <a:solidFill>
                  <a:srgbClr val="01499B"/>
                </a:solidFill>
                <a:latin typeface="Arial"/>
              </a:rPr>
              <a:t>So the agent silently decides:</a:t>
            </a:r>
          </a:p>
        </p:txBody>
      </p:sp>
      <p:sp>
        <p:nvSpPr>
          <p:cNvPr id="9" name="Rectangle 8"/>
          <p:cNvSpPr/>
          <p:nvPr/>
        </p:nvSpPr>
        <p:spPr>
          <a:xfrm>
            <a:off x="630936" y="1938528"/>
            <a:ext cx="1005840" cy="32004"/>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2066543"/>
            <a:ext cx="3840480" cy="1463040"/>
          </a:xfrm>
          <a:prstGeom prst="rect">
            <a:avLst/>
          </a:prstGeom>
          <a:noFill/>
        </p:spPr>
        <p:txBody>
          <a:bodyPr wrap="square" anchor="t" lIns="54864" rIns="54864" tIns="27432" bIns="27432">
            <a:spAutoFit/>
          </a:bodyPr>
          <a:lstStyle/>
          <a:p>
            <a:pPr algn="l">
              <a:lnSpc>
                <a:spcPct val="105000"/>
              </a:lnSpc>
              <a:spcAft>
                <a:spcPts val="700"/>
              </a:spcAft>
            </a:pPr>
            <a:r>
              <a:rPr sz="1250" b="0" i="0">
                <a:solidFill>
                  <a:srgbClr val="374151"/>
                </a:solidFill>
                <a:latin typeface="Arial"/>
              </a:rPr>
              <a:t>•  how to </a:t>
            </a:r>
            <a:r>
              <a:rPr sz="1250" b="1" i="0">
                <a:solidFill>
                  <a:srgbClr val="1F2937"/>
                </a:solidFill>
                <a:latin typeface="Arial"/>
              </a:rPr>
              <a:t>split</a:t>
            </a:r>
            <a:r>
              <a:rPr sz="1250" b="0" i="0">
                <a:solidFill>
                  <a:srgbClr val="374151"/>
                </a:solidFill>
                <a:latin typeface="Arial"/>
              </a:rPr>
              <a:t> the work into tasks</a:t>
            </a:r>
          </a:p>
          <a:p>
            <a:pPr algn="l">
              <a:lnSpc>
                <a:spcPct val="105000"/>
              </a:lnSpc>
              <a:spcAft>
                <a:spcPts val="700"/>
              </a:spcAft>
            </a:pPr>
            <a:r>
              <a:rPr sz="1250" b="0" i="0">
                <a:solidFill>
                  <a:srgbClr val="374151"/>
                </a:solidFill>
                <a:latin typeface="Arial"/>
              </a:rPr>
              <a:t>•  what </a:t>
            </a:r>
            <a:r>
              <a:rPr sz="1250" b="1" i="0">
                <a:solidFill>
                  <a:srgbClr val="1F2937"/>
                </a:solidFill>
                <a:latin typeface="Arial"/>
              </a:rPr>
              <a:t>order</a:t>
            </a:r>
            <a:r>
              <a:rPr sz="1250" b="0" i="0">
                <a:solidFill>
                  <a:srgbClr val="374151"/>
                </a:solidFill>
                <a:latin typeface="Arial"/>
              </a:rPr>
              <a:t> to do them in</a:t>
            </a:r>
          </a:p>
          <a:p>
            <a:pPr algn="l">
              <a:lnSpc>
                <a:spcPct val="105000"/>
              </a:lnSpc>
            </a:pPr>
            <a:r>
              <a:rPr sz="1250" b="0" i="0">
                <a:solidFill>
                  <a:srgbClr val="374151"/>
                </a:solidFill>
                <a:latin typeface="Arial"/>
              </a:rPr>
              <a:t>•  what </a:t>
            </a:r>
            <a:r>
              <a:rPr sz="1250" b="1" i="0">
                <a:solidFill>
                  <a:srgbClr val="1F2937"/>
                </a:solidFill>
                <a:latin typeface="Arial"/>
              </a:rPr>
              <a:t>depends</a:t>
            </a:r>
            <a:r>
              <a:rPr sz="1250" b="0" i="0">
                <a:solidFill>
                  <a:srgbClr val="374151"/>
                </a:solidFill>
                <a:latin typeface="Arial"/>
              </a:rPr>
              <a:t> on what</a:t>
            </a:r>
          </a:p>
        </p:txBody>
      </p:sp>
      <p:sp>
        <p:nvSpPr>
          <p:cNvPr id="11" name="Rounded Rectangle 10"/>
          <p:cNvSpPr/>
          <p:nvPr/>
        </p:nvSpPr>
        <p:spPr>
          <a:xfrm>
            <a:off x="4773168" y="1463040"/>
            <a:ext cx="3931920" cy="2148840"/>
          </a:xfrm>
          <a:prstGeom prst="roundRect">
            <a:avLst>
              <a:gd name="adj" fmla="val 6000"/>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01168" tIns="27432" bIns="27432"/>
          <a:lstStyle/>
          <a:p>
            <a:pPr algn="l">
              <a:lnSpc>
                <a:spcPct val="112000"/>
              </a:lnSpc>
              <a:spcAft>
                <a:spcPts val="600"/>
              </a:spcAft>
            </a:pPr>
            <a:r>
              <a:rPr sz="1450" b="0" i="0">
                <a:solidFill>
                  <a:srgbClr val="FFFFFF"/>
                </a:solidFill>
                <a:latin typeface="Arial"/>
              </a:rPr>
              <a:t>That decomposition </a:t>
            </a:r>
            <a:r>
              <a:rPr sz="1450" b="1" i="0">
                <a:solidFill>
                  <a:srgbClr val="FFC9A3"/>
                </a:solidFill>
                <a:latin typeface="Arial"/>
              </a:rPr>
              <a:t>is the real engineering</a:t>
            </a:r>
            <a:r>
              <a:rPr sz="1450" b="0" i="0">
                <a:solidFill>
                  <a:srgbClr val="FFFFFF"/>
                </a:solidFill>
                <a:latin typeface="Arial"/>
              </a:rPr>
              <a:t> —</a:t>
            </a:r>
          </a:p>
          <a:p>
            <a:pPr algn="l">
              <a:lnSpc>
                <a:spcPct val="112000"/>
              </a:lnSpc>
            </a:pPr>
            <a:r>
              <a:rPr sz="1450" b="0" i="0">
                <a:solidFill>
                  <a:srgbClr val="FFFFFF"/>
                </a:solidFill>
                <a:latin typeface="Arial"/>
              </a:rPr>
              <a:t>and it’s </a:t>
            </a:r>
            <a:r>
              <a:rPr sz="1450" b="1" i="0">
                <a:solidFill>
                  <a:srgbClr val="FFFFFF"/>
                </a:solidFill>
                <a:latin typeface="Arial"/>
              </a:rPr>
              <a:t>hidden from review.</a:t>
            </a:r>
            <a:r>
              <a:rPr sz="1250" b="0" i="0">
                <a:solidFill>
                  <a:srgbClr val="DCE7F6"/>
                </a:solidFill>
                <a:latin typeface="Arial"/>
              </a:rPr>
              <a:t>  You can’t review a plan-of-work that was never written down.</a:t>
            </a:r>
          </a:p>
        </p:txBody>
      </p:sp>
      <p:sp>
        <p:nvSpPr>
          <p:cNvPr id="12" name="Rectangle 11"/>
          <p:cNvSpPr/>
          <p:nvPr/>
        </p:nvSpPr>
        <p:spPr>
          <a:xfrm>
            <a:off x="4773168" y="1463040"/>
            <a:ext cx="100584" cy="214884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8056" y="3767328"/>
            <a:ext cx="8257031" cy="786384"/>
          </a:xfrm>
          <a:prstGeom prst="roundRect">
            <a:avLst>
              <a:gd name="adj" fmla="val 8000"/>
            </a:avLst>
          </a:prstGeom>
          <a:solidFill>
            <a:srgbClr val="FFF7ED"/>
          </a:solidFill>
          <a:ln w="12700">
            <a:solidFill>
              <a:srgbClr val="F6D8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 y="3767328"/>
            <a:ext cx="8257031" cy="7863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82880" tIns="27432" bIns="27432"/>
          <a:lstStyle/>
          <a:p>
            <a:pPr algn="l">
              <a:lnSpc>
                <a:spcPct val="106000"/>
              </a:lnSpc>
            </a:pPr>
            <a:r>
              <a:rPr sz="1150" b="1" i="0">
                <a:solidFill>
                  <a:srgbClr val="C45C15"/>
                </a:solidFill>
                <a:latin typeface="Arial"/>
              </a:rPr>
              <a:t>From real runs:  </a:t>
            </a:r>
            <a:r>
              <a:rPr sz="1150" b="0" i="0">
                <a:solidFill>
                  <a:srgbClr val="374151"/>
                </a:solidFill>
                <a:latin typeface="Arial"/>
              </a:rPr>
              <a:t>a task compiled against a type a </a:t>
            </a:r>
            <a:r>
              <a:rPr sz="1150" b="1" i="0">
                <a:solidFill>
                  <a:srgbClr val="1F2937"/>
                </a:solidFill>
                <a:latin typeface="Arial"/>
              </a:rPr>
              <a:t>different</a:t>
            </a:r>
            <a:r>
              <a:rPr sz="1150" b="0" i="0">
                <a:solidFill>
                  <a:srgbClr val="374151"/>
                </a:solidFill>
                <a:latin typeface="Arial"/>
              </a:rPr>
              <a:t> task hadn’t produced yet — a dependency nothing in the plan ever surfaced.</a:t>
            </a:r>
          </a:p>
        </p:txBody>
      </p:sp>
      <p:sp>
        <p:nvSpPr>
          <p:cNvPr id="15" name="Rectangle 14"/>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 y="4992624"/>
            <a:ext cx="5486400" cy="182880"/>
          </a:xfrm>
          <a:prstGeom prst="rect">
            <a:avLst/>
          </a:prstGeom>
          <a:noFill/>
        </p:spPr>
        <p:txBody>
          <a:bodyPr wrap="square" anchor="t" lIns="54864" rIns="54864" tIns="27432" bIns="27432">
            <a:spAutoFit/>
          </a:bodyPr>
          <a:lstStyle/>
          <a:p>
            <a:pPr algn="l"/>
            <a:r>
              <a:rPr sz="800" b="0" i="0">
                <a:solidFill>
                  <a:srgbClr val="94A3B8"/>
                </a:solidFill>
                <a:latin typeface="Arial"/>
              </a:rPr>
              <a:t>Tosca Learns  ·  Agentic Engineering</a:t>
            </a:r>
          </a:p>
        </p:txBody>
      </p:sp>
      <p:sp>
        <p:nvSpPr>
          <p:cNvPr id="17" name="TextBox 16"/>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6858000" cy="603504"/>
          </a:xfrm>
          <a:prstGeom prst="rect">
            <a:avLst/>
          </a:prstGeom>
          <a:noFill/>
        </p:spPr>
        <p:txBody>
          <a:bodyPr wrap="square" anchor="ctr" lIns="54864" rIns="54864" tIns="27432" bIns="27432">
            <a:spAutoFit/>
          </a:bodyPr>
          <a:lstStyle/>
          <a:p>
            <a:pPr algn="l"/>
            <a:r>
              <a:rPr sz="1700" b="1" i="0">
                <a:solidFill>
                  <a:srgbClr val="BFD3F0"/>
                </a:solidFill>
                <a:latin typeface="Arial"/>
              </a:rPr>
              <a:t>②   </a:t>
            </a:r>
            <a:r>
              <a:rPr sz="2100" b="1" i="0">
                <a:solidFill>
                  <a:srgbClr val="FFFFFF"/>
                </a:solidFill>
                <a:latin typeface="Arial"/>
              </a:rPr>
              <a:t>The Agent Grades Its Own Homework</a:t>
            </a:r>
          </a:p>
        </p:txBody>
      </p:sp>
      <p:sp>
        <p:nvSpPr>
          <p:cNvPr id="5" name="Rounded Rectangle 4"/>
          <p:cNvSpPr/>
          <p:nvPr/>
        </p:nvSpPr>
        <p:spPr>
          <a:xfrm>
            <a:off x="7040880" y="256032"/>
            <a:ext cx="1691640" cy="329184"/>
          </a:xfrm>
          <a:prstGeom prst="roundRect">
            <a:avLst>
              <a:gd name="adj" fmla="val 50000"/>
            </a:avLst>
          </a:prstGeom>
          <a:solidFill>
            <a:srgbClr val="013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CFDEF5"/>
                </a:solidFill>
                <a:latin typeface="Arial"/>
              </a:rPr>
              <a:t>PROBLEM 2 / 3</a:t>
            </a:r>
          </a:p>
        </p:txBody>
      </p:sp>
      <p:sp>
        <p:nvSpPr>
          <p:cNvPr id="6" name="TextBox 5"/>
          <p:cNvSpPr txBox="1"/>
          <p:nvPr/>
        </p:nvSpPr>
        <p:spPr>
          <a:xfrm>
            <a:off x="448056" y="960120"/>
            <a:ext cx="8257031" cy="640080"/>
          </a:xfrm>
          <a:prstGeom prst="rect">
            <a:avLst/>
          </a:prstGeom>
          <a:noFill/>
        </p:spPr>
        <p:txBody>
          <a:bodyPr wrap="square" anchor="t" lIns="54864" rIns="54864" tIns="27432" bIns="27432">
            <a:spAutoFit/>
          </a:bodyPr>
          <a:lstStyle/>
          <a:p>
            <a:pPr algn="l">
              <a:lnSpc>
                <a:spcPct val="110000"/>
              </a:lnSpc>
            </a:pPr>
            <a:r>
              <a:rPr sz="1400" b="0" i="0">
                <a:solidFill>
                  <a:srgbClr val="374151"/>
                </a:solidFill>
                <a:latin typeface="Arial"/>
              </a:rPr>
              <a:t>Who decides a task is </a:t>
            </a:r>
            <a:r>
              <a:rPr sz="1400" b="1" i="0">
                <a:solidFill>
                  <a:srgbClr val="1F2937"/>
                </a:solidFill>
                <a:latin typeface="Arial"/>
              </a:rPr>
              <a:t>done</a:t>
            </a:r>
            <a:r>
              <a:rPr sz="1400" b="0" i="0">
                <a:solidFill>
                  <a:srgbClr val="374151"/>
                </a:solidFill>
                <a:latin typeface="Arial"/>
              </a:rPr>
              <a:t>?  The agent.  “Definition of done” becomes whatever the model’s output </a:t>
            </a:r>
            <a:r>
              <a:rPr sz="1400" b="1" i="0">
                <a:solidFill>
                  <a:srgbClr val="C45C15"/>
                </a:solidFill>
                <a:latin typeface="Arial"/>
              </a:rPr>
              <a:t>claims</a:t>
            </a:r>
            <a:r>
              <a:rPr sz="1400" b="0" i="0">
                <a:solidFill>
                  <a:srgbClr val="374151"/>
                </a:solidFill>
                <a:latin typeface="Arial"/>
              </a:rPr>
              <a:t> — with no deterministic check that the claim is </a:t>
            </a:r>
            <a:r>
              <a:rPr sz="1400" b="1" i="0">
                <a:solidFill>
                  <a:srgbClr val="01499B"/>
                </a:solidFill>
                <a:latin typeface="Arial"/>
              </a:rPr>
              <a:t>true.</a:t>
            </a:r>
          </a:p>
        </p:txBody>
      </p:sp>
      <p:sp>
        <p:nvSpPr>
          <p:cNvPr id="7" name="Rounded Rectangle 6"/>
          <p:cNvSpPr/>
          <p:nvPr/>
        </p:nvSpPr>
        <p:spPr>
          <a:xfrm>
            <a:off x="448056" y="1737360"/>
            <a:ext cx="8257031" cy="457200"/>
          </a:xfrm>
          <a:prstGeom prst="roundRect">
            <a:avLst>
              <a:gd name="adj" fmla="val 10000"/>
            </a:avLst>
          </a:prstGeom>
          <a:solidFill>
            <a:srgbClr val="FEE2E2"/>
          </a:solidFill>
          <a:ln w="12700">
            <a:solidFill>
              <a:srgbClr val="F3C6C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DC2626"/>
                </a:solidFill>
                <a:latin typeface="Arial"/>
              </a:rPr>
              <a:t>Green  ≠  correct</a:t>
            </a:r>
          </a:p>
        </p:txBody>
      </p:sp>
      <p:sp>
        <p:nvSpPr>
          <p:cNvPr id="8" name="Rounded Rectangle 7"/>
          <p:cNvSpPr/>
          <p:nvPr/>
        </p:nvSpPr>
        <p:spPr>
          <a:xfrm>
            <a:off x="448056" y="2340864"/>
            <a:ext cx="4078224" cy="1298448"/>
          </a:xfrm>
          <a:prstGeom prst="roundRect">
            <a:avLst>
              <a:gd name="adj" fmla="val 6000"/>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27432" bIns="27432"/>
          <a:lstStyle/>
          <a:p>
            <a:pPr algn="l">
              <a:lnSpc>
                <a:spcPct val="108000"/>
              </a:lnSpc>
              <a:spcAft>
                <a:spcPts val="500"/>
              </a:spcAft>
            </a:pPr>
            <a:r>
              <a:rPr sz="1400" b="1" i="0">
                <a:solidFill>
                  <a:srgbClr val="1F2937"/>
                </a:solidFill>
                <a:latin typeface="Arial"/>
              </a:rPr>
              <a:t>all the tests pass…</a:t>
            </a:r>
          </a:p>
          <a:p>
            <a:pPr algn="l">
              <a:lnSpc>
                <a:spcPct val="112000"/>
              </a:lnSpc>
            </a:pPr>
            <a:r>
              <a:rPr sz="1300" b="0" i="0">
                <a:solidFill>
                  <a:srgbClr val="374151"/>
                </a:solidFill>
                <a:latin typeface="Arial"/>
              </a:rPr>
              <a:t>over a feature that was </a:t>
            </a:r>
            <a:r>
              <a:rPr sz="1300" b="1" i="0">
                <a:solidFill>
                  <a:srgbClr val="DC2626"/>
                </a:solidFill>
                <a:latin typeface="Arial"/>
              </a:rPr>
              <a:t>never actually wired up.</a:t>
            </a:r>
          </a:p>
        </p:txBody>
      </p:sp>
      <p:sp>
        <p:nvSpPr>
          <p:cNvPr id="9" name="Rounded Rectangle 8"/>
          <p:cNvSpPr/>
          <p:nvPr/>
        </p:nvSpPr>
        <p:spPr>
          <a:xfrm>
            <a:off x="4626864" y="2340864"/>
            <a:ext cx="4078224" cy="1298448"/>
          </a:xfrm>
          <a:prstGeom prst="roundRect">
            <a:avLst>
              <a:gd name="adj" fmla="val 6000"/>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27432" bIns="27432"/>
          <a:lstStyle/>
          <a:p>
            <a:pPr algn="l">
              <a:lnSpc>
                <a:spcPct val="108000"/>
              </a:lnSpc>
              <a:spcAft>
                <a:spcPts val="500"/>
              </a:spcAft>
            </a:pPr>
            <a:r>
              <a:rPr sz="1400" b="1" i="0">
                <a:solidFill>
                  <a:srgbClr val="1F2937"/>
                </a:solidFill>
                <a:latin typeface="Arial"/>
              </a:rPr>
              <a:t>a “tests pass” check…</a:t>
            </a:r>
          </a:p>
          <a:p>
            <a:pPr algn="l">
              <a:lnSpc>
                <a:spcPct val="112000"/>
              </a:lnSpc>
            </a:pPr>
            <a:r>
              <a:rPr sz="1300" b="0" i="0">
                <a:solidFill>
                  <a:srgbClr val="374151"/>
                </a:solidFill>
                <a:latin typeface="Arial"/>
              </a:rPr>
              <a:t>that passes on code that </a:t>
            </a:r>
            <a:r>
              <a:rPr sz="1300" b="1" i="0">
                <a:solidFill>
                  <a:srgbClr val="DC2626"/>
                </a:solidFill>
                <a:latin typeface="Arial"/>
              </a:rPr>
              <a:t>doesn’t even compile.</a:t>
            </a:r>
          </a:p>
        </p:txBody>
      </p:sp>
      <p:sp>
        <p:nvSpPr>
          <p:cNvPr id="10" name="Rounded Rectangle 9"/>
          <p:cNvSpPr/>
          <p:nvPr/>
        </p:nvSpPr>
        <p:spPr>
          <a:xfrm>
            <a:off x="448056" y="3803904"/>
            <a:ext cx="8257031" cy="749808"/>
          </a:xfrm>
          <a:prstGeom prst="roundRect">
            <a:avLst>
              <a:gd name="adj" fmla="val 8000"/>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6000"/>
              </a:lnSpc>
            </a:pPr>
            <a:r>
              <a:rPr sz="1400" b="0" i="0">
                <a:solidFill>
                  <a:srgbClr val="FFFFFF"/>
                </a:solidFill>
                <a:latin typeface="Arial"/>
              </a:rPr>
              <a:t>A prompt is very good at telling you </a:t>
            </a:r>
            <a:r>
              <a:rPr sz="1400" b="1" i="0">
                <a:solidFill>
                  <a:srgbClr val="FFC9A3"/>
                </a:solidFill>
                <a:latin typeface="Arial"/>
              </a:rPr>
              <a:t>what you want to hear.</a:t>
            </a:r>
          </a:p>
        </p:txBody>
      </p:sp>
      <p:sp>
        <p:nvSpPr>
          <p:cNvPr id="11" name="Rectangle 10"/>
          <p:cNvSpPr/>
          <p:nvPr/>
        </p:nvSpPr>
        <p:spPr>
          <a:xfrm>
            <a:off x="448056" y="3803904"/>
            <a:ext cx="109728" cy="749808"/>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 y="4992624"/>
            <a:ext cx="5486400" cy="182880"/>
          </a:xfrm>
          <a:prstGeom prst="rect">
            <a:avLst/>
          </a:prstGeom>
          <a:noFill/>
        </p:spPr>
        <p:txBody>
          <a:bodyPr wrap="square" anchor="t" lIns="54864" rIns="54864" tIns="27432" bIns="27432">
            <a:spAutoFit/>
          </a:bodyPr>
          <a:lstStyle/>
          <a:p>
            <a:pPr algn="l"/>
            <a:r>
              <a:rPr sz="800" b="0" i="0">
                <a:solidFill>
                  <a:srgbClr val="94A3B8"/>
                </a:solidFill>
                <a:latin typeface="Arial"/>
              </a:rPr>
              <a:t>Tosca Learns  ·  Agentic Engineering</a:t>
            </a:r>
          </a:p>
        </p:txBody>
      </p:sp>
      <p:sp>
        <p:nvSpPr>
          <p:cNvPr id="14" name="TextBox 13"/>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6858000" cy="603504"/>
          </a:xfrm>
          <a:prstGeom prst="rect">
            <a:avLst/>
          </a:prstGeom>
          <a:noFill/>
        </p:spPr>
        <p:txBody>
          <a:bodyPr wrap="square" anchor="ctr" lIns="54864" rIns="54864" tIns="27432" bIns="27432">
            <a:spAutoFit/>
          </a:bodyPr>
          <a:lstStyle/>
          <a:p>
            <a:pPr algn="l"/>
            <a:r>
              <a:rPr sz="1700" b="1" i="0">
                <a:solidFill>
                  <a:srgbClr val="BFD3F0"/>
                </a:solidFill>
                <a:latin typeface="Arial"/>
              </a:rPr>
              <a:t>③   </a:t>
            </a:r>
            <a:r>
              <a:rPr sz="2100" b="1" i="0">
                <a:solidFill>
                  <a:srgbClr val="FFFFFF"/>
                </a:solidFill>
                <a:latin typeface="Arial"/>
              </a:rPr>
              <a:t>…And It’ll Move the Goalposts to Pass</a:t>
            </a:r>
          </a:p>
        </p:txBody>
      </p:sp>
      <p:sp>
        <p:nvSpPr>
          <p:cNvPr id="5" name="Rounded Rectangle 4"/>
          <p:cNvSpPr/>
          <p:nvPr/>
        </p:nvSpPr>
        <p:spPr>
          <a:xfrm>
            <a:off x="7040880" y="256032"/>
            <a:ext cx="1691640" cy="329184"/>
          </a:xfrm>
          <a:prstGeom prst="roundRect">
            <a:avLst>
              <a:gd name="adj" fmla="val 50000"/>
            </a:avLst>
          </a:prstGeom>
          <a:solidFill>
            <a:srgbClr val="013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CFDEF5"/>
                </a:solidFill>
                <a:latin typeface="Arial"/>
              </a:rPr>
              <a:t>PROBLEM 3 / 3</a:t>
            </a:r>
          </a:p>
        </p:txBody>
      </p:sp>
      <p:sp>
        <p:nvSpPr>
          <p:cNvPr id="6" name="TextBox 5"/>
          <p:cNvSpPr txBox="1"/>
          <p:nvPr/>
        </p:nvSpPr>
        <p:spPr>
          <a:xfrm>
            <a:off x="448056" y="960120"/>
            <a:ext cx="8257031" cy="676656"/>
          </a:xfrm>
          <a:prstGeom prst="rect">
            <a:avLst/>
          </a:prstGeom>
          <a:noFill/>
        </p:spPr>
        <p:txBody>
          <a:bodyPr wrap="square" anchor="t" lIns="54864" rIns="54864" tIns="27432" bIns="27432">
            <a:spAutoFit/>
          </a:bodyPr>
          <a:lstStyle/>
          <a:p>
            <a:pPr algn="l">
              <a:lnSpc>
                <a:spcPct val="108000"/>
              </a:lnSpc>
              <a:spcAft>
                <a:spcPts val="400"/>
              </a:spcAft>
            </a:pPr>
            <a:r>
              <a:rPr sz="1400" b="0" i="0">
                <a:solidFill>
                  <a:srgbClr val="374151"/>
                </a:solidFill>
                <a:latin typeface="Arial"/>
              </a:rPr>
              <a:t>Tell an agent </a:t>
            </a:r>
            <a:r>
              <a:rPr sz="1400" b="1" i="1">
                <a:solidFill>
                  <a:srgbClr val="1F2937"/>
                </a:solidFill>
                <a:latin typeface="Arial"/>
              </a:rPr>
              <a:t>“make the tests pass,”</a:t>
            </a:r>
            <a:r>
              <a:rPr sz="1400" b="0" i="0">
                <a:solidFill>
                  <a:srgbClr val="374151"/>
                </a:solidFill>
                <a:latin typeface="Arial"/>
              </a:rPr>
              <a:t> and one of the easiest paths is to </a:t>
            </a:r>
            <a:r>
              <a:rPr sz="1400" b="1" i="0">
                <a:solidFill>
                  <a:srgbClr val="DC2626"/>
                </a:solidFill>
                <a:latin typeface="Arial"/>
              </a:rPr>
              <a:t>edit the test.</a:t>
            </a:r>
          </a:p>
          <a:p>
            <a:pPr algn="l">
              <a:lnSpc>
                <a:spcPct val="108000"/>
              </a:lnSpc>
            </a:pPr>
            <a:r>
              <a:rPr sz="1400" b="0" i="0">
                <a:solidFill>
                  <a:srgbClr val="374151"/>
                </a:solidFill>
                <a:latin typeface="Arial"/>
              </a:rPr>
              <a:t>Or it quietly writes files </a:t>
            </a:r>
            <a:r>
              <a:rPr sz="1400" b="1" i="0">
                <a:solidFill>
                  <a:srgbClr val="DC2626"/>
                </a:solidFill>
                <a:latin typeface="Arial"/>
              </a:rPr>
              <a:t>outside the task it was given</a:t>
            </a:r>
            <a:r>
              <a:rPr sz="1400" b="0" i="0">
                <a:solidFill>
                  <a:srgbClr val="374151"/>
                </a:solidFill>
                <a:latin typeface="Arial"/>
              </a:rPr>
              <a:t> — touching things it shouldn’t.</a:t>
            </a:r>
          </a:p>
        </p:txBody>
      </p:sp>
      <p:sp>
        <p:nvSpPr>
          <p:cNvPr id="7" name="Rounded Rectangle 6"/>
          <p:cNvSpPr/>
          <p:nvPr/>
        </p:nvSpPr>
        <p:spPr>
          <a:xfrm>
            <a:off x="448056" y="2286000"/>
            <a:ext cx="8257031" cy="566928"/>
          </a:xfrm>
          <a:prstGeom prst="roundRect">
            <a:avLst>
              <a:gd name="adj" fmla="val 10000"/>
            </a:avLst>
          </a:prstGeom>
          <a:solidFill>
            <a:srgbClr val="FEE2E2"/>
          </a:solidFill>
          <a:ln w="12700">
            <a:solidFill>
              <a:srgbClr val="F3C6C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374151"/>
                </a:solidFill>
                <a:latin typeface="Arial"/>
              </a:rPr>
              <a:t>In a one-shot, </a:t>
            </a:r>
            <a:r>
              <a:rPr sz="1400" b="1" i="0">
                <a:solidFill>
                  <a:srgbClr val="DC2626"/>
                </a:solidFill>
                <a:latin typeface="Arial"/>
              </a:rPr>
              <a:t>nothing stops either.</a:t>
            </a:r>
            <a:r>
              <a:rPr sz="1400" b="0" i="0">
                <a:solidFill>
                  <a:srgbClr val="374151"/>
                </a:solidFill>
                <a:latin typeface="Arial"/>
              </a:rPr>
              <a:t>  You get a green check and a quiet lie.</a:t>
            </a:r>
          </a:p>
        </p:txBody>
      </p:sp>
      <p:sp>
        <p:nvSpPr>
          <p:cNvPr id="8" name="Rounded Rectangle 7"/>
          <p:cNvSpPr/>
          <p:nvPr/>
        </p:nvSpPr>
        <p:spPr>
          <a:xfrm>
            <a:off x="448056" y="3072384"/>
            <a:ext cx="8257031" cy="1481328"/>
          </a:xfrm>
          <a:prstGeom prst="roundRect">
            <a:avLst>
              <a:gd name="adj" fmla="val 6000"/>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37744" tIns="27432" bIns="27432"/>
          <a:lstStyle/>
          <a:p>
            <a:pPr algn="l">
              <a:spcAft>
                <a:spcPts val="500"/>
              </a:spcAft>
            </a:pPr>
            <a:r>
              <a:rPr sz="1150" b="1" i="0">
                <a:solidFill>
                  <a:srgbClr val="BFD3F0"/>
                </a:solidFill>
                <a:latin typeface="Arial"/>
              </a:rPr>
              <a:t>THE FIX IS DETERMINISTIC, NOT HOPEFUL</a:t>
            </a:r>
          </a:p>
          <a:p>
            <a:pPr algn="l">
              <a:lnSpc>
                <a:spcPct val="112000"/>
              </a:lnSpc>
            </a:pPr>
            <a:r>
              <a:rPr sz="1500" b="0" i="0">
                <a:solidFill>
                  <a:srgbClr val="FFFFFF"/>
                </a:solidFill>
                <a:latin typeface="Arial"/>
              </a:rPr>
              <a:t>The implementation task is </a:t>
            </a:r>
            <a:r>
              <a:rPr sz="1500" b="1" i="0">
                <a:solidFill>
                  <a:srgbClr val="FFC9A3"/>
                </a:solidFill>
                <a:latin typeface="Arial"/>
              </a:rPr>
              <a:t>only allowed to write the source</a:t>
            </a:r>
            <a:r>
              <a:rPr sz="1500" b="0" i="0">
                <a:solidFill>
                  <a:srgbClr val="FFFFFF"/>
                </a:solidFill>
                <a:latin typeface="Arial"/>
              </a:rPr>
              <a:t> — its scope </a:t>
            </a:r>
            <a:r>
              <a:rPr sz="1500" b="1" i="0">
                <a:solidFill>
                  <a:srgbClr val="FFFFFF"/>
                </a:solidFill>
                <a:latin typeface="Arial"/>
              </a:rPr>
              <a:t>excludes the test files</a:t>
            </a:r>
            <a:r>
              <a:rPr sz="1400" b="0" i="0">
                <a:solidFill>
                  <a:srgbClr val="DCE7F6"/>
                </a:solidFill>
                <a:latin typeface="Arial"/>
              </a:rPr>
              <a:t>.  Editing a test to pass is a hard, mechanical failure.  </a:t>
            </a:r>
            <a:r>
              <a:rPr sz="1400" b="1" i="0">
                <a:solidFill>
                  <a:srgbClr val="FFFFFF"/>
                </a:solidFill>
                <a:latin typeface="Arial"/>
              </a:rPr>
              <a:t>No trust required.</a:t>
            </a:r>
          </a:p>
        </p:txBody>
      </p:sp>
      <p:sp>
        <p:nvSpPr>
          <p:cNvPr id="9" name="Rectangle 8"/>
          <p:cNvSpPr/>
          <p:nvPr/>
        </p:nvSpPr>
        <p:spPr>
          <a:xfrm>
            <a:off x="448056" y="3072384"/>
            <a:ext cx="109728" cy="1481328"/>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 y="4992624"/>
            <a:ext cx="5486400" cy="182880"/>
          </a:xfrm>
          <a:prstGeom prst="rect">
            <a:avLst/>
          </a:prstGeom>
          <a:noFill/>
        </p:spPr>
        <p:txBody>
          <a:bodyPr wrap="square" anchor="t" lIns="54864" rIns="54864" tIns="27432" bIns="27432">
            <a:spAutoFit/>
          </a:bodyPr>
          <a:lstStyle/>
          <a:p>
            <a:pPr algn="l"/>
            <a:r>
              <a:rPr sz="800" b="0" i="0">
                <a:solidFill>
                  <a:srgbClr val="94A3B8"/>
                </a:solidFill>
                <a:latin typeface="Arial"/>
              </a:rPr>
              <a:t>Tosca Learns  ·  Agentic Engineering</a:t>
            </a:r>
          </a:p>
        </p:txBody>
      </p:sp>
      <p:sp>
        <p:nvSpPr>
          <p:cNvPr id="12" name="TextBox 11"/>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6858000" cy="603504"/>
          </a:xfrm>
          <a:prstGeom prst="rect">
            <a:avLst/>
          </a:prstGeom>
          <a:noFill/>
        </p:spPr>
        <p:txBody>
          <a:bodyPr wrap="square" anchor="ctr" lIns="54864" rIns="54864" tIns="27432" bIns="27432">
            <a:spAutoFit/>
          </a:bodyPr>
          <a:lstStyle/>
          <a:p>
            <a:pPr algn="l"/>
            <a:r>
              <a:rPr sz="2100" b="1" i="0">
                <a:solidFill>
                  <a:srgbClr val="FFFFFF"/>
                </a:solidFill>
                <a:latin typeface="Arial"/>
              </a:rPr>
              <a:t>A Prompt Proposes — Nothing Certifies</a:t>
            </a:r>
          </a:p>
        </p:txBody>
      </p:sp>
      <p:sp>
        <p:nvSpPr>
          <p:cNvPr id="5" name="TextBox 4"/>
          <p:cNvSpPr txBox="1"/>
          <p:nvPr/>
        </p:nvSpPr>
        <p:spPr>
          <a:xfrm>
            <a:off x="448056" y="914400"/>
            <a:ext cx="8257031" cy="292608"/>
          </a:xfrm>
          <a:prstGeom prst="rect">
            <a:avLst/>
          </a:prstGeom>
          <a:noFill/>
        </p:spPr>
        <p:txBody>
          <a:bodyPr wrap="square" anchor="t" lIns="54864" rIns="54864" tIns="27432" bIns="27432">
            <a:spAutoFit/>
          </a:bodyPr>
          <a:lstStyle/>
          <a:p>
            <a:pPr algn="l"/>
            <a:r>
              <a:rPr sz="1350" b="0" i="0">
                <a:solidFill>
                  <a:srgbClr val="374151"/>
                </a:solidFill>
                <a:latin typeface="Arial"/>
              </a:rPr>
              <a:t>Line the three up and the same gap appears every time:</a:t>
            </a:r>
          </a:p>
        </p:txBody>
      </p:sp>
      <p:graphicFrame>
        <p:nvGraphicFramePr>
          <p:cNvPr id="6" name="Table 5"/>
          <p:cNvGraphicFramePr>
            <a:graphicFrameLocks noGrp="1"/>
          </p:cNvGraphicFramePr>
          <p:nvPr/>
        </p:nvGraphicFramePr>
        <p:xfrm>
          <a:off x="448056" y="1298448"/>
          <a:ext cx="8257032" cy="1783080"/>
        </p:xfrm>
        <a:graphic>
          <a:graphicData uri="http://schemas.openxmlformats.org/drawingml/2006/table">
            <a:tbl>
              <a:tblPr firstRow="1">
                <a:tableStyleId>{5C22544A-7EE6-4342-B048-85BDC9FD1C3A}</a:tableStyleId>
              </a:tblPr>
              <a:tblGrid>
                <a:gridCol w="4343400"/>
                <a:gridCol w="3913632"/>
              </a:tblGrid>
              <a:tr h="445770">
                <a:tc>
                  <a:txBody>
                    <a:bodyPr wrap="square"/>
                    <a:lstStyle/>
                    <a:p>
                      <a:r>
                        <a:rPr sz="1300" b="1">
                          <a:solidFill>
                            <a:srgbClr val="FFFFFF"/>
                          </a:solidFill>
                          <a:latin typeface="Arial"/>
                        </a:rPr>
                        <a:t>What we one-shot</a:t>
                      </a:r>
                    </a:p>
                  </a:txBody>
                  <a:tcPr anchor="ctr" marL="109728" marR="91440" marT="45720" marB="45720">
                    <a:solidFill>
                      <a:srgbClr val="01499B"/>
                    </a:solidFill>
                  </a:tcPr>
                </a:tc>
                <a:tc>
                  <a:txBody>
                    <a:bodyPr wrap="square"/>
                    <a:lstStyle/>
                    <a:p>
                      <a:r>
                        <a:rPr sz="1300" b="1">
                          <a:solidFill>
                            <a:srgbClr val="FFFFFF"/>
                          </a:solidFill>
                          <a:latin typeface="Arial"/>
                        </a:rPr>
                        <a:t>What’s missing</a:t>
                      </a:r>
                    </a:p>
                  </a:txBody>
                  <a:tcPr anchor="ctr" marL="109728" marR="91440" marT="45720" marB="45720">
                    <a:solidFill>
                      <a:srgbClr val="01499B"/>
                    </a:solidFill>
                  </a:tcPr>
                </a:tc>
              </a:tr>
              <a:tr h="445770">
                <a:tc>
                  <a:txBody>
                    <a:bodyPr wrap="square"/>
                    <a:lstStyle/>
                    <a:p>
                      <a:r>
                        <a:rPr sz="1250" b="1">
                          <a:solidFill>
                            <a:srgbClr val="01499B"/>
                          </a:solidFill>
                          <a:latin typeface="Arial"/>
                        </a:rPr>
                        <a:t>The agent DECIDES the breakdown</a:t>
                      </a:r>
                    </a:p>
                  </a:txBody>
                  <a:tcPr anchor="ctr" marL="109728" marR="91440" marT="45720" marB="45720">
                    <a:solidFill>
                      <a:srgbClr val="F8FAFC"/>
                    </a:solidFill>
                  </a:tcPr>
                </a:tc>
                <a:tc>
                  <a:txBody>
                    <a:bodyPr wrap="square"/>
                    <a:lstStyle/>
                    <a:p>
                      <a:r>
                        <a:rPr sz="1250" b="0">
                          <a:solidFill>
                            <a:srgbClr val="374151"/>
                          </a:solidFill>
                          <a:latin typeface="Arial"/>
                        </a:rPr>
                        <a:t>a visible DAG you can review</a:t>
                      </a:r>
                    </a:p>
                  </a:txBody>
                  <a:tcPr anchor="ctr" marL="109728" marR="91440" marT="45720" marB="45720">
                    <a:solidFill>
                      <a:srgbClr val="F8FAFC"/>
                    </a:solidFill>
                  </a:tcPr>
                </a:tc>
              </a:tr>
              <a:tr h="445770">
                <a:tc>
                  <a:txBody>
                    <a:bodyPr wrap="square"/>
                    <a:lstStyle/>
                    <a:p>
                      <a:r>
                        <a:rPr sz="1250" b="1">
                          <a:solidFill>
                            <a:srgbClr val="01499B"/>
                          </a:solidFill>
                          <a:latin typeface="Arial"/>
                        </a:rPr>
                        <a:t>The agent WRITES each task’s prompt in its head</a:t>
                      </a:r>
                    </a:p>
                  </a:txBody>
                  <a:tcPr anchor="ctr" marL="109728" marR="91440" marT="45720" marB="45720">
                    <a:solidFill>
                      <a:srgbClr val="FFFFFF"/>
                    </a:solidFill>
                  </a:tcPr>
                </a:tc>
                <a:tc>
                  <a:txBody>
                    <a:bodyPr wrap="square"/>
                    <a:lstStyle/>
                    <a:p>
                      <a:r>
                        <a:rPr sz="1250" b="0">
                          <a:solidFill>
                            <a:srgbClr val="374151"/>
                          </a:solidFill>
                          <a:latin typeface="Arial"/>
                        </a:rPr>
                        <a:t>the prompts, out in the open</a:t>
                      </a:r>
                    </a:p>
                  </a:txBody>
                  <a:tcPr anchor="ctr" marL="109728" marR="91440" marT="45720" marB="45720">
                    <a:solidFill>
                      <a:srgbClr val="FFFFFF"/>
                    </a:solidFill>
                  </a:tcPr>
                </a:tc>
              </a:tr>
              <a:tr h="445770">
                <a:tc>
                  <a:txBody>
                    <a:bodyPr wrap="square"/>
                    <a:lstStyle/>
                    <a:p>
                      <a:r>
                        <a:rPr sz="1250" b="1">
                          <a:solidFill>
                            <a:srgbClr val="01499B"/>
                          </a:solidFill>
                          <a:latin typeface="Arial"/>
                        </a:rPr>
                        <a:t>The agent DECLARES it’s done</a:t>
                      </a:r>
                    </a:p>
                  </a:txBody>
                  <a:tcPr anchor="ctr" marL="109728" marR="91440" marT="45720" marB="45720">
                    <a:solidFill>
                      <a:srgbClr val="F8FAFC"/>
                    </a:solidFill>
                  </a:tcPr>
                </a:tc>
                <a:tc>
                  <a:txBody>
                    <a:bodyPr wrap="square"/>
                    <a:lstStyle/>
                    <a:p>
                      <a:r>
                        <a:rPr sz="1250" b="0">
                          <a:solidFill>
                            <a:srgbClr val="374151"/>
                          </a:solidFill>
                          <a:latin typeface="Arial"/>
                        </a:rPr>
                        <a:t>a deterministic gate that proves it</a:t>
                      </a:r>
                    </a:p>
                  </a:txBody>
                  <a:tcPr anchor="ctr" marL="109728" marR="91440" marT="45720" marB="45720">
                    <a:solidFill>
                      <a:srgbClr val="F8FAFC"/>
                    </a:solidFill>
                  </a:tcPr>
                </a:tc>
              </a:tr>
            </a:tbl>
          </a:graphicData>
        </a:graphic>
      </p:graphicFrame>
      <p:sp>
        <p:nvSpPr>
          <p:cNvPr id="7" name="Rounded Rectangle 6"/>
          <p:cNvSpPr/>
          <p:nvPr/>
        </p:nvSpPr>
        <p:spPr>
          <a:xfrm>
            <a:off x="448056" y="3310128"/>
            <a:ext cx="8257031" cy="603504"/>
          </a:xfrm>
          <a:prstGeom prst="roundRect">
            <a:avLst>
              <a:gd name="adj" fmla="val 10000"/>
            </a:avLst>
          </a:prstGeom>
          <a:solidFill>
            <a:srgbClr val="FFF7ED"/>
          </a:solidFill>
          <a:ln w="12700">
            <a:solidFill>
              <a:srgbClr val="F6D8B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374151"/>
                </a:solidFill>
                <a:latin typeface="Arial"/>
              </a:rPr>
              <a:t>We’ve automated the </a:t>
            </a:r>
            <a:r>
              <a:rPr sz="1400" b="1" i="0">
                <a:solidFill>
                  <a:srgbClr val="01499B"/>
                </a:solidFill>
                <a:latin typeface="Arial"/>
              </a:rPr>
              <a:t>proposing.</a:t>
            </a:r>
            <a:r>
              <a:rPr sz="1400" b="0" i="0">
                <a:solidFill>
                  <a:srgbClr val="374151"/>
                </a:solidFill>
                <a:latin typeface="Arial"/>
              </a:rPr>
              <a:t>   We </a:t>
            </a:r>
            <a:r>
              <a:rPr sz="1400" b="1" i="0">
                <a:solidFill>
                  <a:srgbClr val="C45C15"/>
                </a:solidFill>
                <a:latin typeface="Arial"/>
              </a:rPr>
              <a:t>skipped the certifying.</a:t>
            </a:r>
          </a:p>
        </p:txBody>
      </p:sp>
      <p:sp>
        <p:nvSpPr>
          <p:cNvPr id="8" name="Rounded Rectangle 7"/>
          <p:cNvSpPr/>
          <p:nvPr/>
        </p:nvSpPr>
        <p:spPr>
          <a:xfrm>
            <a:off x="448056" y="4078224"/>
            <a:ext cx="8257031" cy="566928"/>
          </a:xfrm>
          <a:prstGeom prst="roundRect">
            <a:avLst>
              <a:gd name="adj" fmla="val 8000"/>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latin typeface="Arial"/>
              </a:rPr>
              <a:t>That skipped step is the question.</a:t>
            </a:r>
          </a:p>
        </p:txBody>
      </p:sp>
      <p:sp>
        <p:nvSpPr>
          <p:cNvPr id="9" name="Rectangle 8"/>
          <p:cNvSpPr/>
          <p:nvPr/>
        </p:nvSpPr>
        <p:spPr>
          <a:xfrm>
            <a:off x="448056" y="4078224"/>
            <a:ext cx="109728" cy="566928"/>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 y="4992624"/>
            <a:ext cx="5486400" cy="182880"/>
          </a:xfrm>
          <a:prstGeom prst="rect">
            <a:avLst/>
          </a:prstGeom>
          <a:noFill/>
        </p:spPr>
        <p:txBody>
          <a:bodyPr wrap="square" anchor="t" lIns="54864" rIns="54864" tIns="27432" bIns="27432">
            <a:spAutoFit/>
          </a:bodyPr>
          <a:lstStyle/>
          <a:p>
            <a:pPr algn="l"/>
            <a:r>
              <a:rPr sz="800" b="0" i="0">
                <a:solidFill>
                  <a:srgbClr val="94A3B8"/>
                </a:solidFill>
                <a:latin typeface="Arial"/>
              </a:rPr>
              <a:t>Tosca Learns  ·  Agentic Engineering</a:t>
            </a:r>
          </a:p>
        </p:txBody>
      </p:sp>
      <p:sp>
        <p:nvSpPr>
          <p:cNvPr id="12" name="TextBox 11"/>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6858000" cy="603504"/>
          </a:xfrm>
          <a:prstGeom prst="rect">
            <a:avLst/>
          </a:prstGeom>
          <a:noFill/>
        </p:spPr>
        <p:txBody>
          <a:bodyPr wrap="square" anchor="ctr" lIns="54864" rIns="54864" tIns="27432" bIns="27432">
            <a:spAutoFit/>
          </a:bodyPr>
          <a:lstStyle/>
          <a:p>
            <a:pPr algn="l"/>
            <a:r>
              <a:rPr sz="2100" b="1" i="0">
                <a:solidFill>
                  <a:srgbClr val="FFFFFF"/>
                </a:solidFill>
                <a:latin typeface="Arial"/>
              </a:rPr>
              <a:t>My First Guess: Beads</a:t>
            </a:r>
          </a:p>
        </p:txBody>
      </p:sp>
      <p:sp>
        <p:nvSpPr>
          <p:cNvPr id="5" name="Rounded Rectangle 4"/>
          <p:cNvSpPr/>
          <p:nvPr/>
        </p:nvSpPr>
        <p:spPr>
          <a:xfrm>
            <a:off x="7040880" y="256032"/>
            <a:ext cx="1691640" cy="329184"/>
          </a:xfrm>
          <a:prstGeom prst="roundRect">
            <a:avLst>
              <a:gd name="adj" fmla="val 50000"/>
            </a:avLst>
          </a:prstGeom>
          <a:solidFill>
            <a:srgbClr val="013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CFDEF5"/>
                </a:solidFill>
                <a:latin typeface="Arial"/>
              </a:rPr>
              <a:t>MARCH 2026</a:t>
            </a:r>
          </a:p>
        </p:txBody>
      </p:sp>
      <p:sp>
        <p:nvSpPr>
          <p:cNvPr id="6" name="Rounded Rectangle 5"/>
          <p:cNvSpPr/>
          <p:nvPr/>
        </p:nvSpPr>
        <p:spPr>
          <a:xfrm>
            <a:off x="448056" y="1078992"/>
            <a:ext cx="8257031" cy="713232"/>
          </a:xfrm>
          <a:prstGeom prst="roundRect">
            <a:avLst>
              <a:gd name="adj" fmla="val 8000"/>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54864" tIns="27432" bIns="27432"/>
          <a:lstStyle/>
          <a:p>
            <a:pPr algn="l">
              <a:lnSpc>
                <a:spcPct val="106000"/>
              </a:lnSpc>
            </a:pPr>
            <a:r>
              <a:rPr sz="1500" b="1" i="0">
                <a:solidFill>
                  <a:srgbClr val="01499B"/>
                </a:solidFill>
                <a:latin typeface="Arial"/>
              </a:rPr>
              <a:t>Beads</a:t>
            </a:r>
            <a:r>
              <a:rPr sz="1500" b="0" i="1">
                <a:solidFill>
                  <a:srgbClr val="374151"/>
                </a:solidFill>
                <a:latin typeface="Arial"/>
              </a:rPr>
              <a:t>  —  “a distributed graph issue tracker for AI agents.”</a:t>
            </a:r>
          </a:p>
        </p:txBody>
      </p:sp>
      <p:sp>
        <p:nvSpPr>
          <p:cNvPr id="7" name="Rectangle 6"/>
          <p:cNvSpPr/>
          <p:nvPr/>
        </p:nvSpPr>
        <p:spPr>
          <a:xfrm>
            <a:off x="448056" y="1078992"/>
            <a:ext cx="91440" cy="713232"/>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 y="2011680"/>
            <a:ext cx="8257031" cy="1188720"/>
          </a:xfrm>
          <a:prstGeom prst="rect">
            <a:avLst/>
          </a:prstGeom>
          <a:noFill/>
        </p:spPr>
        <p:txBody>
          <a:bodyPr wrap="square" anchor="t" lIns="54864" rIns="54864" tIns="27432" bIns="27432">
            <a:spAutoFit/>
          </a:bodyPr>
          <a:lstStyle/>
          <a:p>
            <a:pPr algn="l">
              <a:lnSpc>
                <a:spcPct val="116000"/>
              </a:lnSpc>
              <a:spcAft>
                <a:spcPts val="600"/>
              </a:spcAft>
            </a:pPr>
            <a:r>
              <a:rPr sz="1400" b="0" i="0">
                <a:solidFill>
                  <a:srgbClr val="374151"/>
                </a:solidFill>
                <a:latin typeface="Arial"/>
              </a:rPr>
              <a:t>A real </a:t>
            </a:r>
            <a:r>
              <a:rPr sz="1400" b="1" i="0">
                <a:solidFill>
                  <a:srgbClr val="01499B"/>
                </a:solidFill>
                <a:latin typeface="Arial"/>
              </a:rPr>
              <a:t>dependency graph</a:t>
            </a:r>
            <a:r>
              <a:rPr sz="1400" b="0" i="0">
                <a:solidFill>
                  <a:srgbClr val="374151"/>
                </a:solidFill>
                <a:latin typeface="Arial"/>
              </a:rPr>
              <a:t> of tasks, persistent across long agent sessions, with </a:t>
            </a:r>
            <a:r>
              <a:rPr sz="1400" b="1" i="0">
                <a:solidFill>
                  <a:srgbClr val="1F2937"/>
                </a:solidFill>
                <a:latin typeface="Courier New"/>
              </a:rPr>
              <a:t>ready</a:t>
            </a:r>
            <a:r>
              <a:rPr sz="1400" b="0" i="0">
                <a:solidFill>
                  <a:srgbClr val="374151"/>
                </a:solidFill>
                <a:latin typeface="Arial"/>
              </a:rPr>
              <a:t>-task detection.</a:t>
            </a:r>
          </a:p>
          <a:p>
            <a:pPr algn="l">
              <a:lnSpc>
                <a:spcPct val="116000"/>
              </a:lnSpc>
            </a:pPr>
            <a:r>
              <a:rPr sz="1400" b="0" i="0">
                <a:solidFill>
                  <a:srgbClr val="374151"/>
                </a:solidFill>
                <a:latin typeface="Arial"/>
              </a:rPr>
              <a:t>Genuinely clever. </a:t>
            </a:r>
            <a:r>
              <a:rPr sz="1400" b="1" i="0">
                <a:solidFill>
                  <a:srgbClr val="C45C15"/>
                </a:solidFill>
                <a:latin typeface="Arial"/>
              </a:rPr>
              <a:t>I was hooked.</a:t>
            </a:r>
          </a:p>
        </p:txBody>
      </p:sp>
      <p:sp>
        <p:nvSpPr>
          <p:cNvPr id="9" name="Rounded Rectangle 8"/>
          <p:cNvSpPr/>
          <p:nvPr/>
        </p:nvSpPr>
        <p:spPr>
          <a:xfrm>
            <a:off x="448056" y="3419856"/>
            <a:ext cx="8257031" cy="676656"/>
          </a:xfrm>
          <a:prstGeom prst="roundRect">
            <a:avLst>
              <a:gd name="adj" fmla="val 10000"/>
            </a:avLst>
          </a:prstGeom>
          <a:solidFill>
            <a:srgbClr val="FFF7ED"/>
          </a:solidFill>
          <a:ln w="12700">
            <a:solidFill>
              <a:srgbClr val="F6D8B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0" i="1">
                <a:solidFill>
                  <a:srgbClr val="374151"/>
                </a:solidFill>
                <a:latin typeface="Arial"/>
              </a:rPr>
              <a:t>Full disclosure: a certain </a:t>
            </a:r>
            <a:r>
              <a:rPr sz="1250" b="1" i="1">
                <a:solidFill>
                  <a:srgbClr val="C45C15"/>
                </a:solidFill>
                <a:latin typeface="Arial"/>
              </a:rPr>
              <a:t>Gastown</a:t>
            </a:r>
            <a:r>
              <a:rPr sz="1250" b="0" i="1">
                <a:solidFill>
                  <a:srgbClr val="374151"/>
                </a:solidFill>
                <a:latin typeface="Arial"/>
              </a:rPr>
              <a:t> obsession may have helped.</a:t>
            </a:r>
          </a:p>
        </p:txBody>
      </p:sp>
      <p:sp>
        <p:nvSpPr>
          <p:cNvPr id="10" name="Rectangle 9"/>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 y="4992624"/>
            <a:ext cx="5486400" cy="182880"/>
          </a:xfrm>
          <a:prstGeom prst="rect">
            <a:avLst/>
          </a:prstGeom>
          <a:noFill/>
        </p:spPr>
        <p:txBody>
          <a:bodyPr wrap="square" anchor="t" lIns="54864" rIns="54864" tIns="27432" bIns="27432">
            <a:spAutoFit/>
          </a:bodyPr>
          <a:lstStyle/>
          <a:p>
            <a:pPr algn="l"/>
            <a:r>
              <a:rPr sz="800" b="0" i="0">
                <a:solidFill>
                  <a:srgbClr val="94A3B8"/>
                </a:solidFill>
                <a:latin typeface="Arial"/>
              </a:rPr>
              <a:t>Tosca Learns  ·  Agentic Engineering</a:t>
            </a:r>
          </a:p>
        </p:txBody>
      </p:sp>
      <p:sp>
        <p:nvSpPr>
          <p:cNvPr id="12" name="TextBox 11"/>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6858000" cy="603504"/>
          </a:xfrm>
          <a:prstGeom prst="rect">
            <a:avLst/>
          </a:prstGeom>
          <a:noFill/>
        </p:spPr>
        <p:txBody>
          <a:bodyPr wrap="square" anchor="ctr" lIns="54864" rIns="54864" tIns="27432" bIns="27432">
            <a:spAutoFit/>
          </a:bodyPr>
          <a:lstStyle/>
          <a:p>
            <a:pPr algn="l"/>
            <a:r>
              <a:rPr sz="2100" b="1" i="0">
                <a:solidFill>
                  <a:srgbClr val="FFFFFF"/>
                </a:solidFill>
                <a:latin typeface="Arial"/>
              </a:rPr>
              <a:t>Why Beads Fell Short (For Me)</a:t>
            </a:r>
          </a:p>
        </p:txBody>
      </p:sp>
      <p:sp>
        <p:nvSpPr>
          <p:cNvPr id="5" name="TextBox 4"/>
          <p:cNvSpPr txBox="1"/>
          <p:nvPr/>
        </p:nvSpPr>
        <p:spPr>
          <a:xfrm>
            <a:off x="448056" y="896112"/>
            <a:ext cx="8257031" cy="292608"/>
          </a:xfrm>
          <a:prstGeom prst="rect">
            <a:avLst/>
          </a:prstGeom>
          <a:noFill/>
        </p:spPr>
        <p:txBody>
          <a:bodyPr wrap="square" anchor="t" lIns="54864" rIns="54864" tIns="27432" bIns="27432">
            <a:spAutoFit/>
          </a:bodyPr>
          <a:lstStyle/>
          <a:p>
            <a:pPr algn="l"/>
            <a:r>
              <a:rPr sz="1300" b="0" i="0">
                <a:solidFill>
                  <a:srgbClr val="374151"/>
                </a:solidFill>
                <a:latin typeface="Arial"/>
              </a:rPr>
              <a:t>It organized the work — but left the </a:t>
            </a:r>
            <a:r>
              <a:rPr sz="1300" b="1" i="0">
                <a:solidFill>
                  <a:srgbClr val="C45C15"/>
                </a:solidFill>
                <a:latin typeface="Arial"/>
              </a:rPr>
              <a:t>engineering judgment</a:t>
            </a:r>
            <a:r>
              <a:rPr sz="1300" b="0" i="0">
                <a:solidFill>
                  <a:srgbClr val="374151"/>
                </a:solidFill>
                <a:latin typeface="Arial"/>
              </a:rPr>
              <a:t> with the agent:</a:t>
            </a:r>
          </a:p>
        </p:txBody>
      </p:sp>
      <p:graphicFrame>
        <p:nvGraphicFramePr>
          <p:cNvPr id="6" name="Table 5"/>
          <p:cNvGraphicFramePr>
            <a:graphicFrameLocks noGrp="1"/>
          </p:cNvGraphicFramePr>
          <p:nvPr/>
        </p:nvGraphicFramePr>
        <p:xfrm>
          <a:off x="448056" y="1261872"/>
          <a:ext cx="8257032" cy="2331720"/>
        </p:xfrm>
        <a:graphic>
          <a:graphicData uri="http://schemas.openxmlformats.org/drawingml/2006/table">
            <a:tbl>
              <a:tblPr firstRow="1">
                <a:tableStyleId>{5C22544A-7EE6-4342-B048-85BDC9FD1C3A}</a:tableStyleId>
              </a:tblPr>
              <a:tblGrid>
                <a:gridCol w="3108960"/>
                <a:gridCol w="5148072"/>
              </a:tblGrid>
              <a:tr h="466344">
                <a:tc>
                  <a:txBody>
                    <a:bodyPr wrap="square"/>
                    <a:lstStyle/>
                    <a:p/>
                  </a:txBody>
                  <a:tcPr anchor="ctr" marL="109728" marR="91440" marT="45720" marB="45720">
                    <a:solidFill>
                      <a:srgbClr val="01499B"/>
                    </a:solidFill>
                  </a:tcPr>
                </a:tc>
                <a:tc>
                  <a:txBody>
                    <a:bodyPr wrap="square"/>
                    <a:lstStyle/>
                    <a:p>
                      <a:r>
                        <a:rPr sz="1250" b="1">
                          <a:solidFill>
                            <a:srgbClr val="FFFFFF"/>
                          </a:solidFill>
                          <a:latin typeface="Arial"/>
                        </a:rPr>
                        <a:t>Beads</a:t>
                      </a:r>
                    </a:p>
                  </a:txBody>
                  <a:tcPr anchor="ctr" marL="109728" marR="91440" marT="45720" marB="45720">
                    <a:solidFill>
                      <a:srgbClr val="01499B"/>
                    </a:solidFill>
                  </a:tcPr>
                </a:tc>
              </a:tr>
              <a:tr h="466344">
                <a:tc>
                  <a:txBody>
                    <a:bodyPr wrap="square"/>
                    <a:lstStyle/>
                    <a:p>
                      <a:r>
                        <a:rPr sz="1200" b="1">
                          <a:solidFill>
                            <a:srgbClr val="01499B"/>
                          </a:solidFill>
                          <a:latin typeface="Arial"/>
                        </a:rPr>
                        <a:t>1.  Who runs the tasks</a:t>
                      </a:r>
                    </a:p>
                  </a:txBody>
                  <a:tcPr anchor="ctr" marL="109728" marR="91440" marT="45720" marB="45720">
                    <a:solidFill>
                      <a:srgbClr val="F8FAFC"/>
                    </a:solidFill>
                  </a:tcPr>
                </a:tc>
                <a:tc>
                  <a:txBody>
                    <a:bodyPr wrap="square"/>
                    <a:lstStyle/>
                    <a:p>
                      <a:r>
                        <a:rPr sz="1200" b="0">
                          <a:solidFill>
                            <a:srgbClr val="374151"/>
                          </a:solidFill>
                          <a:latin typeface="Arial"/>
                        </a:rPr>
                        <a:t>the AGENTS managed their own tasks</a:t>
                      </a:r>
                    </a:p>
                  </a:txBody>
                  <a:tcPr anchor="ctr" marL="109728" marR="91440" marT="45720" marB="45720">
                    <a:solidFill>
                      <a:srgbClr val="F8FAFC"/>
                    </a:solidFill>
                  </a:tcPr>
                </a:tc>
              </a:tr>
              <a:tr h="466344">
                <a:tc>
                  <a:txBody>
                    <a:bodyPr wrap="square"/>
                    <a:lstStyle/>
                    <a:p>
                      <a:r>
                        <a:rPr sz="1200" b="1">
                          <a:solidFill>
                            <a:srgbClr val="01499B"/>
                          </a:solidFill>
                          <a:latin typeface="Arial"/>
                        </a:rPr>
                        <a:t>2.  Can I see it</a:t>
                      </a:r>
                    </a:p>
                  </a:txBody>
                  <a:tcPr anchor="ctr" marL="109728" marR="91440" marT="45720" marB="45720">
                    <a:solidFill>
                      <a:srgbClr val="FFFFFF"/>
                    </a:solidFill>
                  </a:tcPr>
                </a:tc>
                <a:tc>
                  <a:txBody>
                    <a:bodyPr wrap="square"/>
                    <a:lstStyle/>
                    <a:p>
                      <a:r>
                        <a:rPr sz="1200" b="0">
                          <a:solidFill>
                            <a:srgbClr val="374151"/>
                          </a:solidFill>
                          <a:latin typeface="Arial"/>
                        </a:rPr>
                        <a:t>tasks AND dependency chains were hard to visualize</a:t>
                      </a:r>
                    </a:p>
                  </a:txBody>
                  <a:tcPr anchor="ctr" marL="109728" marR="91440" marT="45720" marB="45720">
                    <a:solidFill>
                      <a:srgbClr val="FFFFFF"/>
                    </a:solidFill>
                  </a:tcPr>
                </a:tc>
              </a:tr>
              <a:tr h="466344">
                <a:tc>
                  <a:txBody>
                    <a:bodyPr wrap="square"/>
                    <a:lstStyle/>
                    <a:p>
                      <a:r>
                        <a:rPr sz="1200" b="1">
                          <a:solidFill>
                            <a:srgbClr val="01499B"/>
                          </a:solidFill>
                          <a:latin typeface="Arial"/>
                        </a:rPr>
                        <a:t>3.  Can I see the prompts</a:t>
                      </a:r>
                    </a:p>
                  </a:txBody>
                  <a:tcPr anchor="ctr" marL="109728" marR="91440" marT="45720" marB="45720">
                    <a:solidFill>
                      <a:srgbClr val="F8FAFC"/>
                    </a:solidFill>
                  </a:tcPr>
                </a:tc>
                <a:tc>
                  <a:txBody>
                    <a:bodyPr wrap="square"/>
                    <a:lstStyle/>
                    <a:p>
                      <a:r>
                        <a:rPr sz="1200" b="0">
                          <a:solidFill>
                            <a:srgbClr val="374151"/>
                          </a:solidFill>
                          <a:latin typeface="Arial"/>
                        </a:rPr>
                        <a:t>no — the prompt used for each task wasn’t visible</a:t>
                      </a:r>
                    </a:p>
                  </a:txBody>
                  <a:tcPr anchor="ctr" marL="109728" marR="91440" marT="45720" marB="45720">
                    <a:solidFill>
                      <a:srgbClr val="F8FAFC"/>
                    </a:solidFill>
                  </a:tcPr>
                </a:tc>
              </a:tr>
              <a:tr h="466344">
                <a:tc>
                  <a:txBody>
                    <a:bodyPr wrap="square"/>
                    <a:lstStyle/>
                    <a:p>
                      <a:r>
                        <a:rPr sz="1200" b="1">
                          <a:solidFill>
                            <a:srgbClr val="01499B"/>
                          </a:solidFill>
                          <a:latin typeface="Arial"/>
                        </a:rPr>
                        <a:t>4.  Who defines “done”</a:t>
                      </a:r>
                    </a:p>
                  </a:txBody>
                  <a:tcPr anchor="ctr" marL="109728" marR="91440" marT="45720" marB="45720">
                    <a:solidFill>
                      <a:srgbClr val="FFFFFF"/>
                    </a:solidFill>
                  </a:tcPr>
                </a:tc>
                <a:tc>
                  <a:txBody>
                    <a:bodyPr wrap="square"/>
                    <a:lstStyle/>
                    <a:p>
                      <a:r>
                        <a:rPr sz="1200" b="0">
                          <a:solidFill>
                            <a:srgbClr val="374151"/>
                          </a:solidFill>
                          <a:latin typeface="Arial"/>
                        </a:rPr>
                        <a:t>left to the AGENT performing the task</a:t>
                      </a:r>
                    </a:p>
                  </a:txBody>
                  <a:tcPr anchor="ctr" marL="109728" marR="91440" marT="45720" marB="45720">
                    <a:solidFill>
                      <a:srgbClr val="FFFFFF"/>
                    </a:solidFill>
                  </a:tcPr>
                </a:tc>
              </a:tr>
            </a:tbl>
          </a:graphicData>
        </a:graphic>
      </p:graphicFrame>
      <p:sp>
        <p:nvSpPr>
          <p:cNvPr id="7" name="Rounded Rectangle 6"/>
          <p:cNvSpPr/>
          <p:nvPr/>
        </p:nvSpPr>
        <p:spPr>
          <a:xfrm>
            <a:off x="448056" y="3767328"/>
            <a:ext cx="8257031" cy="786384"/>
          </a:xfrm>
          <a:prstGeom prst="roundRect">
            <a:avLst>
              <a:gd name="adj" fmla="val 6000"/>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37744" tIns="27432" bIns="27432"/>
          <a:lstStyle/>
          <a:p>
            <a:pPr algn="l">
              <a:lnSpc>
                <a:spcPct val="110000"/>
              </a:lnSpc>
            </a:pPr>
            <a:r>
              <a:rPr sz="1400" b="0" i="0">
                <a:solidFill>
                  <a:srgbClr val="FFFFFF"/>
                </a:solidFill>
                <a:latin typeface="Arial"/>
              </a:rPr>
              <a:t>Same gap as the one-shot — just better organized.  </a:t>
            </a:r>
            <a:r>
              <a:rPr sz="1400" b="1" i="0">
                <a:solidFill>
                  <a:srgbClr val="FFC9A3"/>
                </a:solidFill>
                <a:latin typeface="Arial"/>
              </a:rPr>
              <a:t>The human still wasn’t in the loop where it counts.</a:t>
            </a:r>
          </a:p>
        </p:txBody>
      </p:sp>
      <p:sp>
        <p:nvSpPr>
          <p:cNvPr id="8" name="Rectangle 7"/>
          <p:cNvSpPr/>
          <p:nvPr/>
        </p:nvSpPr>
        <p:spPr>
          <a:xfrm>
            <a:off x="448056" y="3767328"/>
            <a:ext cx="109728" cy="786384"/>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 y="4992624"/>
            <a:ext cx="5486400" cy="182880"/>
          </a:xfrm>
          <a:prstGeom prst="rect">
            <a:avLst/>
          </a:prstGeom>
          <a:noFill/>
        </p:spPr>
        <p:txBody>
          <a:bodyPr wrap="square" anchor="t" lIns="54864" rIns="54864" tIns="27432" bIns="27432">
            <a:spAutoFit/>
          </a:bodyPr>
          <a:lstStyle/>
          <a:p>
            <a:pPr algn="l"/>
            <a:r>
              <a:rPr sz="800" b="0" i="0">
                <a:solidFill>
                  <a:srgbClr val="94A3B8"/>
                </a:solidFill>
                <a:latin typeface="Arial"/>
              </a:rPr>
              <a:t>Tosca Learns  ·  Agentic Engineering</a:t>
            </a:r>
          </a:p>
        </p:txBody>
      </p:sp>
      <p:sp>
        <p:nvSpPr>
          <p:cNvPr id="11" name="TextBox 10"/>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6858000" cy="603504"/>
          </a:xfrm>
          <a:prstGeom prst="rect">
            <a:avLst/>
          </a:prstGeom>
          <a:noFill/>
        </p:spPr>
        <p:txBody>
          <a:bodyPr wrap="square" anchor="ctr" lIns="54864" rIns="54864" tIns="27432" bIns="27432">
            <a:spAutoFit/>
          </a:bodyPr>
          <a:lstStyle/>
          <a:p>
            <a:pPr algn="l"/>
            <a:r>
              <a:rPr sz="2100" b="1" i="0">
                <a:solidFill>
                  <a:srgbClr val="FFFFFF"/>
                </a:solidFill>
                <a:latin typeface="Arial"/>
              </a:rPr>
              <a:t>One Answer: Guardrails</a:t>
            </a:r>
          </a:p>
        </p:txBody>
      </p:sp>
      <p:sp>
        <p:nvSpPr>
          <p:cNvPr id="5" name="Rounded Rectangle 4"/>
          <p:cNvSpPr/>
          <p:nvPr/>
        </p:nvSpPr>
        <p:spPr>
          <a:xfrm>
            <a:off x="7040880" y="256032"/>
            <a:ext cx="1691640" cy="329184"/>
          </a:xfrm>
          <a:prstGeom prst="roundRect">
            <a:avLst>
              <a:gd name="adj" fmla="val 50000"/>
            </a:avLst>
          </a:prstGeom>
          <a:solidFill>
            <a:srgbClr val="013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CFDEF5"/>
                </a:solidFill>
                <a:latin typeface="Arial"/>
              </a:rPr>
              <a:t>A TASTE</a:t>
            </a:r>
          </a:p>
        </p:txBody>
      </p:sp>
      <p:sp>
        <p:nvSpPr>
          <p:cNvPr id="6" name="TextBox 5"/>
          <p:cNvSpPr txBox="1"/>
          <p:nvPr/>
        </p:nvSpPr>
        <p:spPr>
          <a:xfrm>
            <a:off x="448056" y="896112"/>
            <a:ext cx="8257031" cy="292608"/>
          </a:xfrm>
          <a:prstGeom prst="rect">
            <a:avLst/>
          </a:prstGeom>
          <a:noFill/>
        </p:spPr>
        <p:txBody>
          <a:bodyPr wrap="square" anchor="t" lIns="54864" rIns="54864" tIns="27432" bIns="27432">
            <a:spAutoFit/>
          </a:bodyPr>
          <a:lstStyle/>
          <a:p>
            <a:pPr algn="l"/>
            <a:r>
              <a:rPr sz="1250" b="0" i="0">
                <a:solidFill>
                  <a:srgbClr val="374151"/>
                </a:solidFill>
                <a:latin typeface="Arial"/>
              </a:rPr>
              <a:t>Not a prescription — just what I built to fill the gap.  The same four steps, but the </a:t>
            </a:r>
            <a:r>
              <a:rPr sz="1250" b="1" i="0">
                <a:solidFill>
                  <a:srgbClr val="01499B"/>
                </a:solidFill>
                <a:latin typeface="Arial"/>
              </a:rPr>
              <a:t>middle is now visible and verified:</a:t>
            </a:r>
          </a:p>
        </p:txBody>
      </p:sp>
      <p:sp>
        <p:nvSpPr>
          <p:cNvPr id="7" name="Rounded Rectangle 6"/>
          <p:cNvSpPr/>
          <p:nvPr/>
        </p:nvSpPr>
        <p:spPr>
          <a:xfrm>
            <a:off x="448056" y="1280160"/>
            <a:ext cx="1847088" cy="841248"/>
          </a:xfrm>
          <a:prstGeom prst="roundRect">
            <a:avLst>
              <a:gd name="adj" fmla="val 8000"/>
            </a:avLst>
          </a:prstGeom>
          <a:solidFill>
            <a:srgbClr val="EFF6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300" b="1" i="0">
                <a:solidFill>
                  <a:srgbClr val="F36F21"/>
                </a:solidFill>
                <a:latin typeface="Arial"/>
              </a:rPr>
              <a:t>①  </a:t>
            </a:r>
            <a:r>
              <a:rPr sz="1250" b="1" i="0">
                <a:solidFill>
                  <a:srgbClr val="01499B"/>
                </a:solidFill>
                <a:latin typeface="Arial"/>
              </a:rPr>
              <a:t>Write a Plan</a:t>
            </a:r>
          </a:p>
          <a:p>
            <a:pPr algn="ctr"/>
            <a:r>
              <a:rPr sz="950" b="0" i="0">
                <a:solidFill>
                  <a:srgbClr val="6B7280"/>
                </a:solidFill>
                <a:latin typeface="Arial"/>
              </a:rPr>
              <a:t>Markdown</a:t>
            </a:r>
          </a:p>
        </p:txBody>
      </p:sp>
      <p:sp>
        <p:nvSpPr>
          <p:cNvPr id="8" name="TextBox 7"/>
          <p:cNvSpPr txBox="1"/>
          <p:nvPr/>
        </p:nvSpPr>
        <p:spPr>
          <a:xfrm>
            <a:off x="2276856" y="1280160"/>
            <a:ext cx="256032" cy="841248"/>
          </a:xfrm>
          <a:prstGeom prst="rect">
            <a:avLst/>
          </a:prstGeom>
          <a:noFill/>
        </p:spPr>
        <p:txBody>
          <a:bodyPr wrap="square" anchor="ctr" lIns="54864" rIns="54864" tIns="27432" bIns="27432">
            <a:spAutoFit/>
          </a:bodyPr>
          <a:lstStyle/>
          <a:p>
            <a:pPr algn="ctr"/>
            <a:r>
              <a:rPr sz="1800" b="1" i="0">
                <a:solidFill>
                  <a:srgbClr val="01499B"/>
                </a:solidFill>
                <a:latin typeface="Arial"/>
              </a:rPr>
              <a:t>→</a:t>
            </a:r>
          </a:p>
        </p:txBody>
      </p:sp>
      <p:sp>
        <p:nvSpPr>
          <p:cNvPr id="9" name="Rounded Rectangle 8"/>
          <p:cNvSpPr/>
          <p:nvPr/>
        </p:nvSpPr>
        <p:spPr>
          <a:xfrm>
            <a:off x="2496312" y="1280160"/>
            <a:ext cx="1847088" cy="841248"/>
          </a:xfrm>
          <a:prstGeom prst="roundRect">
            <a:avLst>
              <a:gd name="adj" fmla="val 8000"/>
            </a:avLst>
          </a:prstGeom>
          <a:solidFill>
            <a:srgbClr val="EFF6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300" b="1" i="0">
                <a:solidFill>
                  <a:srgbClr val="F36F21"/>
                </a:solidFill>
                <a:latin typeface="Arial"/>
              </a:rPr>
              <a:t>②  </a:t>
            </a:r>
            <a:r>
              <a:rPr sz="1250" b="1" i="0">
                <a:solidFill>
                  <a:srgbClr val="01499B"/>
                </a:solidFill>
                <a:latin typeface="Arial"/>
              </a:rPr>
              <a:t>Break It Down</a:t>
            </a:r>
          </a:p>
          <a:p>
            <a:pPr algn="ctr"/>
            <a:r>
              <a:rPr sz="950" b="0" i="0">
                <a:solidFill>
                  <a:srgbClr val="6B7280"/>
                </a:solidFill>
                <a:latin typeface="Arial"/>
              </a:rPr>
              <a:t>a VISIBLE DAG</a:t>
            </a:r>
          </a:p>
        </p:txBody>
      </p:sp>
      <p:sp>
        <p:nvSpPr>
          <p:cNvPr id="10" name="TextBox 9"/>
          <p:cNvSpPr txBox="1"/>
          <p:nvPr/>
        </p:nvSpPr>
        <p:spPr>
          <a:xfrm>
            <a:off x="4325112" y="1280160"/>
            <a:ext cx="256032" cy="841248"/>
          </a:xfrm>
          <a:prstGeom prst="rect">
            <a:avLst/>
          </a:prstGeom>
          <a:noFill/>
        </p:spPr>
        <p:txBody>
          <a:bodyPr wrap="square" anchor="ctr" lIns="54864" rIns="54864" tIns="27432" bIns="27432">
            <a:spAutoFit/>
          </a:bodyPr>
          <a:lstStyle/>
          <a:p>
            <a:pPr algn="ctr"/>
            <a:r>
              <a:rPr sz="1800" b="1" i="0">
                <a:solidFill>
                  <a:srgbClr val="01499B"/>
                </a:solidFill>
                <a:latin typeface="Arial"/>
              </a:rPr>
              <a:t>→</a:t>
            </a:r>
          </a:p>
        </p:txBody>
      </p:sp>
      <p:sp>
        <p:nvSpPr>
          <p:cNvPr id="11" name="Rounded Rectangle 10"/>
          <p:cNvSpPr/>
          <p:nvPr/>
        </p:nvSpPr>
        <p:spPr>
          <a:xfrm>
            <a:off x="4544568" y="1280160"/>
            <a:ext cx="1847088" cy="841248"/>
          </a:xfrm>
          <a:prstGeom prst="roundRect">
            <a:avLst>
              <a:gd name="adj" fmla="val 8000"/>
            </a:avLst>
          </a:prstGeom>
          <a:solidFill>
            <a:srgbClr val="EFF6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300" b="1" i="0">
                <a:solidFill>
                  <a:srgbClr val="F36F21"/>
                </a:solidFill>
                <a:latin typeface="Arial"/>
              </a:rPr>
              <a:t>③  </a:t>
            </a:r>
            <a:r>
              <a:rPr sz="1250" b="1" i="0">
                <a:solidFill>
                  <a:srgbClr val="01499B"/>
                </a:solidFill>
                <a:latin typeface="Arial"/>
              </a:rPr>
              <a:t>Review</a:t>
            </a:r>
          </a:p>
          <a:p>
            <a:pPr algn="ctr"/>
            <a:r>
              <a:rPr sz="950" b="0" i="0">
                <a:solidFill>
                  <a:srgbClr val="6B7280"/>
                </a:solidFill>
                <a:latin typeface="Arial"/>
              </a:rPr>
              <a:t>a human signs off</a:t>
            </a:r>
          </a:p>
        </p:txBody>
      </p:sp>
      <p:sp>
        <p:nvSpPr>
          <p:cNvPr id="12" name="TextBox 11"/>
          <p:cNvSpPr txBox="1"/>
          <p:nvPr/>
        </p:nvSpPr>
        <p:spPr>
          <a:xfrm>
            <a:off x="6373368" y="1280160"/>
            <a:ext cx="256032" cy="841248"/>
          </a:xfrm>
          <a:prstGeom prst="rect">
            <a:avLst/>
          </a:prstGeom>
          <a:noFill/>
        </p:spPr>
        <p:txBody>
          <a:bodyPr wrap="square" anchor="ctr" lIns="54864" rIns="54864" tIns="27432" bIns="27432">
            <a:spAutoFit/>
          </a:bodyPr>
          <a:lstStyle/>
          <a:p>
            <a:pPr algn="ctr"/>
            <a:r>
              <a:rPr sz="1800" b="1" i="0">
                <a:solidFill>
                  <a:srgbClr val="01499B"/>
                </a:solidFill>
                <a:latin typeface="Arial"/>
              </a:rPr>
              <a:t>→</a:t>
            </a:r>
          </a:p>
        </p:txBody>
      </p:sp>
      <p:sp>
        <p:nvSpPr>
          <p:cNvPr id="13" name="Rounded Rectangle 12"/>
          <p:cNvSpPr/>
          <p:nvPr/>
        </p:nvSpPr>
        <p:spPr>
          <a:xfrm>
            <a:off x="6592824" y="1280160"/>
            <a:ext cx="1847088" cy="841248"/>
          </a:xfrm>
          <a:prstGeom prst="roundRect">
            <a:avLst>
              <a:gd name="adj" fmla="val 8000"/>
            </a:avLst>
          </a:prstGeom>
          <a:solidFill>
            <a:srgbClr val="EFF6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100"/>
              </a:spcAft>
            </a:pPr>
            <a:r>
              <a:rPr sz="1300" b="1" i="0">
                <a:solidFill>
                  <a:srgbClr val="F36F21"/>
                </a:solidFill>
                <a:latin typeface="Arial"/>
              </a:rPr>
              <a:t>④  </a:t>
            </a:r>
            <a:r>
              <a:rPr sz="1250" b="1" i="0">
                <a:solidFill>
                  <a:srgbClr val="01499B"/>
                </a:solidFill>
                <a:latin typeface="Arial"/>
              </a:rPr>
              <a:t>Execute</a:t>
            </a:r>
          </a:p>
          <a:p>
            <a:pPr algn="ctr"/>
            <a:r>
              <a:rPr sz="950" b="0" i="0">
                <a:solidFill>
                  <a:srgbClr val="6B7280"/>
                </a:solidFill>
                <a:latin typeface="Arial"/>
              </a:rPr>
              <a:t>each task proves it</a:t>
            </a:r>
          </a:p>
        </p:txBody>
      </p:sp>
      <p:graphicFrame>
        <p:nvGraphicFramePr>
          <p:cNvPr id="14" name="Table 13"/>
          <p:cNvGraphicFramePr>
            <a:graphicFrameLocks noGrp="1"/>
          </p:cNvGraphicFramePr>
          <p:nvPr/>
        </p:nvGraphicFramePr>
        <p:xfrm>
          <a:off x="448056" y="2340864"/>
          <a:ext cx="8257032" cy="2212848"/>
        </p:xfrm>
        <a:graphic>
          <a:graphicData uri="http://schemas.openxmlformats.org/drawingml/2006/table">
            <a:tbl>
              <a:tblPr firstRow="1">
                <a:tableStyleId>{5C22544A-7EE6-4342-B048-85BDC9FD1C3A}</a:tableStyleId>
              </a:tblPr>
              <a:tblGrid>
                <a:gridCol w="3200400"/>
                <a:gridCol w="5056632"/>
              </a:tblGrid>
              <a:tr h="442569">
                <a:tc>
                  <a:txBody>
                    <a:bodyPr wrap="square"/>
                    <a:lstStyle/>
                    <a:p>
                      <a:r>
                        <a:rPr sz="1200" b="1">
                          <a:solidFill>
                            <a:srgbClr val="FFFFFF"/>
                          </a:solidFill>
                          <a:latin typeface="Arial"/>
                        </a:rPr>
                        <a:t>The gap</a:t>
                      </a:r>
                    </a:p>
                  </a:txBody>
                  <a:tcPr anchor="ctr" marL="109728" marR="91440" marT="45720" marB="45720">
                    <a:solidFill>
                      <a:srgbClr val="01499B"/>
                    </a:solidFill>
                  </a:tcPr>
                </a:tc>
                <a:tc>
                  <a:txBody>
                    <a:bodyPr wrap="square"/>
                    <a:lstStyle/>
                    <a:p>
                      <a:r>
                        <a:rPr sz="1200" b="1">
                          <a:solidFill>
                            <a:srgbClr val="FFFFFF"/>
                          </a:solidFill>
                          <a:latin typeface="Arial"/>
                        </a:rPr>
                        <a:t>How this fills it</a:t>
                      </a:r>
                    </a:p>
                  </a:txBody>
                  <a:tcPr anchor="ctr" marL="109728" marR="91440" marT="45720" marB="45720">
                    <a:solidFill>
                      <a:srgbClr val="01499B"/>
                    </a:solidFill>
                  </a:tcPr>
                </a:tc>
              </a:tr>
              <a:tr h="442569">
                <a:tc>
                  <a:txBody>
                    <a:bodyPr wrap="square"/>
                    <a:lstStyle/>
                    <a:p>
                      <a:r>
                        <a:rPr sz="1150" b="1">
                          <a:solidFill>
                            <a:srgbClr val="01499B"/>
                          </a:solidFill>
                          <a:latin typeface="Arial"/>
                        </a:rPr>
                        <a:t>breakdown was invisible</a:t>
                      </a:r>
                    </a:p>
                  </a:txBody>
                  <a:tcPr anchor="ctr" marL="109728" marR="91440" marT="45720" marB="45720">
                    <a:solidFill>
                      <a:srgbClr val="F8FAFC"/>
                    </a:solidFill>
                  </a:tcPr>
                </a:tc>
                <a:tc>
                  <a:txBody>
                    <a:bodyPr wrap="square"/>
                    <a:lstStyle/>
                    <a:p>
                      <a:r>
                        <a:rPr sz="1150" b="0">
                          <a:solidFill>
                            <a:srgbClr val="374151"/>
                          </a:solidFill>
                          <a:latin typeface="Arial"/>
                        </a:rPr>
                        <a:t>a DAG of task folders you open and review</a:t>
                      </a:r>
                    </a:p>
                  </a:txBody>
                  <a:tcPr anchor="ctr" marL="109728" marR="91440" marT="45720" marB="45720">
                    <a:solidFill>
                      <a:srgbClr val="F8FAFC"/>
                    </a:solidFill>
                  </a:tcPr>
                </a:tc>
              </a:tr>
              <a:tr h="442569">
                <a:tc>
                  <a:txBody>
                    <a:bodyPr wrap="square"/>
                    <a:lstStyle/>
                    <a:p>
                      <a:r>
                        <a:rPr sz="1150" b="1">
                          <a:solidFill>
                            <a:srgbClr val="01499B"/>
                          </a:solidFill>
                          <a:latin typeface="Arial"/>
                        </a:rPr>
                        <a:t>prompts were hidden</a:t>
                      </a:r>
                    </a:p>
                  </a:txBody>
                  <a:tcPr anchor="ctr" marL="109728" marR="91440" marT="45720" marB="45720">
                    <a:solidFill>
                      <a:srgbClr val="FFFFFF"/>
                    </a:solidFill>
                  </a:tcPr>
                </a:tc>
                <a:tc>
                  <a:txBody>
                    <a:bodyPr wrap="square"/>
                    <a:lstStyle/>
                    <a:p>
                      <a:r>
                        <a:rPr sz="1150" b="0">
                          <a:solidFill>
                            <a:srgbClr val="374151"/>
                          </a:solidFill>
                          <a:latin typeface="Arial"/>
                        </a:rPr>
                        <a:t>every task’s prompt is a file, in the open</a:t>
                      </a:r>
                    </a:p>
                  </a:txBody>
                  <a:tcPr anchor="ctr" marL="109728" marR="91440" marT="45720" marB="45720">
                    <a:solidFill>
                      <a:srgbClr val="FFFFFF"/>
                    </a:solidFill>
                  </a:tcPr>
                </a:tc>
              </a:tr>
              <a:tr h="442569">
                <a:tc>
                  <a:txBody>
                    <a:bodyPr wrap="square"/>
                    <a:lstStyle/>
                    <a:p>
                      <a:r>
                        <a:rPr sz="1150" b="1">
                          <a:solidFill>
                            <a:srgbClr val="01499B"/>
                          </a:solidFill>
                          <a:latin typeface="Arial"/>
                        </a:rPr>
                        <a:t>“done” was the agent’s word</a:t>
                      </a:r>
                    </a:p>
                  </a:txBody>
                  <a:tcPr anchor="ctr" marL="109728" marR="91440" marT="45720" marB="45720">
                    <a:solidFill>
                      <a:srgbClr val="F8FAFC"/>
                    </a:solidFill>
                  </a:tcPr>
                </a:tc>
                <a:tc>
                  <a:txBody>
                    <a:bodyPr wrap="square"/>
                    <a:lstStyle/>
                    <a:p>
                      <a:r>
                        <a:rPr sz="1150" b="0">
                          <a:solidFill>
                            <a:srgbClr val="374151"/>
                          </a:solidFill>
                          <a:latin typeface="Arial"/>
                        </a:rPr>
                        <a:t>deterministic guardrails — executable pass/fail checks</a:t>
                      </a:r>
                    </a:p>
                  </a:txBody>
                  <a:tcPr anchor="ctr" marL="109728" marR="91440" marT="45720" marB="45720">
                    <a:solidFill>
                      <a:srgbClr val="F8FAFC"/>
                    </a:solidFill>
                  </a:tcPr>
                </a:tc>
              </a:tr>
              <a:tr h="442572">
                <a:tc>
                  <a:txBody>
                    <a:bodyPr wrap="square"/>
                    <a:lstStyle/>
                    <a:p>
                      <a:r>
                        <a:rPr sz="1150" b="1">
                          <a:solidFill>
                            <a:srgbClr val="01499B"/>
                          </a:solidFill>
                          <a:latin typeface="Arial"/>
                        </a:rPr>
                        <a:t>the agent owned the structure</a:t>
                      </a:r>
                    </a:p>
                  </a:txBody>
                  <a:tcPr anchor="ctr" marL="109728" marR="91440" marT="45720" marB="45720">
                    <a:solidFill>
                      <a:srgbClr val="FFFFFF"/>
                    </a:solidFill>
                  </a:tcPr>
                </a:tc>
                <a:tc>
                  <a:txBody>
                    <a:bodyPr wrap="square"/>
                    <a:lstStyle/>
                    <a:p>
                      <a:r>
                        <a:rPr sz="1150" b="0">
                          <a:solidFill>
                            <a:srgbClr val="374151"/>
                          </a:solidFill>
                          <a:latin typeface="Arial"/>
                        </a:rPr>
                        <a:t>YOU review and sign off before anything runs</a:t>
                      </a:r>
                    </a:p>
                  </a:txBody>
                  <a:tcPr anchor="ctr" marL="109728" marR="91440" marT="45720" marB="45720">
                    <a:solidFill>
                      <a:srgbClr val="FFFFFF"/>
                    </a:solidFill>
                  </a:tcPr>
                </a:tc>
              </a:tr>
            </a:tbl>
          </a:graphicData>
        </a:graphic>
      </p:graphicFrame>
      <p:sp>
        <p:nvSpPr>
          <p:cNvPr id="15" name="Rectangle 14"/>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 y="4992624"/>
            <a:ext cx="5486400" cy="182880"/>
          </a:xfrm>
          <a:prstGeom prst="rect">
            <a:avLst/>
          </a:prstGeom>
          <a:noFill/>
        </p:spPr>
        <p:txBody>
          <a:bodyPr wrap="square" anchor="t" lIns="54864" rIns="54864" tIns="27432" bIns="27432">
            <a:spAutoFit/>
          </a:bodyPr>
          <a:lstStyle/>
          <a:p>
            <a:pPr algn="l"/>
            <a:r>
              <a:rPr sz="800" b="0" i="0">
                <a:solidFill>
                  <a:srgbClr val="94A3B8"/>
                </a:solidFill>
                <a:latin typeface="Arial"/>
              </a:rPr>
              <a:t>Tosca Learns  ·  Agentic Engineering</a:t>
            </a:r>
          </a:p>
        </p:txBody>
      </p:sp>
      <p:sp>
        <p:nvSpPr>
          <p:cNvPr id="17" name="TextBox 16"/>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6858000" cy="603504"/>
          </a:xfrm>
          <a:prstGeom prst="rect">
            <a:avLst/>
          </a:prstGeom>
          <a:noFill/>
        </p:spPr>
        <p:txBody>
          <a:bodyPr wrap="square" anchor="ctr" lIns="54864" rIns="54864" tIns="27432" bIns="27432">
            <a:spAutoFit/>
          </a:bodyPr>
          <a:lstStyle/>
          <a:p>
            <a:pPr algn="l"/>
            <a:r>
              <a:rPr sz="2100" b="1" i="0">
                <a:solidFill>
                  <a:srgbClr val="FFFFFF"/>
                </a:solidFill>
                <a:latin typeface="Arial"/>
              </a:rPr>
              <a:t>The One Idea</a:t>
            </a:r>
          </a:p>
        </p:txBody>
      </p:sp>
      <p:sp>
        <p:nvSpPr>
          <p:cNvPr id="5" name="TextBox 4"/>
          <p:cNvSpPr txBox="1"/>
          <p:nvPr/>
        </p:nvSpPr>
        <p:spPr>
          <a:xfrm>
            <a:off x="448056" y="1024128"/>
            <a:ext cx="8257031" cy="310896"/>
          </a:xfrm>
          <a:prstGeom prst="rect">
            <a:avLst/>
          </a:prstGeom>
          <a:noFill/>
        </p:spPr>
        <p:txBody>
          <a:bodyPr wrap="square" anchor="t" lIns="54864" rIns="54864" tIns="27432" bIns="27432">
            <a:spAutoFit/>
          </a:bodyPr>
          <a:lstStyle/>
          <a:p>
            <a:pPr algn="ctr"/>
            <a:r>
              <a:rPr sz="1350" b="0" i="1">
                <a:solidFill>
                  <a:srgbClr val="374151"/>
                </a:solidFill>
                <a:latin typeface="Arial"/>
              </a:rPr>
              <a:t>If you remember one sentence:</a:t>
            </a:r>
          </a:p>
        </p:txBody>
      </p:sp>
      <p:sp>
        <p:nvSpPr>
          <p:cNvPr id="6" name="Rounded Rectangle 5"/>
          <p:cNvSpPr/>
          <p:nvPr/>
        </p:nvSpPr>
        <p:spPr>
          <a:xfrm>
            <a:off x="640080" y="1517904"/>
            <a:ext cx="7863840" cy="1371600"/>
          </a:xfrm>
          <a:prstGeom prst="roundRect">
            <a:avLst>
              <a:gd name="adj" fmla="val 6000"/>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17904"/>
            <a:ext cx="109728" cy="137160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17904"/>
            <a:ext cx="7863840" cy="1371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Aft>
                <a:spcPts val="300"/>
              </a:spcAft>
            </a:pPr>
            <a:r>
              <a:rPr sz="2000" b="1" i="0">
                <a:solidFill>
                  <a:srgbClr val="FFFFFF"/>
                </a:solidFill>
                <a:latin typeface="Arial"/>
              </a:rPr>
              <a:t>“A prompt may propose — only a deterministic gate may certify.”</a:t>
            </a:r>
          </a:p>
        </p:txBody>
      </p:sp>
      <p:sp>
        <p:nvSpPr>
          <p:cNvPr id="9" name="Rounded Rectangle 8"/>
          <p:cNvSpPr/>
          <p:nvPr/>
        </p:nvSpPr>
        <p:spPr>
          <a:xfrm>
            <a:off x="448056" y="3200400"/>
            <a:ext cx="8257031" cy="1371600"/>
          </a:xfrm>
          <a:prstGeom prst="roundRect">
            <a:avLst>
              <a:gd name="adj" fmla="val 8000"/>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 bIns="27432"/>
          <a:lstStyle/>
          <a:p>
            <a:pPr algn="ctr">
              <a:lnSpc>
                <a:spcPct val="110000"/>
              </a:lnSpc>
              <a:spcAft>
                <a:spcPts val="800"/>
              </a:spcAft>
            </a:pPr>
            <a:r>
              <a:rPr sz="1800" b="0" i="0">
                <a:solidFill>
                  <a:srgbClr val="1F2937"/>
                </a:solidFill>
                <a:latin typeface="Arial"/>
              </a:rPr>
              <a:t>Let the AI do </a:t>
            </a:r>
            <a:r>
              <a:rPr sz="1800" b="1" i="0">
                <a:solidFill>
                  <a:srgbClr val="C45C15"/>
                </a:solidFill>
                <a:latin typeface="Arial"/>
              </a:rPr>
              <a:t>more</a:t>
            </a:r>
            <a:r>
              <a:rPr sz="1800" b="0" i="0">
                <a:solidFill>
                  <a:srgbClr val="1F2937"/>
                </a:solidFill>
                <a:latin typeface="Arial"/>
              </a:rPr>
              <a:t> — by </a:t>
            </a:r>
            <a:r>
              <a:rPr sz="1800" b="1" i="0">
                <a:solidFill>
                  <a:srgbClr val="01499B"/>
                </a:solidFill>
                <a:latin typeface="Arial"/>
              </a:rPr>
              <a:t>trusting it less.</a:t>
            </a:r>
          </a:p>
          <a:p>
            <a:pPr algn="ctr">
              <a:lnSpc>
                <a:spcPct val="108000"/>
              </a:lnSpc>
            </a:pPr>
            <a:r>
              <a:rPr sz="1300" b="0" i="0">
                <a:solidFill>
                  <a:srgbClr val="374151"/>
                </a:solidFill>
                <a:latin typeface="Arial"/>
              </a:rPr>
              <a:t>The agent proposes the work; a cheap, deterministic check decides whether it counts.</a:t>
            </a:r>
          </a:p>
        </p:txBody>
      </p:sp>
      <p:sp>
        <p:nvSpPr>
          <p:cNvPr id="10" name="Rectangle 9"/>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 y="4992624"/>
            <a:ext cx="5486400" cy="182880"/>
          </a:xfrm>
          <a:prstGeom prst="rect">
            <a:avLst/>
          </a:prstGeom>
          <a:noFill/>
        </p:spPr>
        <p:txBody>
          <a:bodyPr wrap="square" anchor="t" lIns="54864" rIns="54864" tIns="27432" bIns="27432">
            <a:spAutoFit/>
          </a:bodyPr>
          <a:lstStyle/>
          <a:p>
            <a:pPr algn="l"/>
            <a:r>
              <a:rPr sz="800" b="0" i="0">
                <a:solidFill>
                  <a:srgbClr val="94A3B8"/>
                </a:solidFill>
                <a:latin typeface="Arial"/>
              </a:rPr>
              <a:t>Tosca Learns  ·  Agentic Engineering</a:t>
            </a:r>
          </a:p>
        </p:txBody>
      </p:sp>
      <p:sp>
        <p:nvSpPr>
          <p:cNvPr id="12" name="TextBox 11"/>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91440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109728"/>
            <a:ext cx="6858000" cy="603504"/>
          </a:xfrm>
          <a:prstGeom prst="rect">
            <a:avLst/>
          </a:prstGeom>
          <a:noFill/>
        </p:spPr>
        <p:txBody>
          <a:bodyPr wrap="square" anchor="ctr" lIns="54864" rIns="54864" tIns="27432" bIns="27432">
            <a:spAutoFit/>
          </a:bodyPr>
          <a:lstStyle/>
          <a:p>
            <a:pPr algn="l"/>
            <a:r>
              <a:rPr sz="2100" b="1" i="0">
                <a:solidFill>
                  <a:srgbClr val="FFFFFF"/>
                </a:solidFill>
                <a:latin typeface="Arial"/>
              </a:rPr>
              <a:t>See It for Yourself</a:t>
            </a:r>
          </a:p>
        </p:txBody>
      </p:sp>
      <p:sp>
        <p:nvSpPr>
          <p:cNvPr id="5" name="Rounded Rectangle 4"/>
          <p:cNvSpPr/>
          <p:nvPr/>
        </p:nvSpPr>
        <p:spPr>
          <a:xfrm>
            <a:off x="7040880" y="256032"/>
            <a:ext cx="1691640" cy="329184"/>
          </a:xfrm>
          <a:prstGeom prst="roundRect">
            <a:avLst>
              <a:gd name="adj" fmla="val 50000"/>
            </a:avLst>
          </a:prstGeom>
          <a:solidFill>
            <a:srgbClr val="013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CFDEF5"/>
                </a:solidFill>
                <a:latin typeface="Arial"/>
              </a:rPr>
              <a:t>LIVE DEMO</a:t>
            </a:r>
          </a:p>
        </p:txBody>
      </p:sp>
      <p:sp>
        <p:nvSpPr>
          <p:cNvPr id="6" name="TextBox 5"/>
          <p:cNvSpPr txBox="1"/>
          <p:nvPr/>
        </p:nvSpPr>
        <p:spPr>
          <a:xfrm>
            <a:off x="448056" y="914400"/>
            <a:ext cx="8257031" cy="566928"/>
          </a:xfrm>
          <a:prstGeom prst="rect">
            <a:avLst/>
          </a:prstGeom>
          <a:noFill/>
        </p:spPr>
        <p:txBody>
          <a:bodyPr wrap="square" anchor="t" lIns="54864" rIns="54864" tIns="27432" bIns="27432">
            <a:spAutoFit/>
          </a:bodyPr>
          <a:lstStyle/>
          <a:p>
            <a:pPr algn="l">
              <a:lnSpc>
                <a:spcPct val="108000"/>
              </a:lnSpc>
            </a:pPr>
            <a:r>
              <a:rPr sz="1300" b="0" i="0">
                <a:solidFill>
                  <a:srgbClr val="374151"/>
                </a:solidFill>
                <a:latin typeface="Arial"/>
              </a:rPr>
              <a:t>A tiny public demo — </a:t>
            </a:r>
            <a:r>
              <a:rPr sz="1300" b="1" i="0">
                <a:solidFill>
                  <a:srgbClr val="01499B"/>
                </a:solidFill>
                <a:latin typeface="Arial"/>
              </a:rPr>
              <a:t>already broken down (6 tasks)</a:t>
            </a:r>
            <a:r>
              <a:rPr sz="1300" b="0" i="0">
                <a:solidFill>
                  <a:srgbClr val="374151"/>
                </a:solidFill>
                <a:latin typeface="Arial"/>
              </a:rPr>
              <a:t>, ready to run.  Watch </a:t>
            </a:r>
            <a:r>
              <a:rPr sz="1300" b="1" i="0">
                <a:solidFill>
                  <a:srgbClr val="C45C15"/>
                </a:solidFill>
                <a:latin typeface="Arial"/>
              </a:rPr>
              <a:t>two tasks run in parallel</a:t>
            </a:r>
            <a:r>
              <a:rPr sz="1300" b="0" i="0">
                <a:solidFill>
                  <a:srgbClr val="374151"/>
                </a:solidFill>
                <a:latin typeface="Arial"/>
              </a:rPr>
              <a:t> and an </a:t>
            </a:r>
            <a:r>
              <a:rPr sz="1300" b="0" i="0">
                <a:solidFill>
                  <a:srgbClr val="374151"/>
                </a:solidFill>
                <a:latin typeface="Arial"/>
              </a:rPr>
              <a:t>AI resolve a real merge conflict behind a deterministic gate.</a:t>
            </a:r>
          </a:p>
        </p:txBody>
      </p:sp>
      <p:sp>
        <p:nvSpPr>
          <p:cNvPr id="7" name="Rounded Rectangle 6"/>
          <p:cNvSpPr/>
          <p:nvPr/>
        </p:nvSpPr>
        <p:spPr>
          <a:xfrm>
            <a:off x="448056" y="1591056"/>
            <a:ext cx="8257031" cy="214884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 y="1591056"/>
            <a:ext cx="8257031" cy="2148840"/>
          </a:xfrm>
          <a:prstGeom prst="rect">
            <a:avLst/>
          </a:prstGeom>
          <a:noFill/>
        </p:spPr>
        <p:txBody>
          <a:bodyPr wrap="square" anchor="ctr" lIns="182880" rIns="109728" tIns="27432" bIns="27432">
            <a:spAutoFit/>
          </a:bodyPr>
          <a:lstStyle/>
          <a:p>
            <a:pPr algn="l">
              <a:lnSpc>
                <a:spcPct val="118000"/>
              </a:lnSpc>
              <a:spcAft>
                <a:spcPts val="0"/>
              </a:spcAft>
            </a:pPr>
            <a:r>
              <a:rPr sz="950" b="0" i="0">
                <a:solidFill>
                  <a:srgbClr val="94A3B8"/>
                </a:solidFill>
                <a:latin typeface="Courier New"/>
              </a:rPr>
              <a:t># 1. install the harness (latest preview)</a:t>
            </a:r>
          </a:p>
          <a:p>
            <a:pPr algn="l">
              <a:lnSpc>
                <a:spcPct val="118000"/>
              </a:lnSpc>
              <a:spcAft>
                <a:spcPts val="0"/>
              </a:spcAft>
            </a:pPr>
            <a:r>
              <a:rPr sz="950" b="0" i="0">
                <a:solidFill>
                  <a:srgbClr val="E5E7EB"/>
                </a:solidFill>
                <a:latin typeface="Courier New"/>
              </a:rPr>
              <a:t>dotnet tool install -g ServantSoftware.Guardrails </a:t>
            </a:r>
            <a:r>
              <a:rPr sz="950" b="0" i="0">
                <a:solidFill>
                  <a:srgbClr val="FBB98C"/>
                </a:solidFill>
                <a:latin typeface="Courier New"/>
              </a:rPr>
              <a:t>--version 1.0.0-preview.34</a:t>
            </a:r>
          </a:p>
          <a:p>
            <a:pPr algn="l">
              <a:lnSpc>
                <a:spcPct val="118000"/>
              </a:lnSpc>
              <a:spcAft>
                <a:spcPts val="0"/>
              </a:spcAft>
            </a:pPr>
            <a:r>
              <a:rPr sz="600" b="0" i="0">
                <a:solidFill>
                  <a:srgbClr val="E5E7EB"/>
                </a:solidFill>
                <a:latin typeface="Courier New"/>
              </a:rPr>
              <a:t/>
            </a:r>
          </a:p>
          <a:p>
            <a:pPr algn="l">
              <a:lnSpc>
                <a:spcPct val="118000"/>
              </a:lnSpc>
              <a:spcAft>
                <a:spcPts val="0"/>
              </a:spcAft>
            </a:pPr>
            <a:r>
              <a:rPr sz="950" b="0" i="0">
                <a:solidFill>
                  <a:srgbClr val="94A3B8"/>
                </a:solidFill>
                <a:latin typeface="Courier New"/>
              </a:rPr>
              <a:t># 2. clone the pre-broken-down demo</a:t>
            </a:r>
          </a:p>
          <a:p>
            <a:pPr algn="l">
              <a:lnSpc>
                <a:spcPct val="118000"/>
              </a:lnSpc>
              <a:spcAft>
                <a:spcPts val="0"/>
              </a:spcAft>
            </a:pPr>
            <a:r>
              <a:rPr sz="950" b="0" i="0">
                <a:solidFill>
                  <a:srgbClr val="E5E7EB"/>
                </a:solidFill>
                <a:latin typeface="Courier New"/>
              </a:rPr>
              <a:t>git clone https://github.com/DaveRMaltby/guardrails-texttools-demo</a:t>
            </a:r>
          </a:p>
          <a:p>
            <a:pPr algn="l">
              <a:lnSpc>
                <a:spcPct val="118000"/>
              </a:lnSpc>
              <a:spcAft>
                <a:spcPts val="0"/>
              </a:spcAft>
            </a:pPr>
            <a:r>
              <a:rPr sz="950" b="0" i="0">
                <a:solidFill>
                  <a:srgbClr val="E5E7EB"/>
                </a:solidFill>
                <a:latin typeface="Courier New"/>
              </a:rPr>
              <a:t>cd guardrails-texttools-demo</a:t>
            </a:r>
          </a:p>
          <a:p>
            <a:pPr algn="l">
              <a:lnSpc>
                <a:spcPct val="118000"/>
              </a:lnSpc>
              <a:spcAft>
                <a:spcPts val="0"/>
              </a:spcAft>
            </a:pPr>
            <a:r>
              <a:rPr sz="600" b="0" i="0">
                <a:solidFill>
                  <a:srgbClr val="E5E7EB"/>
                </a:solidFill>
                <a:latin typeface="Courier New"/>
              </a:rPr>
              <a:t/>
            </a:r>
          </a:p>
          <a:p>
            <a:pPr algn="l">
              <a:lnSpc>
                <a:spcPct val="118000"/>
              </a:lnSpc>
              <a:spcAft>
                <a:spcPts val="0"/>
              </a:spcAft>
            </a:pPr>
            <a:r>
              <a:rPr sz="950" b="0" i="0">
                <a:solidFill>
                  <a:srgbClr val="94A3B8"/>
                </a:solidFill>
                <a:latin typeface="Courier New"/>
              </a:rPr>
              <a:t># 3. see the breakdown, preview the run, then run it</a:t>
            </a:r>
          </a:p>
          <a:p>
            <a:pPr algn="l">
              <a:lnSpc>
                <a:spcPct val="118000"/>
              </a:lnSpc>
              <a:spcAft>
                <a:spcPts val="0"/>
              </a:spcAft>
            </a:pPr>
            <a:r>
              <a:rPr sz="950" b="0" i="0">
                <a:solidFill>
                  <a:srgbClr val="E5E7EB"/>
                </a:solidFill>
                <a:latin typeface="Courier New"/>
              </a:rPr>
              <a:t>guardrails graph texttools</a:t>
            </a:r>
            <a:r>
              <a:rPr sz="900" b="0" i="0">
                <a:solidFill>
                  <a:srgbClr val="94A3B8"/>
                </a:solidFill>
                <a:latin typeface="Courier New"/>
              </a:rPr>
              <a:t>            # writes diagram.html — the visible DAG</a:t>
            </a:r>
          </a:p>
          <a:p>
            <a:pPr algn="l">
              <a:lnSpc>
                <a:spcPct val="118000"/>
              </a:lnSpc>
              <a:spcAft>
                <a:spcPts val="0"/>
              </a:spcAft>
            </a:pPr>
            <a:r>
              <a:rPr sz="950" b="0" i="0">
                <a:solidFill>
                  <a:srgbClr val="E5E7EB"/>
                </a:solidFill>
                <a:latin typeface="Courier New"/>
              </a:rPr>
              <a:t>guardrails run   texttools </a:t>
            </a:r>
            <a:r>
              <a:rPr sz="950" b="0" i="0">
                <a:solidFill>
                  <a:srgbClr val="7EE7C7"/>
                </a:solidFill>
                <a:latin typeface="Courier New"/>
              </a:rPr>
              <a:t>--dry-run</a:t>
            </a:r>
            <a:r>
              <a:rPr sz="900" b="0" i="0">
                <a:solidFill>
                  <a:srgbClr val="94A3B8"/>
                </a:solidFill>
                <a:latin typeface="Courier New"/>
              </a:rPr>
              <a:t>    # preview waves, zero cost</a:t>
            </a:r>
          </a:p>
          <a:p>
            <a:pPr algn="l">
              <a:lnSpc>
                <a:spcPct val="118000"/>
              </a:lnSpc>
              <a:spcAft>
                <a:spcPts val="0"/>
              </a:spcAft>
            </a:pPr>
            <a:r>
              <a:rPr sz="950" b="0" i="0">
                <a:solidFill>
                  <a:srgbClr val="E5E7EB"/>
                </a:solidFill>
                <a:latin typeface="Courier New"/>
              </a:rPr>
              <a:t>guardrails run   texttools</a:t>
            </a:r>
            <a:r>
              <a:rPr sz="900" b="0" i="0">
                <a:solidFill>
                  <a:srgbClr val="94A3B8"/>
                </a:solidFill>
                <a:latin typeface="Courier New"/>
              </a:rPr>
              <a:t>              # execute — each task proves it worked</a:t>
            </a:r>
          </a:p>
        </p:txBody>
      </p:sp>
      <p:sp>
        <p:nvSpPr>
          <p:cNvPr id="9" name="Rounded Rectangle 8"/>
          <p:cNvSpPr/>
          <p:nvPr/>
        </p:nvSpPr>
        <p:spPr>
          <a:xfrm>
            <a:off x="448056" y="3895344"/>
            <a:ext cx="8257031" cy="658368"/>
          </a:xfrm>
          <a:prstGeom prst="roundRect">
            <a:avLst>
              <a:gd name="adj" fmla="val 8000"/>
            </a:avLst>
          </a:prstGeom>
          <a:solidFill>
            <a:srgbClr val="EFF6FF"/>
          </a:solidFill>
          <a:ln w="12700">
            <a:solidFill>
              <a:srgbClr val="E0ECF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82880" tIns="27432" bIns="27432"/>
          <a:lstStyle/>
          <a:p>
            <a:pPr algn="l">
              <a:lnSpc>
                <a:spcPct val="105000"/>
              </a:lnSpc>
            </a:pPr>
            <a:r>
              <a:rPr sz="1100" b="0" i="0">
                <a:solidFill>
                  <a:srgbClr val="374151"/>
                </a:solidFill>
                <a:latin typeface="Arial"/>
              </a:rPr>
              <a:t>Needs .NET 8+, git, and the </a:t>
            </a:r>
            <a:r>
              <a:rPr sz="1100" b="1" i="0">
                <a:solidFill>
                  <a:srgbClr val="01499B"/>
                </a:solidFill>
                <a:latin typeface="Courier New"/>
              </a:rPr>
              <a:t>claude</a:t>
            </a:r>
            <a:r>
              <a:rPr sz="1100" b="0" i="0">
                <a:solidFill>
                  <a:srgbClr val="374151"/>
                </a:solidFill>
                <a:latin typeface="Arial"/>
              </a:rPr>
              <a:t> CLI.  Open </a:t>
            </a:r>
            <a:r>
              <a:rPr sz="1100" b="1" i="0">
                <a:solidFill>
                  <a:srgbClr val="01499B"/>
                </a:solidFill>
                <a:latin typeface="Courier New"/>
              </a:rPr>
              <a:t>texttools/diagram.html</a:t>
            </a:r>
            <a:r>
              <a:rPr sz="1100" b="0" i="0">
                <a:solidFill>
                  <a:srgbClr val="374151"/>
                </a:solidFill>
                <a:latin typeface="Arial"/>
              </a:rPr>
              <a:t> to see the breakdown you’d normally never get to review.</a:t>
            </a:r>
          </a:p>
        </p:txBody>
      </p:sp>
      <p:sp>
        <p:nvSpPr>
          <p:cNvPr id="10" name="Rectangle 9"/>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 y="4992624"/>
            <a:ext cx="5486400" cy="182880"/>
          </a:xfrm>
          <a:prstGeom prst="rect">
            <a:avLst/>
          </a:prstGeom>
          <a:noFill/>
        </p:spPr>
        <p:txBody>
          <a:bodyPr wrap="square" anchor="t" lIns="54864" rIns="54864" tIns="27432" bIns="27432">
            <a:spAutoFit/>
          </a:bodyPr>
          <a:lstStyle/>
          <a:p>
            <a:pPr algn="l"/>
            <a:r>
              <a:rPr sz="800" b="0" i="0">
                <a:solidFill>
                  <a:srgbClr val="94A3B8"/>
                </a:solidFill>
                <a:latin typeface="Arial"/>
              </a:rPr>
              <a:t>Tosca Learns  ·  Agentic Engineering</a:t>
            </a:r>
          </a:p>
        </p:txBody>
      </p:sp>
      <p:sp>
        <p:nvSpPr>
          <p:cNvPr id="12" name="TextBox 11"/>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46304"/>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6304"/>
            <a:ext cx="9144000" cy="36576"/>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1051560"/>
            <a:ext cx="8229600" cy="868680"/>
          </a:xfrm>
          <a:prstGeom prst="rect">
            <a:avLst/>
          </a:prstGeom>
          <a:noFill/>
        </p:spPr>
        <p:txBody>
          <a:bodyPr wrap="square" anchor="t" lIns="54864" rIns="54864" tIns="27432" bIns="27432">
            <a:spAutoFit/>
          </a:bodyPr>
          <a:lstStyle/>
          <a:p>
            <a:pPr algn="l">
              <a:lnSpc>
                <a:spcPct val="102000"/>
              </a:lnSpc>
            </a:pPr>
            <a:r>
              <a:rPr sz="3800" b="1" i="0">
                <a:solidFill>
                  <a:srgbClr val="01499B"/>
                </a:solidFill>
                <a:latin typeface="Arial"/>
              </a:rPr>
              <a:t>So — are we missing a step?</a:t>
            </a:r>
          </a:p>
        </p:txBody>
      </p:sp>
      <p:sp>
        <p:nvSpPr>
          <p:cNvPr id="6" name="Rectangle 5"/>
          <p:cNvSpPr/>
          <p:nvPr/>
        </p:nvSpPr>
        <p:spPr>
          <a:xfrm>
            <a:off x="566928" y="1938528"/>
            <a:ext cx="1371600" cy="45720"/>
          </a:xfrm>
          <a:prstGeom prst="rect">
            <a:avLst/>
          </a:prstGeom>
          <a:solidFill>
            <a:srgbClr val="F36F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39696"/>
            <a:ext cx="8138160" cy="1280160"/>
          </a:xfrm>
          <a:prstGeom prst="rect">
            <a:avLst/>
          </a:prstGeom>
          <a:noFill/>
        </p:spPr>
        <p:txBody>
          <a:bodyPr wrap="square" anchor="t" lIns="54864" rIns="54864" tIns="27432" bIns="27432">
            <a:spAutoFit/>
          </a:bodyPr>
          <a:lstStyle/>
          <a:p>
            <a:pPr algn="l">
              <a:lnSpc>
                <a:spcPct val="118000"/>
              </a:lnSpc>
            </a:pPr>
            <a:r>
              <a:rPr sz="1600" b="0" i="0">
                <a:solidFill>
                  <a:srgbClr val="374151"/>
                </a:solidFill>
                <a:latin typeface="Arial"/>
              </a:rPr>
              <a:t>I think we might be.  Between </a:t>
            </a:r>
            <a:r>
              <a:rPr sz="1600" b="1" i="1">
                <a:solidFill>
                  <a:srgbClr val="1F2937"/>
                </a:solidFill>
                <a:latin typeface="Arial"/>
              </a:rPr>
              <a:t>“write a plan”</a:t>
            </a:r>
            <a:r>
              <a:rPr sz="1600" b="0" i="0">
                <a:solidFill>
                  <a:srgbClr val="374151"/>
                </a:solidFill>
                <a:latin typeface="Arial"/>
              </a:rPr>
              <a:t> and </a:t>
            </a:r>
            <a:r>
              <a:rPr sz="1600" b="1" i="1">
                <a:solidFill>
                  <a:srgbClr val="1F2937"/>
                </a:solidFill>
                <a:latin typeface="Arial"/>
              </a:rPr>
              <a:t>“ship the diff”</a:t>
            </a:r>
            <a:r>
              <a:rPr sz="1600" b="0" i="0">
                <a:solidFill>
                  <a:srgbClr val="374151"/>
                </a:solidFill>
                <a:latin typeface="Arial"/>
              </a:rPr>
              <a:t> there’s a step where a human should still see the breakdown, read the prompts, and trust a </a:t>
            </a:r>
            <a:r>
              <a:rPr sz="1600" b="1" i="0">
                <a:solidFill>
                  <a:srgbClr val="01499B"/>
                </a:solidFill>
                <a:latin typeface="Arial"/>
              </a:rPr>
              <a:t>gate</a:t>
            </a:r>
            <a:r>
              <a:rPr sz="1600" b="0" i="0">
                <a:solidFill>
                  <a:srgbClr val="374151"/>
                </a:solidFill>
                <a:latin typeface="Arial"/>
              </a:rPr>
              <a:t>, not a </a:t>
            </a:r>
            <a:r>
              <a:rPr sz="1600" b="1" i="0">
                <a:solidFill>
                  <a:srgbClr val="C45C15"/>
                </a:solidFill>
                <a:latin typeface="Arial"/>
              </a:rPr>
              <a:t>claim.</a:t>
            </a:r>
          </a:p>
        </p:txBody>
      </p:sp>
      <p:sp>
        <p:nvSpPr>
          <p:cNvPr id="8" name="Rounded Rectangle 7"/>
          <p:cNvSpPr/>
          <p:nvPr/>
        </p:nvSpPr>
        <p:spPr>
          <a:xfrm>
            <a:off x="548640" y="3611880"/>
            <a:ext cx="8092440" cy="566928"/>
          </a:xfrm>
          <a:prstGeom prst="roundRect">
            <a:avLst>
              <a:gd name="adj" fmla="val 10000"/>
            </a:avLst>
          </a:prstGeom>
          <a:solidFill>
            <a:srgbClr val="FFF7ED"/>
          </a:solidFill>
          <a:ln w="12700">
            <a:solidFill>
              <a:srgbClr val="F6D8B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C45C15"/>
                </a:solidFill>
                <a:latin typeface="Arial"/>
              </a:rPr>
              <a:t>I’m not prescribing.  Just putting it on the table.</a:t>
            </a:r>
          </a:p>
        </p:txBody>
      </p:sp>
      <p:sp>
        <p:nvSpPr>
          <p:cNvPr id="9" name="TextBox 8"/>
          <p:cNvSpPr txBox="1"/>
          <p:nvPr/>
        </p:nvSpPr>
        <p:spPr>
          <a:xfrm>
            <a:off x="548640" y="4370832"/>
            <a:ext cx="8229600" cy="457200"/>
          </a:xfrm>
          <a:prstGeom prst="rect">
            <a:avLst/>
          </a:prstGeom>
          <a:noFill/>
        </p:spPr>
        <p:txBody>
          <a:bodyPr wrap="square" anchor="t" lIns="54864" rIns="54864" tIns="27432" bIns="27432">
            <a:spAutoFit/>
          </a:bodyPr>
          <a:lstStyle/>
          <a:p>
            <a:pPr algn="l"/>
            <a:r>
              <a:rPr sz="1050" b="1" i="0">
                <a:solidFill>
                  <a:srgbClr val="6B7280"/>
                </a:solidFill>
                <a:latin typeface="Arial"/>
              </a:rPr>
              <a:t>Demo:  </a:t>
            </a:r>
            <a:r>
              <a:rPr sz="1050" b="0" i="0">
                <a:solidFill>
                  <a:srgbClr val="374151"/>
                </a:solidFill>
                <a:latin typeface="Courier New"/>
              </a:rPr>
              <a:t>github.com/DaveRMaltby/guardrails-texttools-demo</a:t>
            </a:r>
            <a:r>
              <a:rPr sz="1050" b="1" i="0">
                <a:solidFill>
                  <a:srgbClr val="6B7280"/>
                </a:solidFill>
                <a:latin typeface="Arial"/>
              </a:rPr>
              <a:t>      Project:  </a:t>
            </a:r>
            <a:r>
              <a:rPr sz="1050" b="0" i="0">
                <a:solidFill>
                  <a:srgbClr val="374151"/>
                </a:solidFill>
                <a:latin typeface="Courier New"/>
              </a:rPr>
              <a:t>github.com/Servant-Software-LLC/Guardrails</a:t>
            </a:r>
          </a:p>
        </p:txBody>
      </p:sp>
      <p:sp>
        <p:nvSpPr>
          <p:cNvPr id="10" name="Rectangle 9"/>
          <p:cNvSpPr/>
          <p:nvPr/>
        </p:nvSpPr>
        <p:spPr>
          <a:xfrm>
            <a:off x="0" y="5029200"/>
            <a:ext cx="9144000" cy="114300"/>
          </a:xfrm>
          <a:prstGeom prst="rect">
            <a:avLst/>
          </a:prstGeom>
          <a:solidFill>
            <a:srgbClr val="014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 y="4992624"/>
            <a:ext cx="5486400" cy="182880"/>
          </a:xfrm>
          <a:prstGeom prst="rect">
            <a:avLst/>
          </a:prstGeom>
          <a:noFill/>
        </p:spPr>
        <p:txBody>
          <a:bodyPr wrap="square" anchor="t" lIns="54864" rIns="54864" tIns="27432" bIns="27432">
            <a:spAutoFit/>
          </a:bodyPr>
          <a:lstStyle/>
          <a:p>
            <a:pPr algn="l"/>
            <a:r>
              <a:rPr sz="800" b="0" i="0">
                <a:solidFill>
                  <a:srgbClr val="94A3B8"/>
                </a:solidFill>
                <a:latin typeface="Arial"/>
              </a:rPr>
              <a:t>Tosca Learns  ·  Agentic Engineering</a:t>
            </a:r>
          </a:p>
        </p:txBody>
      </p:sp>
      <p:sp>
        <p:nvSpPr>
          <p:cNvPr id="12" name="TextBox 11"/>
          <p:cNvSpPr txBox="1"/>
          <p:nvPr/>
        </p:nvSpPr>
        <p:spPr>
          <a:xfrm>
            <a:off x="7315200" y="4992624"/>
            <a:ext cx="1371600" cy="182880"/>
          </a:xfrm>
          <a:prstGeom prst="rect">
            <a:avLst/>
          </a:prstGeom>
          <a:noFill/>
        </p:spPr>
        <p:txBody>
          <a:bodyPr wrap="square" anchor="t" lIns="54864" rIns="54864" tIns="27432" bIns="27432">
            <a:spAutoFit/>
          </a:bodyPr>
          <a:lstStyle/>
          <a:p>
            <a:pPr algn="r"/>
            <a:r>
              <a:rPr sz="800" b="0" i="0">
                <a:solidFill>
                  <a:srgbClr val="94A3B8"/>
                </a:solidFill>
                <a:latin typeface="Arial"/>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