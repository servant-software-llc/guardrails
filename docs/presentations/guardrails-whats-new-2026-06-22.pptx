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I introduced Guardrails — the harness that makes a single AI task prove it worked before it counts as done. That was a few weeks ago. Since then the project has moved a long way, and the headline is a big one: Guardrails can now run many tasks IN PARALLEL, safely, and still keep every one of the guarantees we talked about. Today is a short 'what's new' — I'll recap in one slide, then spend most of our time on the new parallel engine.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refresher for anyone who wasn't here, and a reset for everyone who was. A plan becomes a DAG of tasks; each task does something and then has to pass executable checks — the guardrails. Failures retry with targeted feedback, and an unfixable failure halts honestly for a human instead of pretending it's done. Hold that picture — everything new keeps it true. The whole challenge of the last few weeks was: how do you run tasks concurrently without weakening a single one of those guarantees?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big one. The dependency graph always told us which tasks could run side by side — the doc-update task never needed to wait for the feature task. Before, we ran them one at a time anyway. Now the scheduler runs up to three at once by default. Three is deliberate — impressive in a demo, gentle on disk. And notice: serial is still the default. You opt INTO parallel; you don't get surprised by it. The hard part wasn't running things at once — it was doing it WITHOUT two agents stepping on each other. That's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instinct is to solve concurrency with locks and cleverness. We didn't. Each task runs in its own physical copy of the repo — a git worktree — so there is simply no shared mutable workspace for two agents to fight over. The whole class of 'one agent overwrote the other's work' bug doesn't get reduced, it gets removed by construction. And we're careful about cost: if tasks form a straight line, they hand the same worktree down the chain instead of making a fresh copy each time. Git shares the history under the hood, so what multiplies is just the working files, not the whole repo.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replaced an older, fiddlier mechanism for protecting test files with something much simpler: just declare what a task is allowed to write, then deterministically check the diff stayed inside it. The elegant part is what it gives us almost for free. The TDD rule we care about — the code can't quietly edit the tests to make them pass — becomes a one-line scope: the implementation task's write-scope excludes the test files, so editing them is a guardrail failure, full stop. And small, well-scoped diffs are the thing that makes the next slide — merging concurrent work — tractable.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whole design, and the one sentence I'd want you to walk out with. We let an AI do something genuinely useful — resolve a merge conflict, which is fiddly, judgement-heavy work. But we never let the AI decide that it worked. Its output is just bytes. Those bytes only count after deterministic checks confirm it didn't cheat — no leftover conflict markers, no touching files outside the conflict — and then the real verdict is the same build-and-test re-verify that a clean automatic merge would face. The AI gets no discount. If it can't pass, the run halts honestly for a human. That principle — a prompt may propose, only a deterministic gate may certify — is what lets us use AI aggressively AND trust the result. It's the same idea as the guardrails themselves, now applied to merging.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half of the work went into the skill that turns your plan into the task folder. It's gotten a lot more opinionated in good ways. It defaults to test-driven — tests get authored first, as their own task. It refuses to guess silently: if it can't tell which test framework you use, it asks rather than picking one and surprising you. For anything that runs as a server or an executable, it now adds a task that actually wires up the entry point and a smoke test that boots it and checks it responds — because 'it compiles' isn't 'it runs'. And for UI work it generates real UI tasks with checks that the UI is actually present. The theme: push more correctness into the generated structure, before a human even reviews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this is glamorous, but it's what makes the engine pleasant to live with. Guardrails now verify the output the action actually produced rather than re-running things and hoping for determinism. Logs stream to disk as the agent works, so you can watch a long task unfold instead of staring at a spinner. The dependency graph is now an interactive HTML diagram you can pan, zoom, and click into. The run hands you clickable links straight to the logs for any task that needs a look. And there's a real cost cap — set a dollar budget, and when it's reached the run stops honestly instead of quietly burning money. Small things, but they're the difference between a demo and a tool you'd actually leave running.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a single thread through all of this, it's that line. We gave AI agents MORE freedom this cycle — to run in parallel, to resolve merge conflicts, to scaffold richer task structures. And the way we made that safe was not to trust the AI more — it was to put a cheap, deterministic gate in front of every place the AI proposes something. More autonomy on one side, more verification on the other. That balance is the entire philosophy of the project, and the parallel engine is just the biggest example of it so far.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try it: update the tool, re-install the skills so you get the smarter breakdown, and add one line to your config to go parallel. The only new requirement is git, and only when you actually turn parallelism on — serial runs are unchanged. I'm dogfooding all of this on real work right now, including using Guardrails to build Guardrails. Happy to take questions, or to sit down and break down one of your real plans afterward.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51435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73736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749808"/>
            <a:ext cx="3657600" cy="365760"/>
          </a:xfrm>
          <a:prstGeom prst="roundRect">
            <a:avLst>
              <a:gd name="adj" fmla="val 50000"/>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Arial"/>
              </a:rPr>
              <a:t>WHAT’S NEW  ·  SINCE THE LUNCH &amp; LEARN</a:t>
            </a:r>
          </a:p>
        </p:txBody>
      </p:sp>
      <p:sp>
        <p:nvSpPr>
          <p:cNvPr id="6" name="TextBox 5"/>
          <p:cNvSpPr txBox="1"/>
          <p:nvPr/>
        </p:nvSpPr>
        <p:spPr>
          <a:xfrm>
            <a:off x="676656" y="1298448"/>
            <a:ext cx="8138160" cy="960120"/>
          </a:xfrm>
          <a:prstGeom prst="rect">
            <a:avLst/>
          </a:prstGeom>
          <a:noFill/>
        </p:spPr>
        <p:txBody>
          <a:bodyPr wrap="square" anchor="t" lIns="54864" rIns="54864" tIns="27432" bIns="27432">
            <a:spAutoFit/>
          </a:bodyPr>
          <a:lstStyle/>
          <a:p>
            <a:pPr algn="l"/>
            <a:r>
              <a:rPr sz="5000" b="1" i="0">
                <a:solidFill>
                  <a:srgbClr val="01499B"/>
                </a:solidFill>
                <a:latin typeface="Arial"/>
              </a:rPr>
              <a:t>Guardrails: What’s New</a:t>
            </a:r>
          </a:p>
        </p:txBody>
      </p:sp>
      <p:sp>
        <p:nvSpPr>
          <p:cNvPr id="7" name="TextBox 6"/>
          <p:cNvSpPr txBox="1"/>
          <p:nvPr/>
        </p:nvSpPr>
        <p:spPr>
          <a:xfrm>
            <a:off x="694944" y="2304288"/>
            <a:ext cx="7955279" cy="731520"/>
          </a:xfrm>
          <a:prstGeom prst="rect">
            <a:avLst/>
          </a:prstGeom>
          <a:noFill/>
        </p:spPr>
        <p:txBody>
          <a:bodyPr wrap="square" anchor="t" lIns="54864" rIns="54864" tIns="27432" bIns="27432">
            <a:spAutoFit/>
          </a:bodyPr>
          <a:lstStyle/>
          <a:p>
            <a:pPr algn="l">
              <a:lnSpc>
                <a:spcPct val="110000"/>
              </a:lnSpc>
            </a:pPr>
            <a:r>
              <a:rPr sz="2000" b="0" i="0">
                <a:solidFill>
                  <a:srgbClr val="374151"/>
                </a:solidFill>
                <a:latin typeface="Arial"/>
              </a:rPr>
              <a:t>From one verified task to a whole team of them — running at once</a:t>
            </a:r>
          </a:p>
        </p:txBody>
      </p:sp>
      <p:sp>
        <p:nvSpPr>
          <p:cNvPr id="8" name="Rectangle 7"/>
          <p:cNvSpPr/>
          <p:nvPr/>
        </p:nvSpPr>
        <p:spPr>
          <a:xfrm>
            <a:off x="0" y="3657600"/>
            <a:ext cx="9144000" cy="14859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4944" y="3822191"/>
            <a:ext cx="1280160" cy="36576"/>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3950208"/>
            <a:ext cx="7955279" cy="1005840"/>
          </a:xfrm>
          <a:prstGeom prst="rect">
            <a:avLst/>
          </a:prstGeom>
          <a:noFill/>
        </p:spPr>
        <p:txBody>
          <a:bodyPr wrap="square" anchor="t" lIns="54864" rIns="54864" tIns="27432" bIns="27432">
            <a:spAutoFit/>
          </a:bodyPr>
          <a:lstStyle/>
          <a:p>
            <a:pPr algn="l">
              <a:spcAft>
                <a:spcPts val="300"/>
              </a:spcAft>
            </a:pPr>
            <a:r>
              <a:rPr sz="1600" b="1" i="0">
                <a:solidFill>
                  <a:srgbClr val="1F2937"/>
                </a:solidFill>
                <a:latin typeface="Arial"/>
              </a:rPr>
              <a:t>David Maltby</a:t>
            </a:r>
          </a:p>
          <a:p>
            <a:pPr algn="l">
              <a:spcAft>
                <a:spcPts val="300"/>
              </a:spcAft>
            </a:pPr>
            <a:r>
              <a:rPr sz="1300" b="0" i="0">
                <a:solidFill>
                  <a:srgbClr val="6B7280"/>
                </a:solidFill>
                <a:latin typeface="Arial"/>
              </a:rPr>
              <a:t>A few weeks on from the Lunch &amp; Learn   ·   June 2026</a:t>
            </a:r>
          </a:p>
          <a:p>
            <a:pPr algn="l"/>
            <a:r>
              <a:rPr sz="1100" b="0" i="0">
                <a:solidFill>
                  <a:srgbClr val="6B7280"/>
                </a:solidFill>
                <a:latin typeface="Courier New"/>
              </a:rPr>
              <a:t>github.com/Servant-Software-LLC/Guardrails   ·   ServantSoftware.Guardrails  v1.0.0-preview.19</a:t>
            </a:r>
          </a:p>
        </p:txBody>
      </p:sp>
      <p:sp>
        <p:nvSpPr>
          <p:cNvPr id="11" name="Rectangle 10"/>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 y="4992624"/>
            <a:ext cx="4572000" cy="182880"/>
          </a:xfrm>
          <a:prstGeom prst="rect">
            <a:avLst/>
          </a:prstGeom>
          <a:noFill/>
        </p:spPr>
        <p:txBody>
          <a:bodyPr wrap="square" anchor="t" lIns="54864" rIns="54864" tIns="27432" bIns="27432">
            <a:spAutoFit/>
          </a:bodyPr>
          <a:lstStyle/>
          <a:p>
            <a:pPr algn="l"/>
            <a:r>
              <a:rPr sz="800" b="0" i="0">
                <a:solidFill>
                  <a:srgbClr val="94A3B8"/>
                </a:solidFill>
                <a:latin typeface="Arial"/>
              </a:rPr>
              <a:t>Guardrails — What's New</a:t>
            </a:r>
          </a:p>
        </p:txBody>
      </p:sp>
      <p:sp>
        <p:nvSpPr>
          <p:cNvPr id="13" name="TextBox 12"/>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7863840" cy="603504"/>
          </a:xfrm>
          <a:prstGeom prst="rect">
            <a:avLst/>
          </a:prstGeom>
          <a:noFill/>
        </p:spPr>
        <p:txBody>
          <a:bodyPr wrap="square" anchor="ctr" lIns="54864" rIns="54864" tIns="27432" bIns="27432">
            <a:spAutoFit/>
          </a:bodyPr>
          <a:lstStyle/>
          <a:p>
            <a:pPr algn="l"/>
            <a:r>
              <a:rPr sz="2100" b="1" i="0">
                <a:solidFill>
                  <a:srgbClr val="FFFFFF"/>
                </a:solidFill>
                <a:latin typeface="Arial"/>
              </a:rPr>
              <a:t>Where We Left Off</a:t>
            </a:r>
          </a:p>
        </p:txBody>
      </p:sp>
      <p:sp>
        <p:nvSpPr>
          <p:cNvPr id="5" name="Rounded Rectangle 4"/>
          <p:cNvSpPr/>
          <p:nvPr/>
        </p:nvSpPr>
        <p:spPr>
          <a:xfrm>
            <a:off x="7040880" y="256032"/>
            <a:ext cx="1691640" cy="329184"/>
          </a:xfrm>
          <a:prstGeom prst="roundRect">
            <a:avLst>
              <a:gd name="adj" fmla="val 50000"/>
            </a:avLst>
          </a:prstGeom>
          <a:solidFill>
            <a:srgbClr val="013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CFDEF5"/>
                </a:solidFill>
                <a:latin typeface="Arial"/>
              </a:rPr>
              <a:t>RECAP · 60 SEC</a:t>
            </a:r>
          </a:p>
        </p:txBody>
      </p:sp>
      <p:sp>
        <p:nvSpPr>
          <p:cNvPr id="6" name="Rounded Rectangle 5"/>
          <p:cNvSpPr/>
          <p:nvPr/>
        </p:nvSpPr>
        <p:spPr>
          <a:xfrm>
            <a:off x="448056" y="1078992"/>
            <a:ext cx="1847088" cy="868680"/>
          </a:xfrm>
          <a:prstGeom prst="roundRect">
            <a:avLst>
              <a:gd name="adj" fmla="val 8000"/>
            </a:avLst>
          </a:prstGeom>
          <a:solidFill>
            <a:srgbClr val="EFF6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400" b="1" i="0">
                <a:solidFill>
                  <a:srgbClr val="F36F21"/>
                </a:solidFill>
                <a:latin typeface="Arial"/>
              </a:rPr>
              <a:t>①  </a:t>
            </a:r>
            <a:r>
              <a:rPr sz="1300" b="1" i="0">
                <a:solidFill>
                  <a:srgbClr val="01499B"/>
                </a:solidFill>
                <a:latin typeface="Arial"/>
              </a:rPr>
              <a:t>Write a Plan</a:t>
            </a:r>
          </a:p>
          <a:p>
            <a:pPr algn="ctr"/>
            <a:r>
              <a:rPr sz="1050" b="0" i="0">
                <a:solidFill>
                  <a:srgbClr val="6B7280"/>
                </a:solidFill>
                <a:latin typeface="Courier New"/>
              </a:rPr>
              <a:t>Markdown</a:t>
            </a:r>
          </a:p>
        </p:txBody>
      </p:sp>
      <p:sp>
        <p:nvSpPr>
          <p:cNvPr id="7" name="TextBox 6"/>
          <p:cNvSpPr txBox="1"/>
          <p:nvPr/>
        </p:nvSpPr>
        <p:spPr>
          <a:xfrm>
            <a:off x="2276856" y="1078992"/>
            <a:ext cx="256032" cy="868680"/>
          </a:xfrm>
          <a:prstGeom prst="rect">
            <a:avLst/>
          </a:prstGeom>
          <a:noFill/>
        </p:spPr>
        <p:txBody>
          <a:bodyPr wrap="square" anchor="ctr" lIns="54864" rIns="54864" tIns="27432" bIns="27432">
            <a:spAutoFit/>
          </a:bodyPr>
          <a:lstStyle/>
          <a:p>
            <a:pPr algn="ctr"/>
            <a:r>
              <a:rPr sz="2000" b="1" i="0">
                <a:solidFill>
                  <a:srgbClr val="01499B"/>
                </a:solidFill>
                <a:latin typeface="Arial"/>
              </a:rPr>
              <a:t>→</a:t>
            </a:r>
          </a:p>
        </p:txBody>
      </p:sp>
      <p:sp>
        <p:nvSpPr>
          <p:cNvPr id="8" name="Rounded Rectangle 7"/>
          <p:cNvSpPr/>
          <p:nvPr/>
        </p:nvSpPr>
        <p:spPr>
          <a:xfrm>
            <a:off x="2496312" y="1078992"/>
            <a:ext cx="1847088" cy="868680"/>
          </a:xfrm>
          <a:prstGeom prst="roundRect">
            <a:avLst>
              <a:gd name="adj" fmla="val 8000"/>
            </a:avLst>
          </a:prstGeom>
          <a:solidFill>
            <a:srgbClr val="EFF6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400" b="1" i="0">
                <a:solidFill>
                  <a:srgbClr val="F36F21"/>
                </a:solidFill>
                <a:latin typeface="Arial"/>
              </a:rPr>
              <a:t>②  </a:t>
            </a:r>
            <a:r>
              <a:rPr sz="1300" b="1" i="0">
                <a:solidFill>
                  <a:srgbClr val="01499B"/>
                </a:solidFill>
                <a:latin typeface="Arial"/>
              </a:rPr>
              <a:t>Break It Down</a:t>
            </a:r>
          </a:p>
          <a:p>
            <a:pPr algn="ctr"/>
            <a:r>
              <a:rPr sz="1050" b="0" i="0">
                <a:solidFill>
                  <a:srgbClr val="6B7280"/>
                </a:solidFill>
                <a:latin typeface="Courier New"/>
              </a:rPr>
              <a:t>/plan-breakdown</a:t>
            </a:r>
          </a:p>
        </p:txBody>
      </p:sp>
      <p:sp>
        <p:nvSpPr>
          <p:cNvPr id="9" name="TextBox 8"/>
          <p:cNvSpPr txBox="1"/>
          <p:nvPr/>
        </p:nvSpPr>
        <p:spPr>
          <a:xfrm>
            <a:off x="4325112" y="1078992"/>
            <a:ext cx="256032" cy="868680"/>
          </a:xfrm>
          <a:prstGeom prst="rect">
            <a:avLst/>
          </a:prstGeom>
          <a:noFill/>
        </p:spPr>
        <p:txBody>
          <a:bodyPr wrap="square" anchor="ctr" lIns="54864" rIns="54864" tIns="27432" bIns="27432">
            <a:spAutoFit/>
          </a:bodyPr>
          <a:lstStyle/>
          <a:p>
            <a:pPr algn="ctr"/>
            <a:r>
              <a:rPr sz="2000" b="1" i="0">
                <a:solidFill>
                  <a:srgbClr val="01499B"/>
                </a:solidFill>
                <a:latin typeface="Arial"/>
              </a:rPr>
              <a:t>→</a:t>
            </a:r>
          </a:p>
        </p:txBody>
      </p:sp>
      <p:sp>
        <p:nvSpPr>
          <p:cNvPr id="10" name="Rounded Rectangle 9"/>
          <p:cNvSpPr/>
          <p:nvPr/>
        </p:nvSpPr>
        <p:spPr>
          <a:xfrm>
            <a:off x="4544568" y="1078992"/>
            <a:ext cx="1847088" cy="868680"/>
          </a:xfrm>
          <a:prstGeom prst="roundRect">
            <a:avLst>
              <a:gd name="adj" fmla="val 8000"/>
            </a:avLst>
          </a:prstGeom>
          <a:solidFill>
            <a:srgbClr val="EFF6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400" b="1" i="0">
                <a:solidFill>
                  <a:srgbClr val="F36F21"/>
                </a:solidFill>
                <a:latin typeface="Arial"/>
              </a:rPr>
              <a:t>③  </a:t>
            </a:r>
            <a:r>
              <a:rPr sz="1300" b="1" i="0">
                <a:solidFill>
                  <a:srgbClr val="01499B"/>
                </a:solidFill>
                <a:latin typeface="Arial"/>
              </a:rPr>
              <a:t>Review</a:t>
            </a:r>
          </a:p>
          <a:p>
            <a:pPr algn="ctr"/>
            <a:r>
              <a:rPr sz="1050" b="0" i="0">
                <a:solidFill>
                  <a:srgbClr val="6B7280"/>
                </a:solidFill>
                <a:latin typeface="Courier New"/>
              </a:rPr>
              <a:t>/guardrails-review</a:t>
            </a:r>
          </a:p>
        </p:txBody>
      </p:sp>
      <p:sp>
        <p:nvSpPr>
          <p:cNvPr id="11" name="TextBox 10"/>
          <p:cNvSpPr txBox="1"/>
          <p:nvPr/>
        </p:nvSpPr>
        <p:spPr>
          <a:xfrm>
            <a:off x="6373368" y="1078992"/>
            <a:ext cx="256032" cy="868680"/>
          </a:xfrm>
          <a:prstGeom prst="rect">
            <a:avLst/>
          </a:prstGeom>
          <a:noFill/>
        </p:spPr>
        <p:txBody>
          <a:bodyPr wrap="square" anchor="ctr" lIns="54864" rIns="54864" tIns="27432" bIns="27432">
            <a:spAutoFit/>
          </a:bodyPr>
          <a:lstStyle/>
          <a:p>
            <a:pPr algn="ctr"/>
            <a:r>
              <a:rPr sz="2000" b="1" i="0">
                <a:solidFill>
                  <a:srgbClr val="01499B"/>
                </a:solidFill>
                <a:latin typeface="Arial"/>
              </a:rPr>
              <a:t>→</a:t>
            </a:r>
          </a:p>
        </p:txBody>
      </p:sp>
      <p:sp>
        <p:nvSpPr>
          <p:cNvPr id="12" name="Rounded Rectangle 11"/>
          <p:cNvSpPr/>
          <p:nvPr/>
        </p:nvSpPr>
        <p:spPr>
          <a:xfrm>
            <a:off x="6592824" y="1078992"/>
            <a:ext cx="1847088" cy="868680"/>
          </a:xfrm>
          <a:prstGeom prst="roundRect">
            <a:avLst>
              <a:gd name="adj" fmla="val 8000"/>
            </a:avLst>
          </a:prstGeom>
          <a:solidFill>
            <a:srgbClr val="EFF6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400" b="1" i="0">
                <a:solidFill>
                  <a:srgbClr val="F36F21"/>
                </a:solidFill>
                <a:latin typeface="Arial"/>
              </a:rPr>
              <a:t>④  </a:t>
            </a:r>
            <a:r>
              <a:rPr sz="1300" b="1" i="0">
                <a:solidFill>
                  <a:srgbClr val="01499B"/>
                </a:solidFill>
                <a:latin typeface="Arial"/>
              </a:rPr>
              <a:t>Execute</a:t>
            </a:r>
          </a:p>
          <a:p>
            <a:pPr algn="ctr"/>
            <a:r>
              <a:rPr sz="1050" b="0" i="0">
                <a:solidFill>
                  <a:srgbClr val="6B7280"/>
                </a:solidFill>
                <a:latin typeface="Courier New"/>
              </a:rPr>
              <a:t>guardrails run</a:t>
            </a:r>
          </a:p>
        </p:txBody>
      </p:sp>
      <p:sp>
        <p:nvSpPr>
          <p:cNvPr id="13" name="Rounded Rectangle 12"/>
          <p:cNvSpPr/>
          <p:nvPr/>
        </p:nvSpPr>
        <p:spPr>
          <a:xfrm>
            <a:off x="448056" y="2212848"/>
            <a:ext cx="8257031" cy="566928"/>
          </a:xfrm>
          <a:prstGeom prst="roundRect">
            <a:avLst>
              <a:gd name="adj" fmla="val 12000"/>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374151"/>
                </a:solidFill>
                <a:latin typeface="Arial"/>
              </a:rPr>
              <a:t>The core promise:  </a:t>
            </a:r>
            <a:r>
              <a:rPr sz="1300" b="1" i="0">
                <a:solidFill>
                  <a:srgbClr val="01499B"/>
                </a:solidFill>
                <a:latin typeface="Arial"/>
              </a:rPr>
              <a:t>every task is verifiable, retryable, resumable.</a:t>
            </a:r>
            <a:r>
              <a:rPr sz="1200" b="0" i="0">
                <a:solidFill>
                  <a:srgbClr val="6B7280"/>
                </a:solidFill>
                <a:latin typeface="Arial"/>
              </a:rPr>
              <a:t>   Action + deterministic guardrails that prove it worked.</a:t>
            </a:r>
          </a:p>
        </p:txBody>
      </p:sp>
      <p:sp>
        <p:nvSpPr>
          <p:cNvPr id="14" name="Rounded Rectangle 13"/>
          <p:cNvSpPr/>
          <p:nvPr/>
        </p:nvSpPr>
        <p:spPr>
          <a:xfrm>
            <a:off x="448056" y="3054096"/>
            <a:ext cx="8257031" cy="1627632"/>
          </a:xfrm>
          <a:prstGeom prst="roundRect">
            <a:avLst>
              <a:gd name="adj" fmla="val 6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 bIns="27432"/>
          <a:lstStyle/>
          <a:p>
            <a:pPr algn="l">
              <a:spcAft>
                <a:spcPts val="600"/>
              </a:spcAft>
            </a:pPr>
            <a:r>
              <a:rPr sz="1200" b="1" i="0">
                <a:solidFill>
                  <a:srgbClr val="BFD3F0"/>
                </a:solidFill>
                <a:latin typeface="Arial"/>
              </a:rPr>
              <a:t>WHAT CHANGED SINCE JUNE 15</a:t>
            </a:r>
          </a:p>
          <a:p>
            <a:pPr algn="l">
              <a:lnSpc>
                <a:spcPct val="112000"/>
              </a:lnSpc>
            </a:pPr>
            <a:r>
              <a:rPr sz="1900" b="0" i="0">
                <a:solidFill>
                  <a:srgbClr val="FFFFFF"/>
                </a:solidFill>
                <a:latin typeface="Arial"/>
              </a:rPr>
              <a:t>We took that promise — </a:t>
            </a:r>
            <a:r>
              <a:rPr sz="1900" b="1" i="1">
                <a:solidFill>
                  <a:srgbClr val="FFFFFF"/>
                </a:solidFill>
                <a:latin typeface="Arial"/>
              </a:rPr>
              <a:t>prove every task worked</a:t>
            </a:r>
            <a:r>
              <a:rPr sz="1900" b="0" i="0">
                <a:solidFill>
                  <a:srgbClr val="FFFFFF"/>
                </a:solidFill>
                <a:latin typeface="Arial"/>
              </a:rPr>
              <a:t> — and made it hold while </a:t>
            </a:r>
            <a:r>
              <a:rPr sz="1900" b="1" i="0">
                <a:solidFill>
                  <a:srgbClr val="FFC9A3"/>
                </a:solidFill>
                <a:latin typeface="Arial"/>
              </a:rPr>
              <a:t>many tasks run at the same time.</a:t>
            </a:r>
          </a:p>
        </p:txBody>
      </p:sp>
      <p:sp>
        <p:nvSpPr>
          <p:cNvPr id="15" name="Rectangle 14"/>
          <p:cNvSpPr/>
          <p:nvPr/>
        </p:nvSpPr>
        <p:spPr>
          <a:xfrm>
            <a:off x="448056" y="3054096"/>
            <a:ext cx="109728" cy="1627632"/>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 y="4992624"/>
            <a:ext cx="4572000" cy="182880"/>
          </a:xfrm>
          <a:prstGeom prst="rect">
            <a:avLst/>
          </a:prstGeom>
          <a:noFill/>
        </p:spPr>
        <p:txBody>
          <a:bodyPr wrap="square" anchor="t" lIns="54864" rIns="54864" tIns="27432" bIns="27432">
            <a:spAutoFit/>
          </a:bodyPr>
          <a:lstStyle/>
          <a:p>
            <a:pPr algn="l"/>
            <a:r>
              <a:rPr sz="800" b="0" i="0">
                <a:solidFill>
                  <a:srgbClr val="94A3B8"/>
                </a:solidFill>
                <a:latin typeface="Arial"/>
              </a:rPr>
              <a:t>Guardrails — What's New</a:t>
            </a:r>
          </a:p>
        </p:txBody>
      </p:sp>
      <p:sp>
        <p:nvSpPr>
          <p:cNvPr id="18" name="TextBox 17"/>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7863840" cy="603504"/>
          </a:xfrm>
          <a:prstGeom prst="rect">
            <a:avLst/>
          </a:prstGeom>
          <a:noFill/>
        </p:spPr>
        <p:txBody>
          <a:bodyPr wrap="square" anchor="ctr" lIns="54864" rIns="54864" tIns="27432" bIns="27432">
            <a:spAutoFit/>
          </a:bodyPr>
          <a:lstStyle/>
          <a:p>
            <a:pPr algn="l"/>
            <a:r>
              <a:rPr sz="2100" b="1" i="0">
                <a:solidFill>
                  <a:srgbClr val="FFFFFF"/>
                </a:solidFill>
                <a:latin typeface="Arial"/>
              </a:rPr>
              <a:t>The Headline: Parallel Execution</a:t>
            </a:r>
          </a:p>
        </p:txBody>
      </p:sp>
      <p:sp>
        <p:nvSpPr>
          <p:cNvPr id="5" name="Rounded Rectangle 4"/>
          <p:cNvSpPr/>
          <p:nvPr/>
        </p:nvSpPr>
        <p:spPr>
          <a:xfrm>
            <a:off x="448056" y="1024128"/>
            <a:ext cx="4041648" cy="2514600"/>
          </a:xfrm>
          <a:prstGeom prst="roundRect">
            <a:avLst>
              <a:gd name="adj" fmla="val 6000"/>
            </a:avLst>
          </a:prstGeom>
          <a:solidFill>
            <a:srgbClr val="FEE2E2"/>
          </a:solidFill>
          <a:ln w="12700">
            <a:solidFill>
              <a:srgbClr val="F3C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7" y="1143000"/>
            <a:ext cx="3712463" cy="274320"/>
          </a:xfrm>
          <a:prstGeom prst="rect">
            <a:avLst/>
          </a:prstGeom>
          <a:noFill/>
        </p:spPr>
        <p:txBody>
          <a:bodyPr wrap="square" anchor="t" lIns="54864" rIns="54864" tIns="27432" bIns="27432">
            <a:spAutoFit/>
          </a:bodyPr>
          <a:lstStyle/>
          <a:p>
            <a:pPr algn="l"/>
            <a:r>
              <a:rPr sz="1450" b="1" i="0">
                <a:solidFill>
                  <a:srgbClr val="DC2626"/>
                </a:solidFill>
                <a:latin typeface="Arial"/>
              </a:rPr>
              <a:t>Before — Serial</a:t>
            </a:r>
          </a:p>
        </p:txBody>
      </p:sp>
      <p:sp>
        <p:nvSpPr>
          <p:cNvPr id="7" name="Rectangle 6"/>
          <p:cNvSpPr/>
          <p:nvPr/>
        </p:nvSpPr>
        <p:spPr>
          <a:xfrm>
            <a:off x="612647" y="1481328"/>
            <a:ext cx="1005840" cy="3200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7" y="1591056"/>
            <a:ext cx="3712463" cy="1801368"/>
          </a:xfrm>
          <a:prstGeom prst="rect">
            <a:avLst/>
          </a:prstGeom>
          <a:noFill/>
        </p:spPr>
        <p:txBody>
          <a:bodyPr wrap="square" anchor="t" lIns="54864" rIns="54864" tIns="27432" bIns="27432">
            <a:spAutoFit/>
          </a:bodyPr>
          <a:lstStyle/>
          <a:p/>
        </p:txBody>
      </p:sp>
      <p:sp>
        <p:nvSpPr>
          <p:cNvPr id="9" name="Rectangle 8"/>
          <p:cNvSpPr/>
          <p:nvPr/>
        </p:nvSpPr>
        <p:spPr>
          <a:xfrm>
            <a:off x="658368" y="1627632"/>
            <a:ext cx="3621024" cy="1783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500"/>
              </a:spcAft>
            </a:pPr>
            <a:r>
              <a:rPr sz="1700" b="1" i="0">
                <a:solidFill>
                  <a:srgbClr val="374151"/>
                </a:solidFill>
                <a:latin typeface="Courier New"/>
              </a:rPr>
              <a:t>01  →  02  →  03  →  04</a:t>
            </a:r>
          </a:p>
          <a:p>
            <a:pPr algn="ctr">
              <a:spcBef>
                <a:spcPts val="600"/>
              </a:spcBef>
            </a:pPr>
            <a:r>
              <a:rPr sz="1300" b="0" i="1">
                <a:solidFill>
                  <a:srgbClr val="6B7280"/>
                </a:solidFill>
                <a:latin typeface="Arial"/>
              </a:rPr>
              <a:t>one task at a time</a:t>
            </a:r>
          </a:p>
          <a:p>
            <a:pPr algn="ctr">
              <a:spcBef>
                <a:spcPts val="1000"/>
              </a:spcBef>
            </a:pPr>
            <a:r>
              <a:rPr sz="1150" b="0" i="0">
                <a:solidFill>
                  <a:srgbClr val="6B7280"/>
                </a:solidFill>
                <a:latin typeface="Arial"/>
              </a:rPr>
              <a:t>independent work waits its turn
for no reason</a:t>
            </a:r>
          </a:p>
        </p:txBody>
      </p:sp>
      <p:sp>
        <p:nvSpPr>
          <p:cNvPr id="10" name="Rounded Rectangle 9"/>
          <p:cNvSpPr/>
          <p:nvPr/>
        </p:nvSpPr>
        <p:spPr>
          <a:xfrm>
            <a:off x="4654296" y="1024128"/>
            <a:ext cx="4041648" cy="2514600"/>
          </a:xfrm>
          <a:prstGeom prst="roundRect">
            <a:avLst>
              <a:gd name="adj" fmla="val 6000"/>
            </a:avLst>
          </a:prstGeom>
          <a:solidFill>
            <a:srgbClr val="EFF6FF"/>
          </a:solidFill>
          <a:ln w="12700">
            <a:solidFill>
              <a:srgbClr val="E0E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18888" y="1143000"/>
            <a:ext cx="3712463" cy="274320"/>
          </a:xfrm>
          <a:prstGeom prst="rect">
            <a:avLst/>
          </a:prstGeom>
          <a:noFill/>
        </p:spPr>
        <p:txBody>
          <a:bodyPr wrap="square" anchor="t" lIns="54864" rIns="54864" tIns="27432" bIns="27432">
            <a:spAutoFit/>
          </a:bodyPr>
          <a:lstStyle/>
          <a:p>
            <a:pPr algn="l"/>
            <a:r>
              <a:rPr sz="1450" b="1" i="0">
                <a:solidFill>
                  <a:srgbClr val="01499B"/>
                </a:solidFill>
                <a:latin typeface="Arial"/>
              </a:rPr>
              <a:t>Now — Parallel</a:t>
            </a:r>
          </a:p>
        </p:txBody>
      </p:sp>
      <p:sp>
        <p:nvSpPr>
          <p:cNvPr id="12" name="Rectangle 11"/>
          <p:cNvSpPr/>
          <p:nvPr/>
        </p:nvSpPr>
        <p:spPr>
          <a:xfrm>
            <a:off x="4818888" y="1481328"/>
            <a:ext cx="1005840" cy="32004"/>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18888" y="1591056"/>
            <a:ext cx="3712463" cy="1801368"/>
          </a:xfrm>
          <a:prstGeom prst="rect">
            <a:avLst/>
          </a:prstGeom>
          <a:noFill/>
        </p:spPr>
        <p:txBody>
          <a:bodyPr wrap="square" anchor="t" lIns="54864" rIns="54864" tIns="27432" bIns="27432">
            <a:spAutoFit/>
          </a:bodyPr>
          <a:lstStyle/>
          <a:p/>
        </p:txBody>
      </p:sp>
      <p:sp>
        <p:nvSpPr>
          <p:cNvPr id="14" name="Rounded Rectangle 13"/>
          <p:cNvSpPr/>
          <p:nvPr/>
        </p:nvSpPr>
        <p:spPr>
          <a:xfrm>
            <a:off x="6903720" y="1097280"/>
            <a:ext cx="1627632" cy="310896"/>
          </a:xfrm>
          <a:prstGeom prst="roundRect">
            <a:avLst>
              <a:gd name="adj" fmla="val 50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ourier New"/>
              </a:rPr>
              <a:t>maxParallelism: 3</a:t>
            </a:r>
          </a:p>
        </p:txBody>
      </p:sp>
      <p:sp>
        <p:nvSpPr>
          <p:cNvPr id="15" name="Rounded Rectangle 14"/>
          <p:cNvSpPr/>
          <p:nvPr/>
        </p:nvSpPr>
        <p:spPr>
          <a:xfrm>
            <a:off x="4956048" y="1691640"/>
            <a:ext cx="914400" cy="457200"/>
          </a:xfrm>
          <a:prstGeom prst="roundRect">
            <a:avLst>
              <a:gd name="adj" fmla="val 16000"/>
            </a:avLst>
          </a:prstGeom>
          <a:solidFill>
            <a:srgbClr val="FFFFFF"/>
          </a:solidFill>
          <a:ln w="15875">
            <a:solidFill>
              <a:srgbClr val="01499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01499B"/>
                </a:solidFill>
                <a:latin typeface="Courier New"/>
              </a:rPr>
              <a:t>01</a:t>
            </a:r>
          </a:p>
        </p:txBody>
      </p:sp>
      <p:sp>
        <p:nvSpPr>
          <p:cNvPr id="16" name="Rounded Rectangle 15"/>
          <p:cNvSpPr/>
          <p:nvPr/>
        </p:nvSpPr>
        <p:spPr>
          <a:xfrm>
            <a:off x="6035040" y="1691640"/>
            <a:ext cx="914400" cy="457200"/>
          </a:xfrm>
          <a:prstGeom prst="roundRect">
            <a:avLst>
              <a:gd name="adj" fmla="val 16000"/>
            </a:avLst>
          </a:prstGeom>
          <a:solidFill>
            <a:srgbClr val="FFFFFF"/>
          </a:solidFill>
          <a:ln w="15875">
            <a:solidFill>
              <a:srgbClr val="01499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01499B"/>
                </a:solidFill>
                <a:latin typeface="Courier New"/>
              </a:rPr>
              <a:t>02</a:t>
            </a:r>
          </a:p>
        </p:txBody>
      </p:sp>
      <p:sp>
        <p:nvSpPr>
          <p:cNvPr id="17" name="Rounded Rectangle 16"/>
          <p:cNvSpPr/>
          <p:nvPr/>
        </p:nvSpPr>
        <p:spPr>
          <a:xfrm>
            <a:off x="7114031" y="1691640"/>
            <a:ext cx="914400" cy="457200"/>
          </a:xfrm>
          <a:prstGeom prst="roundRect">
            <a:avLst>
              <a:gd name="adj" fmla="val 16000"/>
            </a:avLst>
          </a:prstGeom>
          <a:solidFill>
            <a:srgbClr val="FFFFFF"/>
          </a:solidFill>
          <a:ln w="15875">
            <a:solidFill>
              <a:srgbClr val="01499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01499B"/>
                </a:solidFill>
                <a:latin typeface="Courier New"/>
              </a:rPr>
              <a:t>03</a:t>
            </a:r>
          </a:p>
        </p:txBody>
      </p:sp>
      <p:sp>
        <p:nvSpPr>
          <p:cNvPr id="18" name="TextBox 17"/>
          <p:cNvSpPr txBox="1"/>
          <p:nvPr/>
        </p:nvSpPr>
        <p:spPr>
          <a:xfrm>
            <a:off x="4818888" y="2212848"/>
            <a:ext cx="3712463" cy="274320"/>
          </a:xfrm>
          <a:prstGeom prst="rect">
            <a:avLst/>
          </a:prstGeom>
          <a:noFill/>
        </p:spPr>
        <p:txBody>
          <a:bodyPr wrap="square" anchor="t" lIns="54864" rIns="54864" tIns="27432" bIns="27432">
            <a:spAutoFit/>
          </a:bodyPr>
          <a:lstStyle/>
          <a:p>
            <a:pPr algn="ctr"/>
            <a:r>
              <a:rPr sz="1250" b="1" i="1">
                <a:solidFill>
                  <a:srgbClr val="01499B"/>
                </a:solidFill>
                <a:latin typeface="Arial"/>
              </a:rPr>
              <a:t>three tasks in flight at once</a:t>
            </a:r>
          </a:p>
        </p:txBody>
      </p:sp>
      <p:sp>
        <p:nvSpPr>
          <p:cNvPr id="19" name="Rounded Rectangle 18"/>
          <p:cNvSpPr/>
          <p:nvPr/>
        </p:nvSpPr>
        <p:spPr>
          <a:xfrm>
            <a:off x="5870448" y="2606040"/>
            <a:ext cx="914400" cy="420624"/>
          </a:xfrm>
          <a:prstGeom prst="roundRect">
            <a:avLst>
              <a:gd name="adj" fmla="val 16000"/>
            </a:avLst>
          </a:prstGeom>
          <a:solidFill>
            <a:srgbClr val="F8FAFC"/>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6B7280"/>
                </a:solidFill>
                <a:latin typeface="Courier New"/>
              </a:rPr>
              <a:t>04</a:t>
            </a:r>
          </a:p>
        </p:txBody>
      </p:sp>
      <p:sp>
        <p:nvSpPr>
          <p:cNvPr id="20" name="TextBox 19"/>
          <p:cNvSpPr txBox="1"/>
          <p:nvPr/>
        </p:nvSpPr>
        <p:spPr>
          <a:xfrm>
            <a:off x="4818888" y="3044952"/>
            <a:ext cx="3712463" cy="274320"/>
          </a:xfrm>
          <a:prstGeom prst="rect">
            <a:avLst/>
          </a:prstGeom>
          <a:noFill/>
        </p:spPr>
        <p:txBody>
          <a:bodyPr wrap="square" anchor="t" lIns="54864" rIns="54864" tIns="27432" bIns="27432">
            <a:spAutoFit/>
          </a:bodyPr>
          <a:lstStyle/>
          <a:p>
            <a:pPr algn="ctr"/>
            <a:r>
              <a:rPr sz="1100" b="0" i="0">
                <a:solidFill>
                  <a:srgbClr val="6B7280"/>
                </a:solidFill>
                <a:latin typeface="Arial"/>
              </a:rPr>
              <a:t>04 waits on its deps, then runs</a:t>
            </a:r>
          </a:p>
        </p:txBody>
      </p:sp>
      <p:sp>
        <p:nvSpPr>
          <p:cNvPr id="21" name="Rounded Rectangle 20"/>
          <p:cNvSpPr/>
          <p:nvPr/>
        </p:nvSpPr>
        <p:spPr>
          <a:xfrm>
            <a:off x="448056" y="3712463"/>
            <a:ext cx="8257031" cy="969264"/>
          </a:xfrm>
          <a:prstGeom prst="roundRect">
            <a:avLst>
              <a:gd name="adj" fmla="val 10000"/>
            </a:avLst>
          </a:prstGeom>
          <a:solidFill>
            <a:srgbClr val="FFF7ED"/>
          </a:solidFill>
          <a:ln w="12700">
            <a:solidFill>
              <a:srgbClr val="F6D8B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7432" bIns="27432"/>
          <a:lstStyle/>
          <a:p>
            <a:pPr algn="l">
              <a:lnSpc>
                <a:spcPct val="106000"/>
              </a:lnSpc>
              <a:spcAft>
                <a:spcPts val="300"/>
              </a:spcAft>
            </a:pPr>
            <a:r>
              <a:rPr sz="1300" b="0" i="0">
                <a:solidFill>
                  <a:srgbClr val="374151"/>
                </a:solidFill>
                <a:latin typeface="Arial"/>
              </a:rPr>
              <a:t>The DAG already knew which tasks were independent. </a:t>
            </a:r>
            <a:r>
              <a:rPr sz="1300" b="1" i="0">
                <a:solidFill>
                  <a:srgbClr val="C45C15"/>
                </a:solidFill>
                <a:latin typeface="Arial"/>
              </a:rPr>
              <a:t>Now the scheduler USES that</a:t>
            </a:r>
            <a:r>
              <a:rPr sz="1300" b="0" i="0">
                <a:solidFill>
                  <a:srgbClr val="374151"/>
                </a:solidFill>
                <a:latin typeface="Arial"/>
              </a:rPr>
              <a:t> — filling the parallel slots with work that doesn’t depend on each other.</a:t>
            </a:r>
          </a:p>
          <a:p>
            <a:pPr algn="l"/>
            <a:r>
              <a:rPr sz="1200" b="0" i="0">
                <a:solidFill>
                  <a:srgbClr val="374151"/>
                </a:solidFill>
                <a:latin typeface="Arial"/>
              </a:rPr>
              <a:t>Turn it on: </a:t>
            </a:r>
            <a:r>
              <a:rPr sz="1200" b="1" i="0">
                <a:solidFill>
                  <a:srgbClr val="01499B"/>
                </a:solidFill>
                <a:latin typeface="Courier New"/>
              </a:rPr>
              <a:t>maxParallelism: 3</a:t>
            </a:r>
            <a:r>
              <a:rPr sz="1200" b="0" i="0">
                <a:solidFill>
                  <a:srgbClr val="374151"/>
                </a:solidFill>
                <a:latin typeface="Arial"/>
              </a:rPr>
              <a:t>  in guardrails.json.  Serial (</a:t>
            </a:r>
            <a:r>
              <a:rPr sz="1200" b="1" i="0">
                <a:solidFill>
                  <a:srgbClr val="01499B"/>
                </a:solidFill>
                <a:latin typeface="Courier New"/>
              </a:rPr>
              <a:t>1</a:t>
            </a:r>
            <a:r>
              <a:rPr sz="1200" b="0" i="0">
                <a:solidFill>
                  <a:srgbClr val="374151"/>
                </a:solidFill>
                <a:latin typeface="Arial"/>
              </a:rPr>
              <a:t>) stays the safe default — you opt in.</a:t>
            </a:r>
          </a:p>
        </p:txBody>
      </p:sp>
      <p:sp>
        <p:nvSpPr>
          <p:cNvPr id="22" name="Rectangle 21"/>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 y="4992624"/>
            <a:ext cx="4572000" cy="182880"/>
          </a:xfrm>
          <a:prstGeom prst="rect">
            <a:avLst/>
          </a:prstGeom>
          <a:noFill/>
        </p:spPr>
        <p:txBody>
          <a:bodyPr wrap="square" anchor="t" lIns="54864" rIns="54864" tIns="27432" bIns="27432">
            <a:spAutoFit/>
          </a:bodyPr>
          <a:lstStyle/>
          <a:p>
            <a:pPr algn="l"/>
            <a:r>
              <a:rPr sz="800" b="0" i="0">
                <a:solidFill>
                  <a:srgbClr val="94A3B8"/>
                </a:solidFill>
                <a:latin typeface="Arial"/>
              </a:rPr>
              <a:t>Guardrails — What's New</a:t>
            </a:r>
          </a:p>
        </p:txBody>
      </p:sp>
      <p:sp>
        <p:nvSpPr>
          <p:cNvPr id="24" name="TextBox 23"/>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7863840" cy="603504"/>
          </a:xfrm>
          <a:prstGeom prst="rect">
            <a:avLst/>
          </a:prstGeom>
          <a:noFill/>
        </p:spPr>
        <p:txBody>
          <a:bodyPr wrap="square" anchor="ctr" lIns="54864" rIns="54864" tIns="27432" bIns="27432">
            <a:spAutoFit/>
          </a:bodyPr>
          <a:lstStyle/>
          <a:p>
            <a:pPr algn="l"/>
            <a:r>
              <a:rPr sz="1700" b="1" i="0">
                <a:solidFill>
                  <a:srgbClr val="BFD3F0"/>
                </a:solidFill>
                <a:latin typeface="Arial"/>
              </a:rPr>
              <a:t>①   </a:t>
            </a:r>
            <a:r>
              <a:rPr sz="2100" b="1" i="0">
                <a:solidFill>
                  <a:srgbClr val="FFFFFF"/>
                </a:solidFill>
                <a:latin typeface="Arial"/>
              </a:rPr>
              <a:t>Worktrees Isolate</a:t>
            </a:r>
          </a:p>
        </p:txBody>
      </p:sp>
      <p:sp>
        <p:nvSpPr>
          <p:cNvPr id="5" name="TextBox 4"/>
          <p:cNvSpPr txBox="1"/>
          <p:nvPr/>
        </p:nvSpPr>
        <p:spPr>
          <a:xfrm>
            <a:off x="448056" y="914400"/>
            <a:ext cx="8257031" cy="310896"/>
          </a:xfrm>
          <a:prstGeom prst="rect">
            <a:avLst/>
          </a:prstGeom>
          <a:noFill/>
        </p:spPr>
        <p:txBody>
          <a:bodyPr wrap="square" anchor="t" lIns="54864" rIns="54864" tIns="27432" bIns="27432">
            <a:spAutoFit/>
          </a:bodyPr>
          <a:lstStyle/>
          <a:p>
            <a:pPr algn="l"/>
            <a:r>
              <a:rPr sz="1250" b="0" i="0">
                <a:solidFill>
                  <a:srgbClr val="374151"/>
                </a:solidFill>
                <a:latin typeface="Arial"/>
              </a:rPr>
              <a:t>The danger with concurrency: two agents writing the same workspace → corruption. </a:t>
            </a:r>
            <a:r>
              <a:rPr sz="1250" b="1" i="0">
                <a:solidFill>
                  <a:srgbClr val="C45C15"/>
                </a:solidFill>
                <a:latin typeface="Arial"/>
              </a:rPr>
              <a:t>The fix is physical, not clever.</a:t>
            </a:r>
          </a:p>
        </p:txBody>
      </p:sp>
      <p:sp>
        <p:nvSpPr>
          <p:cNvPr id="6" name="Rounded Rectangle 5"/>
          <p:cNvSpPr/>
          <p:nvPr/>
        </p:nvSpPr>
        <p:spPr>
          <a:xfrm>
            <a:off x="2834640" y="1298448"/>
            <a:ext cx="3474720" cy="512064"/>
          </a:xfrm>
          <a:prstGeom prst="roundRect">
            <a:avLst>
              <a:gd name="adj" fmla="val 10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1" i="0">
                <a:solidFill>
                  <a:srgbClr val="FFFFFF"/>
                </a:solidFill>
                <a:latin typeface="Arial"/>
              </a:rPr>
              <a:t>plan branch</a:t>
            </a:r>
            <a:r>
              <a:rPr sz="1050" b="0" i="0">
                <a:solidFill>
                  <a:srgbClr val="BFD3F0"/>
                </a:solidFill>
                <a:latin typeface="Arial"/>
              </a:rPr>
              <a:t>   · the durable, verified truth</a:t>
            </a:r>
          </a:p>
        </p:txBody>
      </p:sp>
      <p:sp>
        <p:nvSpPr>
          <p:cNvPr id="7" name="Rounded Rectangle 6"/>
          <p:cNvSpPr/>
          <p:nvPr/>
        </p:nvSpPr>
        <p:spPr>
          <a:xfrm>
            <a:off x="868680" y="2212848"/>
            <a:ext cx="1828800" cy="713232"/>
          </a:xfrm>
          <a:prstGeom prst="roundRect">
            <a:avLst>
              <a:gd name="adj" fmla="val 10000"/>
            </a:avLst>
          </a:prstGeom>
          <a:solidFill>
            <a:srgbClr val="EFF6FF"/>
          </a:solidFill>
          <a:ln w="15875">
            <a:solidFill>
              <a:srgbClr val="01499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250" b="1" i="0">
                <a:solidFill>
                  <a:srgbClr val="01499B"/>
                </a:solidFill>
                <a:latin typeface="Courier New"/>
              </a:rPr>
              <a:t>worktree A</a:t>
            </a:r>
          </a:p>
          <a:p>
            <a:pPr algn="ctr"/>
            <a:r>
              <a:rPr sz="1050" b="0" i="0">
                <a:solidFill>
                  <a:srgbClr val="374151"/>
                </a:solidFill>
                <a:latin typeface="Arial"/>
              </a:rPr>
              <a:t>task 01</a:t>
            </a:r>
          </a:p>
        </p:txBody>
      </p:sp>
      <p:sp>
        <p:nvSpPr>
          <p:cNvPr id="8" name="TextBox 7"/>
          <p:cNvSpPr txBox="1"/>
          <p:nvPr/>
        </p:nvSpPr>
        <p:spPr>
          <a:xfrm>
            <a:off x="868680" y="1810512"/>
            <a:ext cx="1828800" cy="384048"/>
          </a:xfrm>
          <a:prstGeom prst="rect">
            <a:avLst/>
          </a:prstGeom>
          <a:noFill/>
        </p:spPr>
        <p:txBody>
          <a:bodyPr wrap="square" anchor="ctr" lIns="54864" rIns="54864" tIns="27432" bIns="27432">
            <a:spAutoFit/>
          </a:bodyPr>
          <a:lstStyle/>
          <a:p>
            <a:pPr algn="ctr"/>
            <a:r>
              <a:rPr sz="1800" b="1" i="0">
                <a:solidFill>
                  <a:srgbClr val="94A3B8"/>
                </a:solidFill>
                <a:latin typeface="Arial"/>
              </a:rPr>
              <a:t>↓</a:t>
            </a:r>
          </a:p>
        </p:txBody>
      </p:sp>
      <p:sp>
        <p:nvSpPr>
          <p:cNvPr id="9" name="Rounded Rectangle 8"/>
          <p:cNvSpPr/>
          <p:nvPr/>
        </p:nvSpPr>
        <p:spPr>
          <a:xfrm>
            <a:off x="3657600" y="2212848"/>
            <a:ext cx="1828800" cy="713232"/>
          </a:xfrm>
          <a:prstGeom prst="roundRect">
            <a:avLst>
              <a:gd name="adj" fmla="val 10000"/>
            </a:avLst>
          </a:prstGeom>
          <a:solidFill>
            <a:srgbClr val="EFF6FF"/>
          </a:solidFill>
          <a:ln w="15875">
            <a:solidFill>
              <a:srgbClr val="01499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250" b="1" i="0">
                <a:solidFill>
                  <a:srgbClr val="01499B"/>
                </a:solidFill>
                <a:latin typeface="Courier New"/>
              </a:rPr>
              <a:t>worktree B</a:t>
            </a:r>
          </a:p>
          <a:p>
            <a:pPr algn="ctr"/>
            <a:r>
              <a:rPr sz="1050" b="0" i="0">
                <a:solidFill>
                  <a:srgbClr val="374151"/>
                </a:solidFill>
                <a:latin typeface="Arial"/>
              </a:rPr>
              <a:t>task 02</a:t>
            </a:r>
          </a:p>
        </p:txBody>
      </p:sp>
      <p:sp>
        <p:nvSpPr>
          <p:cNvPr id="10" name="TextBox 9"/>
          <p:cNvSpPr txBox="1"/>
          <p:nvPr/>
        </p:nvSpPr>
        <p:spPr>
          <a:xfrm>
            <a:off x="3657600" y="1810512"/>
            <a:ext cx="1828800" cy="384048"/>
          </a:xfrm>
          <a:prstGeom prst="rect">
            <a:avLst/>
          </a:prstGeom>
          <a:noFill/>
        </p:spPr>
        <p:txBody>
          <a:bodyPr wrap="square" anchor="ctr" lIns="54864" rIns="54864" tIns="27432" bIns="27432">
            <a:spAutoFit/>
          </a:bodyPr>
          <a:lstStyle/>
          <a:p>
            <a:pPr algn="ctr"/>
            <a:r>
              <a:rPr sz="1800" b="1" i="0">
                <a:solidFill>
                  <a:srgbClr val="94A3B8"/>
                </a:solidFill>
                <a:latin typeface="Arial"/>
              </a:rPr>
              <a:t>↓</a:t>
            </a:r>
          </a:p>
        </p:txBody>
      </p:sp>
      <p:sp>
        <p:nvSpPr>
          <p:cNvPr id="11" name="Rounded Rectangle 10"/>
          <p:cNvSpPr/>
          <p:nvPr/>
        </p:nvSpPr>
        <p:spPr>
          <a:xfrm>
            <a:off x="6446520" y="2212848"/>
            <a:ext cx="1828800" cy="713232"/>
          </a:xfrm>
          <a:prstGeom prst="roundRect">
            <a:avLst>
              <a:gd name="adj" fmla="val 10000"/>
            </a:avLst>
          </a:prstGeom>
          <a:solidFill>
            <a:srgbClr val="EFF6FF"/>
          </a:solidFill>
          <a:ln w="15875">
            <a:solidFill>
              <a:srgbClr val="01499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250" b="1" i="0">
                <a:solidFill>
                  <a:srgbClr val="01499B"/>
                </a:solidFill>
                <a:latin typeface="Courier New"/>
              </a:rPr>
              <a:t>worktree C</a:t>
            </a:r>
          </a:p>
          <a:p>
            <a:pPr algn="ctr"/>
            <a:r>
              <a:rPr sz="1050" b="0" i="0">
                <a:solidFill>
                  <a:srgbClr val="374151"/>
                </a:solidFill>
                <a:latin typeface="Arial"/>
              </a:rPr>
              <a:t>task 03</a:t>
            </a:r>
          </a:p>
        </p:txBody>
      </p:sp>
      <p:sp>
        <p:nvSpPr>
          <p:cNvPr id="12" name="TextBox 11"/>
          <p:cNvSpPr txBox="1"/>
          <p:nvPr/>
        </p:nvSpPr>
        <p:spPr>
          <a:xfrm>
            <a:off x="6446520" y="1810512"/>
            <a:ext cx="1828800" cy="384048"/>
          </a:xfrm>
          <a:prstGeom prst="rect">
            <a:avLst/>
          </a:prstGeom>
          <a:noFill/>
        </p:spPr>
        <p:txBody>
          <a:bodyPr wrap="square" anchor="ctr" lIns="54864" rIns="54864" tIns="27432" bIns="27432">
            <a:spAutoFit/>
          </a:bodyPr>
          <a:lstStyle/>
          <a:p>
            <a:pPr algn="ctr"/>
            <a:r>
              <a:rPr sz="1800" b="1" i="0">
                <a:solidFill>
                  <a:srgbClr val="94A3B8"/>
                </a:solidFill>
                <a:latin typeface="Arial"/>
              </a:rPr>
              <a:t>↓</a:t>
            </a:r>
          </a:p>
        </p:txBody>
      </p:sp>
      <p:sp>
        <p:nvSpPr>
          <p:cNvPr id="13" name="TextBox 12"/>
          <p:cNvSpPr txBox="1"/>
          <p:nvPr/>
        </p:nvSpPr>
        <p:spPr>
          <a:xfrm>
            <a:off x="868680" y="2907792"/>
            <a:ext cx="7406640" cy="274320"/>
          </a:xfrm>
          <a:prstGeom prst="rect">
            <a:avLst/>
          </a:prstGeom>
          <a:noFill/>
        </p:spPr>
        <p:txBody>
          <a:bodyPr wrap="square" anchor="t" lIns="54864" rIns="54864" tIns="27432" bIns="27432">
            <a:spAutoFit/>
          </a:bodyPr>
          <a:lstStyle/>
          <a:p>
            <a:pPr algn="ctr"/>
            <a:r>
              <a:rPr sz="1150" b="0" i="1">
                <a:solidFill>
                  <a:srgbClr val="6B7280"/>
                </a:solidFill>
                <a:latin typeface="Arial"/>
              </a:rPr>
              <a:t>each writes ONLY its own tree</a:t>
            </a:r>
          </a:p>
        </p:txBody>
      </p:sp>
      <p:sp>
        <p:nvSpPr>
          <p:cNvPr id="14" name="TextBox 13"/>
          <p:cNvSpPr txBox="1"/>
          <p:nvPr/>
        </p:nvSpPr>
        <p:spPr>
          <a:xfrm>
            <a:off x="2834640" y="3127248"/>
            <a:ext cx="3474720" cy="310896"/>
          </a:xfrm>
          <a:prstGeom prst="rect">
            <a:avLst/>
          </a:prstGeom>
          <a:noFill/>
        </p:spPr>
        <p:txBody>
          <a:bodyPr wrap="square" anchor="ctr" lIns="54864" rIns="54864" tIns="27432" bIns="27432">
            <a:spAutoFit/>
          </a:bodyPr>
          <a:lstStyle/>
          <a:p>
            <a:pPr algn="ctr"/>
            <a:r>
              <a:rPr sz="1800" b="1" i="0">
                <a:solidFill>
                  <a:srgbClr val="94A3B8"/>
                </a:solidFill>
                <a:latin typeface="Arial"/>
              </a:rPr>
              <a:t>↓</a:t>
            </a:r>
          </a:p>
        </p:txBody>
      </p:sp>
      <p:sp>
        <p:nvSpPr>
          <p:cNvPr id="15" name="Rounded Rectangle 14"/>
          <p:cNvSpPr/>
          <p:nvPr/>
        </p:nvSpPr>
        <p:spPr>
          <a:xfrm>
            <a:off x="2377440" y="3419856"/>
            <a:ext cx="4389120" cy="420624"/>
          </a:xfrm>
          <a:prstGeom prst="roundRect">
            <a:avLst>
              <a:gd name="adj" fmla="val 12000"/>
            </a:avLst>
          </a:prstGeom>
          <a:solidFill>
            <a:srgbClr val="F8FAFC"/>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i="0">
                <a:solidFill>
                  <a:srgbClr val="374151"/>
                </a:solidFill>
                <a:latin typeface="Arial"/>
              </a:rPr>
              <a:t>harness merges each result back — one at a time</a:t>
            </a:r>
          </a:p>
        </p:txBody>
      </p:sp>
      <p:sp>
        <p:nvSpPr>
          <p:cNvPr id="16" name="Rounded Rectangle 15"/>
          <p:cNvSpPr/>
          <p:nvPr/>
        </p:nvSpPr>
        <p:spPr>
          <a:xfrm>
            <a:off x="448056" y="3968496"/>
            <a:ext cx="5212080" cy="749808"/>
          </a:xfrm>
          <a:prstGeom prst="roundRect">
            <a:avLst>
              <a:gd name="adj" fmla="val 8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46304" tIns="27432" bIns="27432"/>
          <a:lstStyle/>
          <a:p>
            <a:pPr algn="l">
              <a:lnSpc>
                <a:spcPct val="105000"/>
              </a:lnSpc>
            </a:pPr>
            <a:r>
              <a:rPr sz="1200" b="0" i="0">
                <a:solidFill>
                  <a:srgbClr val="FFFFFF"/>
                </a:solidFill>
                <a:latin typeface="Arial"/>
              </a:rPr>
              <a:t>“Agent B clobbered agent A’s edits” is </a:t>
            </a:r>
            <a:r>
              <a:rPr sz="1200" b="1" i="0">
                <a:solidFill>
                  <a:srgbClr val="FFC9A3"/>
                </a:solidFill>
                <a:latin typeface="Arial"/>
              </a:rPr>
              <a:t>structurally impossible</a:t>
            </a:r>
            <a:r>
              <a:rPr sz="1200" b="0" i="0">
                <a:solidFill>
                  <a:srgbClr val="FFFFFF"/>
                </a:solidFill>
                <a:latin typeface="Arial"/>
              </a:rPr>
              <a:t> — not mitigated. Impossible.</a:t>
            </a:r>
          </a:p>
        </p:txBody>
      </p:sp>
      <p:sp>
        <p:nvSpPr>
          <p:cNvPr id="17" name="Rectangle 16"/>
          <p:cNvSpPr/>
          <p:nvPr/>
        </p:nvSpPr>
        <p:spPr>
          <a:xfrm>
            <a:off x="448056" y="3968496"/>
            <a:ext cx="91440" cy="749808"/>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06440" y="3968496"/>
            <a:ext cx="2898648" cy="749808"/>
          </a:xfrm>
          <a:prstGeom prst="roundRect">
            <a:avLst>
              <a:gd name="adj" fmla="val 8000"/>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27432" bIns="27432"/>
          <a:lstStyle/>
          <a:p>
            <a:pPr algn="l">
              <a:lnSpc>
                <a:spcPct val="105000"/>
              </a:lnSpc>
            </a:pPr>
            <a:r>
              <a:rPr sz="1150" b="0" i="0">
                <a:solidFill>
                  <a:srgbClr val="374151"/>
                </a:solidFill>
                <a:latin typeface="Arial"/>
              </a:rPr>
              <a:t>A linear chain </a:t>
            </a:r>
            <a:r>
              <a:rPr sz="1150" b="1" i="0">
                <a:solidFill>
                  <a:srgbClr val="01499B"/>
                </a:solidFill>
                <a:latin typeface="Arial"/>
              </a:rPr>
              <a:t>reuses one worktree</a:t>
            </a:r>
            <a:r>
              <a:rPr sz="1150" b="0" i="0">
                <a:solidFill>
                  <a:srgbClr val="374151"/>
                </a:solidFill>
                <a:latin typeface="Arial"/>
              </a:rPr>
              <a:t>, passed along — no paying for trees we don’t need.</a:t>
            </a:r>
          </a:p>
        </p:txBody>
      </p:sp>
      <p:sp>
        <p:nvSpPr>
          <p:cNvPr id="19" name="Rectangle 18"/>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 y="4992624"/>
            <a:ext cx="4572000" cy="182880"/>
          </a:xfrm>
          <a:prstGeom prst="rect">
            <a:avLst/>
          </a:prstGeom>
          <a:noFill/>
        </p:spPr>
        <p:txBody>
          <a:bodyPr wrap="square" anchor="t" lIns="54864" rIns="54864" tIns="27432" bIns="27432">
            <a:spAutoFit/>
          </a:bodyPr>
          <a:lstStyle/>
          <a:p>
            <a:pPr algn="l"/>
            <a:r>
              <a:rPr sz="800" b="0" i="0">
                <a:solidFill>
                  <a:srgbClr val="94A3B8"/>
                </a:solidFill>
                <a:latin typeface="Arial"/>
              </a:rPr>
              <a:t>Guardrails — What's New</a:t>
            </a:r>
          </a:p>
        </p:txBody>
      </p:sp>
      <p:sp>
        <p:nvSpPr>
          <p:cNvPr id="21" name="TextBox 20"/>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7863840" cy="603504"/>
          </a:xfrm>
          <a:prstGeom prst="rect">
            <a:avLst/>
          </a:prstGeom>
          <a:noFill/>
        </p:spPr>
        <p:txBody>
          <a:bodyPr wrap="square" anchor="ctr" lIns="54864" rIns="54864" tIns="27432" bIns="27432">
            <a:spAutoFit/>
          </a:bodyPr>
          <a:lstStyle/>
          <a:p>
            <a:pPr algn="l"/>
            <a:r>
              <a:rPr sz="1700" b="1" i="0">
                <a:solidFill>
                  <a:srgbClr val="BFD3F0"/>
                </a:solidFill>
                <a:latin typeface="Arial"/>
              </a:rPr>
              <a:t>②   </a:t>
            </a:r>
            <a:r>
              <a:rPr sz="2100" b="1" i="0">
                <a:solidFill>
                  <a:srgbClr val="FFFFFF"/>
                </a:solidFill>
                <a:latin typeface="Arial"/>
              </a:rPr>
              <a:t>The Write-Scope Check</a:t>
            </a:r>
          </a:p>
        </p:txBody>
      </p:sp>
      <p:sp>
        <p:nvSpPr>
          <p:cNvPr id="5" name="TextBox 4"/>
          <p:cNvSpPr txBox="1"/>
          <p:nvPr/>
        </p:nvSpPr>
        <p:spPr>
          <a:xfrm>
            <a:off x="448056" y="914400"/>
            <a:ext cx="8257031" cy="566928"/>
          </a:xfrm>
          <a:prstGeom prst="rect">
            <a:avLst/>
          </a:prstGeom>
          <a:noFill/>
        </p:spPr>
        <p:txBody>
          <a:bodyPr wrap="square" anchor="t" lIns="54864" rIns="54864" tIns="27432" bIns="27432">
            <a:spAutoFit/>
          </a:bodyPr>
          <a:lstStyle/>
          <a:p>
            <a:pPr algn="l">
              <a:lnSpc>
                <a:spcPct val="108000"/>
              </a:lnSpc>
            </a:pPr>
            <a:r>
              <a:rPr sz="1250" b="0" i="0">
                <a:solidFill>
                  <a:srgbClr val="374151"/>
                </a:solidFill>
                <a:latin typeface="Arial"/>
              </a:rPr>
              <a:t>Each task can declare what it’s allowed to write — its </a:t>
            </a:r>
            <a:r>
              <a:rPr sz="1250" b="1" i="0">
                <a:solidFill>
                  <a:srgbClr val="01499B"/>
                </a:solidFill>
                <a:latin typeface="Courier New"/>
              </a:rPr>
              <a:t>writeScope</a:t>
            </a:r>
            <a:r>
              <a:rPr sz="1250" b="0" i="0">
                <a:solidFill>
                  <a:srgbClr val="374151"/>
                </a:solidFill>
                <a:latin typeface="Arial"/>
              </a:rPr>
              <a:t>.  After the action runs, a </a:t>
            </a:r>
            <a:r>
              <a:rPr sz="1250" b="1" i="0">
                <a:solidFill>
                  <a:srgbClr val="C45C15"/>
                </a:solidFill>
                <a:latin typeface="Arial"/>
              </a:rPr>
              <a:t>deterministic, read-only check</a:t>
            </a:r>
            <a:r>
              <a:rPr sz="1250" b="0" i="0">
                <a:solidFill>
                  <a:srgbClr val="374151"/>
                </a:solidFill>
                <a:latin typeface="Arial"/>
              </a:rPr>
              <a:t> (just a </a:t>
            </a:r>
            <a:r>
              <a:rPr sz="1250" b="1" i="0">
                <a:solidFill>
                  <a:srgbClr val="01499B"/>
                </a:solidFill>
                <a:latin typeface="Courier New"/>
              </a:rPr>
              <a:t>git diff</a:t>
            </a:r>
            <a:r>
              <a:rPr sz="1250" b="0" i="0">
                <a:solidFill>
                  <a:srgbClr val="374151"/>
                </a:solidFill>
                <a:latin typeface="Arial"/>
              </a:rPr>
              <a:t> membership test) confirms the task only touched files inside that surface.</a:t>
            </a:r>
          </a:p>
        </p:txBody>
      </p:sp>
      <p:graphicFrame>
        <p:nvGraphicFramePr>
          <p:cNvPr id="6" name="Table 5"/>
          <p:cNvGraphicFramePr>
            <a:graphicFrameLocks noGrp="1"/>
          </p:cNvGraphicFramePr>
          <p:nvPr/>
        </p:nvGraphicFramePr>
        <p:xfrm>
          <a:off x="448056" y="1591056"/>
          <a:ext cx="8257032" cy="1874519"/>
        </p:xfrm>
        <a:graphic>
          <a:graphicData uri="http://schemas.openxmlformats.org/drawingml/2006/table">
            <a:tbl>
              <a:tblPr firstRow="1">
                <a:tableStyleId>{5C22544A-7EE6-4342-B048-85BDC9FD1C3A}</a:tableStyleId>
              </a:tblPr>
              <a:tblGrid>
                <a:gridCol w="2286000"/>
                <a:gridCol w="5971032"/>
              </a:tblGrid>
              <a:tr h="468629">
                <a:tc>
                  <a:txBody>
                    <a:bodyPr wrap="square"/>
                    <a:lstStyle/>
                    <a:p>
                      <a:r>
                        <a:rPr sz="1300" b="1">
                          <a:solidFill>
                            <a:srgbClr val="FFFFFF"/>
                          </a:solidFill>
                          <a:latin typeface="Arial"/>
                        </a:rPr>
                        <a:t>It buys us</a:t>
                      </a:r>
                    </a:p>
                  </a:txBody>
                  <a:tcPr anchor="ctr" marL="109728" marR="91440" marT="36576" marB="36576">
                    <a:solidFill>
                      <a:srgbClr val="01499B"/>
                    </a:solidFill>
                  </a:tcPr>
                </a:tc>
                <a:tc>
                  <a:txBody>
                    <a:bodyPr wrap="square"/>
                    <a:lstStyle/>
                    <a:p>
                      <a:r>
                        <a:rPr sz="1300" b="1">
                          <a:solidFill>
                            <a:srgbClr val="FFFFFF"/>
                          </a:solidFill>
                          <a:latin typeface="Arial"/>
                        </a:rPr>
                        <a:t>How</a:t>
                      </a:r>
                    </a:p>
                  </a:txBody>
                  <a:tcPr anchor="ctr" marL="109728" marR="91440" marT="36576" marB="36576">
                    <a:solidFill>
                      <a:srgbClr val="01499B"/>
                    </a:solidFill>
                  </a:tcPr>
                </a:tc>
              </a:tr>
              <a:tr h="468629">
                <a:tc>
                  <a:txBody>
                    <a:bodyPr wrap="square"/>
                    <a:lstStyle/>
                    <a:p>
                      <a:r>
                        <a:rPr sz="1150" b="1">
                          <a:solidFill>
                            <a:srgbClr val="01499B"/>
                          </a:solidFill>
                          <a:latin typeface="Arial"/>
                        </a:rPr>
                        <a:t>Small, clean diffs</a:t>
                      </a:r>
                    </a:p>
                  </a:txBody>
                  <a:tcPr anchor="ctr" marL="109728" marR="91440" marT="36576" marB="36576">
                    <a:solidFill>
                      <a:srgbClr val="F8FAFC"/>
                    </a:solidFill>
                  </a:tcPr>
                </a:tc>
                <a:tc>
                  <a:txBody>
                    <a:bodyPr wrap="square"/>
                    <a:lstStyle/>
                    <a:p>
                      <a:r>
                        <a:rPr sz="1150" b="0">
                          <a:solidFill>
                            <a:srgbClr val="374151"/>
                          </a:solidFill>
                          <a:latin typeface="Arial"/>
                        </a:rPr>
                        <a:t>a task that strays outside its scope fails early and locally — a retry, not a tangled conflict later</a:t>
                      </a:r>
                    </a:p>
                  </a:txBody>
                  <a:tcPr anchor="ctr" marL="109728" marR="91440" marT="36576" marB="36576">
                    <a:solidFill>
                      <a:srgbClr val="F8FAFC"/>
                    </a:solidFill>
                  </a:tcPr>
                </a:tc>
              </a:tr>
              <a:tr h="468629">
                <a:tc>
                  <a:txBody>
                    <a:bodyPr wrap="square"/>
                    <a:lstStyle/>
                    <a:p>
                      <a:r>
                        <a:rPr sz="1150" b="1">
                          <a:solidFill>
                            <a:srgbClr val="01499B"/>
                          </a:solidFill>
                          <a:latin typeface="Arial"/>
                        </a:rPr>
                        <a:t>TDD enforced for free</a:t>
                      </a:r>
                    </a:p>
                  </a:txBody>
                  <a:tcPr anchor="ctr" marL="109728" marR="91440" marT="36576" marB="36576">
                    <a:solidFill>
                      <a:srgbClr val="FFFFFF"/>
                    </a:solidFill>
                  </a:tcPr>
                </a:tc>
                <a:tc>
                  <a:txBody>
                    <a:bodyPr wrap="square"/>
                    <a:lstStyle/>
                    <a:p>
                      <a:r>
                        <a:rPr sz="1150" b="0">
                          <a:solidFill>
                            <a:srgbClr val="374151"/>
                          </a:solidFill>
                          <a:latin typeface="Arial"/>
                        </a:rPr>
                        <a:t>the implementation task’s scope EXCLUDES the test files — it literally cannot edit the tests to pass</a:t>
                      </a:r>
                    </a:p>
                  </a:txBody>
                  <a:tcPr anchor="ctr" marL="109728" marR="91440" marT="36576" marB="36576">
                    <a:solidFill>
                      <a:srgbClr val="FFFFFF"/>
                    </a:solidFill>
                  </a:tcPr>
                </a:tc>
              </a:tr>
              <a:tr h="468632">
                <a:tc>
                  <a:txBody>
                    <a:bodyPr wrap="square"/>
                    <a:lstStyle/>
                    <a:p>
                      <a:r>
                        <a:rPr sz="1150" b="1">
                          <a:solidFill>
                            <a:srgbClr val="01499B"/>
                          </a:solidFill>
                          <a:latin typeface="Arial"/>
                        </a:rPr>
                        <a:t>Easier merges later</a:t>
                      </a:r>
                    </a:p>
                  </a:txBody>
                  <a:tcPr anchor="ctr" marL="109728" marR="91440" marT="36576" marB="36576">
                    <a:solidFill>
                      <a:srgbClr val="F8FAFC"/>
                    </a:solidFill>
                  </a:tcPr>
                </a:tc>
                <a:tc>
                  <a:txBody>
                    <a:bodyPr wrap="square"/>
                    <a:lstStyle/>
                    <a:p>
                      <a:r>
                        <a:rPr sz="1150" b="0">
                          <a:solidFill>
                            <a:srgbClr val="374151"/>
                          </a:solidFill>
                          <a:latin typeface="Arial"/>
                        </a:rPr>
                        <a:t>narrow, non-overlapping diffs rarely conflict when two parallel branches finally meet</a:t>
                      </a:r>
                    </a:p>
                  </a:txBody>
                  <a:tcPr anchor="ctr" marL="109728" marR="91440" marT="36576" marB="36576">
                    <a:solidFill>
                      <a:srgbClr val="F8FAFC"/>
                    </a:solidFill>
                  </a:tcPr>
                </a:tc>
              </a:tr>
            </a:tbl>
          </a:graphicData>
        </a:graphic>
      </p:graphicFrame>
      <p:sp>
        <p:nvSpPr>
          <p:cNvPr id="7" name="Rounded Rectangle 6"/>
          <p:cNvSpPr/>
          <p:nvPr/>
        </p:nvSpPr>
        <p:spPr>
          <a:xfrm>
            <a:off x="448056" y="3611880"/>
            <a:ext cx="8257031" cy="1069848"/>
          </a:xfrm>
          <a:prstGeom prst="roundRect">
            <a:avLst>
              <a:gd name="adj" fmla="val 8000"/>
            </a:avLst>
          </a:prstGeom>
          <a:solidFill>
            <a:srgbClr val="FFF7ED"/>
          </a:solidFill>
          <a:ln w="12700">
            <a:solidFill>
              <a:srgbClr val="F6D8B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7432" bIns="27432"/>
          <a:lstStyle/>
          <a:p>
            <a:pPr algn="l">
              <a:lnSpc>
                <a:spcPct val="106000"/>
              </a:lnSpc>
              <a:spcAft>
                <a:spcPts val="400"/>
              </a:spcAft>
            </a:pPr>
            <a:r>
              <a:rPr sz="1200" b="1" i="0">
                <a:solidFill>
                  <a:srgbClr val="C45C15"/>
                </a:solidFill>
                <a:latin typeface="Arial"/>
              </a:rPr>
              <a:t>It writes nothing and reverts nothing across tasks — it’s a pure check.</a:t>
            </a:r>
          </a:p>
          <a:p>
            <a:pPr algn="l">
              <a:lnSpc>
                <a:spcPct val="106000"/>
              </a:lnSpc>
            </a:pPr>
            <a:r>
              <a:rPr sz="1200" b="0" i="0">
                <a:solidFill>
                  <a:srgbClr val="374151"/>
                </a:solidFill>
                <a:latin typeface="Arial"/>
              </a:rPr>
              <a:t>On a violation, only the out-of-scope files are rolled back, and the agent retries with </a:t>
            </a:r>
            <a:r>
              <a:rPr sz="1200" b="1" i="1">
                <a:solidFill>
                  <a:srgbClr val="374151"/>
                </a:solidFill>
                <a:latin typeface="Arial"/>
              </a:rPr>
              <a:t>“you touched files you weren’t allowed to — here’s the list.”</a:t>
            </a:r>
          </a:p>
          <a:p>
            <a:pPr algn="l">
              <a:lnSpc>
                <a:spcPct val="104000"/>
              </a:lnSpc>
              <a:spcBef>
                <a:spcPts val="400"/>
              </a:spcBef>
            </a:pPr>
            <a:r>
              <a:rPr sz="1050" b="0" i="0">
                <a:solidFill>
                  <a:srgbClr val="6B7280"/>
                </a:solidFill>
                <a:latin typeface="Arial"/>
              </a:rPr>
              <a:t>This replaced the older hash-capture machinery for protecting test files — same guarantee, far simpler.</a:t>
            </a:r>
          </a:p>
        </p:txBody>
      </p:sp>
      <p:sp>
        <p:nvSpPr>
          <p:cNvPr id="8" name="Rectangle 7"/>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 y="4992624"/>
            <a:ext cx="4572000" cy="182880"/>
          </a:xfrm>
          <a:prstGeom prst="rect">
            <a:avLst/>
          </a:prstGeom>
          <a:noFill/>
        </p:spPr>
        <p:txBody>
          <a:bodyPr wrap="square" anchor="t" lIns="54864" rIns="54864" tIns="27432" bIns="27432">
            <a:spAutoFit/>
          </a:bodyPr>
          <a:lstStyle/>
          <a:p>
            <a:pPr algn="l"/>
            <a:r>
              <a:rPr sz="800" b="0" i="0">
                <a:solidFill>
                  <a:srgbClr val="94A3B8"/>
                </a:solidFill>
                <a:latin typeface="Arial"/>
              </a:rPr>
              <a:t>Guardrails — What's New</a:t>
            </a:r>
          </a:p>
        </p:txBody>
      </p:sp>
      <p:sp>
        <p:nvSpPr>
          <p:cNvPr id="10" name="TextBox 9"/>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7863840" cy="603504"/>
          </a:xfrm>
          <a:prstGeom prst="rect">
            <a:avLst/>
          </a:prstGeom>
          <a:noFill/>
        </p:spPr>
        <p:txBody>
          <a:bodyPr wrap="square" anchor="ctr" lIns="54864" rIns="54864" tIns="27432" bIns="27432">
            <a:spAutoFit/>
          </a:bodyPr>
          <a:lstStyle/>
          <a:p>
            <a:pPr algn="l"/>
            <a:r>
              <a:rPr sz="1700" b="1" i="0">
                <a:solidFill>
                  <a:srgbClr val="BFD3F0"/>
                </a:solidFill>
                <a:latin typeface="Arial"/>
              </a:rPr>
              <a:t>③   </a:t>
            </a:r>
            <a:r>
              <a:rPr sz="2100" b="1" i="0">
                <a:solidFill>
                  <a:srgbClr val="FFFFFF"/>
                </a:solidFill>
                <a:latin typeface="Arial"/>
              </a:rPr>
              <a:t>A Prompt Proposes, a Gate Certifies</a:t>
            </a:r>
          </a:p>
        </p:txBody>
      </p:sp>
      <p:sp>
        <p:nvSpPr>
          <p:cNvPr id="5" name="Rounded Rectangle 4"/>
          <p:cNvSpPr/>
          <p:nvPr/>
        </p:nvSpPr>
        <p:spPr>
          <a:xfrm>
            <a:off x="448056" y="1024128"/>
            <a:ext cx="2596896" cy="1060704"/>
          </a:xfrm>
          <a:prstGeom prst="roundRect">
            <a:avLst>
              <a:gd name="adj" fmla="val 8000"/>
            </a:avLst>
          </a:prstGeom>
          <a:solidFill>
            <a:srgbClr val="EFF6FF"/>
          </a:solidFill>
          <a:ln w="15875">
            <a:solidFill>
              <a:srgbClr val="01499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300"/>
              </a:spcAft>
            </a:pPr>
            <a:r>
              <a:rPr sz="1350" b="1" i="0">
                <a:solidFill>
                  <a:srgbClr val="01499B"/>
                </a:solidFill>
                <a:latin typeface="Arial"/>
              </a:rPr>
              <a:t>git auto-merge</a:t>
            </a:r>
          </a:p>
          <a:p>
            <a:pPr algn="ctr">
              <a:lnSpc>
                <a:spcPct val="104000"/>
              </a:lnSpc>
            </a:pPr>
            <a:r>
              <a:rPr sz="1100" b="0" i="0">
                <a:solidFill>
                  <a:srgbClr val="374151"/>
                </a:solidFill>
                <a:latin typeface="Arial"/>
              </a:rPr>
              <a:t>tries first</a:t>
            </a:r>
          </a:p>
        </p:txBody>
      </p:sp>
      <p:sp>
        <p:nvSpPr>
          <p:cNvPr id="6" name="TextBox 5"/>
          <p:cNvSpPr txBox="1"/>
          <p:nvPr/>
        </p:nvSpPr>
        <p:spPr>
          <a:xfrm>
            <a:off x="3008376" y="1024128"/>
            <a:ext cx="310896" cy="1060704"/>
          </a:xfrm>
          <a:prstGeom prst="rect">
            <a:avLst/>
          </a:prstGeom>
          <a:noFill/>
        </p:spPr>
        <p:txBody>
          <a:bodyPr wrap="square" anchor="ctr" lIns="54864" rIns="54864" tIns="27432" bIns="27432">
            <a:spAutoFit/>
          </a:bodyPr>
          <a:lstStyle/>
          <a:p>
            <a:pPr algn="ctr"/>
            <a:r>
              <a:rPr sz="2000" b="1" i="0">
                <a:solidFill>
                  <a:srgbClr val="6B7280"/>
                </a:solidFill>
                <a:latin typeface="Arial"/>
              </a:rPr>
              <a:t>→</a:t>
            </a:r>
          </a:p>
        </p:txBody>
      </p:sp>
      <p:sp>
        <p:nvSpPr>
          <p:cNvPr id="7" name="Rounded Rectangle 6"/>
          <p:cNvSpPr/>
          <p:nvPr/>
        </p:nvSpPr>
        <p:spPr>
          <a:xfrm>
            <a:off x="3282696" y="1024128"/>
            <a:ext cx="2596896" cy="1060704"/>
          </a:xfrm>
          <a:prstGeom prst="roundRect">
            <a:avLst>
              <a:gd name="adj" fmla="val 8000"/>
            </a:avLst>
          </a:prstGeom>
          <a:solidFill>
            <a:srgbClr val="FFF7ED"/>
          </a:solidFill>
          <a:ln w="15875">
            <a:solidFill>
              <a:srgbClr val="F36F2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300"/>
              </a:spcAft>
            </a:pPr>
            <a:r>
              <a:rPr sz="1350" b="1" i="0">
                <a:solidFill>
                  <a:srgbClr val="F36F21"/>
                </a:solidFill>
                <a:latin typeface="Arial"/>
              </a:rPr>
              <a:t>AI resolves conflict</a:t>
            </a:r>
          </a:p>
          <a:p>
            <a:pPr algn="ctr">
              <a:lnSpc>
                <a:spcPct val="104000"/>
              </a:lnSpc>
            </a:pPr>
            <a:r>
              <a:rPr sz="1100" b="0" i="0">
                <a:solidFill>
                  <a:srgbClr val="374151"/>
                </a:solidFill>
                <a:latin typeface="Arial"/>
              </a:rPr>
              <a:t>BYTE producer — never the verdict</a:t>
            </a:r>
          </a:p>
        </p:txBody>
      </p:sp>
      <p:sp>
        <p:nvSpPr>
          <p:cNvPr id="8" name="TextBox 7"/>
          <p:cNvSpPr txBox="1"/>
          <p:nvPr/>
        </p:nvSpPr>
        <p:spPr>
          <a:xfrm>
            <a:off x="5843016" y="1024128"/>
            <a:ext cx="310896" cy="1060704"/>
          </a:xfrm>
          <a:prstGeom prst="rect">
            <a:avLst/>
          </a:prstGeom>
          <a:noFill/>
        </p:spPr>
        <p:txBody>
          <a:bodyPr wrap="square" anchor="ctr" lIns="54864" rIns="54864" tIns="27432" bIns="27432">
            <a:spAutoFit/>
          </a:bodyPr>
          <a:lstStyle/>
          <a:p>
            <a:pPr algn="ctr"/>
            <a:r>
              <a:rPr sz="2000" b="1" i="0">
                <a:solidFill>
                  <a:srgbClr val="6B7280"/>
                </a:solidFill>
                <a:latin typeface="Arial"/>
              </a:rPr>
              <a:t>→</a:t>
            </a:r>
          </a:p>
        </p:txBody>
      </p:sp>
      <p:sp>
        <p:nvSpPr>
          <p:cNvPr id="9" name="Rounded Rectangle 8"/>
          <p:cNvSpPr/>
          <p:nvPr/>
        </p:nvSpPr>
        <p:spPr>
          <a:xfrm>
            <a:off x="6117336" y="1024128"/>
            <a:ext cx="2596896" cy="1060704"/>
          </a:xfrm>
          <a:prstGeom prst="roundRect">
            <a:avLst>
              <a:gd name="adj" fmla="val 8000"/>
            </a:avLst>
          </a:prstGeom>
          <a:solidFill>
            <a:srgbClr val="EFF6FF"/>
          </a:solidFill>
          <a:ln w="15875">
            <a:solidFill>
              <a:srgbClr val="01499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300"/>
              </a:spcAft>
            </a:pPr>
            <a:r>
              <a:rPr sz="1350" b="1" i="0">
                <a:solidFill>
                  <a:srgbClr val="01499B"/>
                </a:solidFill>
                <a:latin typeface="Arial"/>
              </a:rPr>
              <a:t>Deterministic re-verify</a:t>
            </a:r>
          </a:p>
          <a:p>
            <a:pPr algn="ctr">
              <a:lnSpc>
                <a:spcPct val="104000"/>
              </a:lnSpc>
            </a:pPr>
            <a:r>
              <a:rPr sz="1100" b="0" i="0">
                <a:solidFill>
                  <a:srgbClr val="374151"/>
                </a:solidFill>
                <a:latin typeface="Arial"/>
              </a:rPr>
              <a:t>build + tests on merged bytes = the verdict</a:t>
            </a:r>
          </a:p>
        </p:txBody>
      </p:sp>
      <p:sp>
        <p:nvSpPr>
          <p:cNvPr id="10" name="Rounded Rectangle 9"/>
          <p:cNvSpPr/>
          <p:nvPr/>
        </p:nvSpPr>
        <p:spPr>
          <a:xfrm>
            <a:off x="448056" y="2212848"/>
            <a:ext cx="8257031" cy="658368"/>
          </a:xfrm>
          <a:prstGeom prst="roundRect">
            <a:avLst>
              <a:gd name="adj" fmla="val 10000"/>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ctr">
              <a:lnSpc>
                <a:spcPct val="106000"/>
              </a:lnSpc>
            </a:pPr>
            <a:r>
              <a:rPr sz="1150" b="0" i="0">
                <a:solidFill>
                  <a:srgbClr val="374151"/>
                </a:solidFill>
                <a:latin typeface="Arial"/>
              </a:rPr>
              <a:t>Two deterministic checks gate the AI’s bytes — </a:t>
            </a:r>
            <a:r>
              <a:rPr sz="1150" b="1" i="0">
                <a:solidFill>
                  <a:srgbClr val="01499B"/>
                </a:solidFill>
                <a:latin typeface="Arial"/>
              </a:rPr>
              <a:t>no conflict markers left; only the conflicted files touched</a:t>
            </a:r>
            <a:r>
              <a:rPr sz="1150" b="0" i="0">
                <a:solidFill>
                  <a:srgbClr val="374151"/>
                </a:solidFill>
                <a:latin typeface="Arial"/>
              </a:rPr>
              <a:t>.  The AI never gets a softer gate. Can’t pass → </a:t>
            </a:r>
            <a:r>
              <a:rPr sz="1150" b="1" i="0">
                <a:solidFill>
                  <a:srgbClr val="C45C15"/>
                </a:solidFill>
                <a:latin typeface="Arial"/>
              </a:rPr>
              <a:t>honest halt for a human.</a:t>
            </a:r>
          </a:p>
        </p:txBody>
      </p:sp>
      <p:sp>
        <p:nvSpPr>
          <p:cNvPr id="11" name="Rounded Rectangle 10"/>
          <p:cNvSpPr/>
          <p:nvPr/>
        </p:nvSpPr>
        <p:spPr>
          <a:xfrm>
            <a:off x="448056" y="2999232"/>
            <a:ext cx="8257031" cy="1078992"/>
          </a:xfrm>
          <a:prstGeom prst="roundRect">
            <a:avLst>
              <a:gd name="adj" fmla="val 6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6" y="2999232"/>
            <a:ext cx="109728" cy="1078992"/>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 y="2999232"/>
            <a:ext cx="8257031"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Aft>
                <a:spcPts val="300"/>
              </a:spcAft>
            </a:pPr>
            <a:r>
              <a:rPr sz="2000" b="1" i="0">
                <a:solidFill>
                  <a:srgbClr val="FFFFFF"/>
                </a:solidFill>
                <a:latin typeface="Arial"/>
              </a:rPr>
              <a:t>“A prompt may propose — only a deterministic gate may certify.”</a:t>
            </a:r>
          </a:p>
          <a:p>
            <a:pPr algn="ctr"/>
            <a:r>
              <a:rPr sz="1100" b="0" i="1">
                <a:solidFill>
                  <a:srgbClr val="BFD3F0"/>
                </a:solidFill>
                <a:latin typeface="Arial"/>
              </a:rPr>
              <a:t>A final whole-repo gate runs once at the end and backstops every merge.</a:t>
            </a:r>
          </a:p>
        </p:txBody>
      </p:sp>
      <p:sp>
        <p:nvSpPr>
          <p:cNvPr id="14" name="Rectangle 13"/>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 y="4992624"/>
            <a:ext cx="4572000" cy="182880"/>
          </a:xfrm>
          <a:prstGeom prst="rect">
            <a:avLst/>
          </a:prstGeom>
          <a:noFill/>
        </p:spPr>
        <p:txBody>
          <a:bodyPr wrap="square" anchor="t" lIns="54864" rIns="54864" tIns="27432" bIns="27432">
            <a:spAutoFit/>
          </a:bodyPr>
          <a:lstStyle/>
          <a:p>
            <a:pPr algn="l"/>
            <a:r>
              <a:rPr sz="800" b="0" i="0">
                <a:solidFill>
                  <a:srgbClr val="94A3B8"/>
                </a:solidFill>
                <a:latin typeface="Arial"/>
              </a:rPr>
              <a:t>Guardrails — What's New</a:t>
            </a:r>
          </a:p>
        </p:txBody>
      </p:sp>
      <p:sp>
        <p:nvSpPr>
          <p:cNvPr id="16" name="TextBox 15"/>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7863840" cy="603504"/>
          </a:xfrm>
          <a:prstGeom prst="rect">
            <a:avLst/>
          </a:prstGeom>
          <a:noFill/>
        </p:spPr>
        <p:txBody>
          <a:bodyPr wrap="square" anchor="ctr" lIns="54864" rIns="54864" tIns="27432" bIns="27432">
            <a:spAutoFit/>
          </a:bodyPr>
          <a:lstStyle/>
          <a:p>
            <a:pPr algn="l"/>
            <a:r>
              <a:rPr sz="2100" b="1" i="0">
                <a:solidFill>
                  <a:srgbClr val="FFFFFF"/>
                </a:solidFill>
                <a:latin typeface="Arial"/>
              </a:rPr>
              <a:t>The Breakdown Skill Got Smarter</a:t>
            </a:r>
          </a:p>
        </p:txBody>
      </p:sp>
      <p:sp>
        <p:nvSpPr>
          <p:cNvPr id="5" name="TextBox 4"/>
          <p:cNvSpPr txBox="1"/>
          <p:nvPr/>
        </p:nvSpPr>
        <p:spPr>
          <a:xfrm>
            <a:off x="448056" y="896112"/>
            <a:ext cx="8257031" cy="274320"/>
          </a:xfrm>
          <a:prstGeom prst="rect">
            <a:avLst/>
          </a:prstGeom>
          <a:noFill/>
        </p:spPr>
        <p:txBody>
          <a:bodyPr wrap="square" anchor="t" lIns="54864" rIns="54864" tIns="27432" bIns="27432">
            <a:spAutoFit/>
          </a:bodyPr>
          <a:lstStyle/>
          <a:p>
            <a:pPr algn="l"/>
            <a:r>
              <a:rPr sz="1250" b="1" i="0">
                <a:solidFill>
                  <a:srgbClr val="01499B"/>
                </a:solidFill>
                <a:latin typeface="Courier New"/>
              </a:rPr>
              <a:t>/plan-breakdown</a:t>
            </a:r>
            <a:r>
              <a:rPr sz="1250" b="0" i="0">
                <a:solidFill>
                  <a:srgbClr val="374151"/>
                </a:solidFill>
                <a:latin typeface="Arial"/>
              </a:rPr>
              <a:t> now generates better task folders out of the box:</a:t>
            </a:r>
          </a:p>
        </p:txBody>
      </p:sp>
      <p:sp>
        <p:nvSpPr>
          <p:cNvPr id="6" name="Rounded Rectangle 5"/>
          <p:cNvSpPr/>
          <p:nvPr/>
        </p:nvSpPr>
        <p:spPr>
          <a:xfrm>
            <a:off x="448056" y="1225296"/>
            <a:ext cx="4041648" cy="1481328"/>
          </a:xfrm>
          <a:prstGeom prst="roundRect">
            <a:avLst>
              <a:gd name="adj" fmla="val 6000"/>
            </a:avLst>
          </a:prstGeom>
          <a:solidFill>
            <a:srgbClr val="FFF7ED"/>
          </a:solidFill>
          <a:ln w="12700">
            <a:solidFill>
              <a:srgbClr val="F6D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1344168"/>
            <a:ext cx="3712463" cy="274320"/>
          </a:xfrm>
          <a:prstGeom prst="rect">
            <a:avLst/>
          </a:prstGeom>
          <a:noFill/>
        </p:spPr>
        <p:txBody>
          <a:bodyPr wrap="square" anchor="t" lIns="54864" rIns="54864" tIns="27432" bIns="27432">
            <a:spAutoFit/>
          </a:bodyPr>
          <a:lstStyle/>
          <a:p>
            <a:pPr algn="l"/>
            <a:r>
              <a:rPr sz="1350" b="1" i="0">
                <a:solidFill>
                  <a:srgbClr val="C45C15"/>
                </a:solidFill>
                <a:latin typeface="Arial"/>
              </a:rPr>
              <a:t>Tests-first by default</a:t>
            </a:r>
          </a:p>
        </p:txBody>
      </p:sp>
      <p:sp>
        <p:nvSpPr>
          <p:cNvPr id="8" name="Rectangle 7"/>
          <p:cNvSpPr/>
          <p:nvPr/>
        </p:nvSpPr>
        <p:spPr>
          <a:xfrm>
            <a:off x="612647" y="1682496"/>
            <a:ext cx="1005840" cy="32004"/>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7" y="1792224"/>
            <a:ext cx="3712463" cy="768096"/>
          </a:xfrm>
          <a:prstGeom prst="rect">
            <a:avLst/>
          </a:prstGeom>
          <a:noFill/>
        </p:spPr>
        <p:txBody>
          <a:bodyPr wrap="square" anchor="t" lIns="54864" rIns="54864" tIns="27432" bIns="27432">
            <a:spAutoFit/>
          </a:bodyPr>
          <a:lstStyle/>
          <a:p>
            <a:pPr algn="l">
              <a:lnSpc>
                <a:spcPct val="105000"/>
              </a:lnSpc>
              <a:spcAft>
                <a:spcPts val="400"/>
              </a:spcAft>
            </a:pPr>
            <a:r>
              <a:rPr sz="1150" b="0" i="0">
                <a:solidFill>
                  <a:srgbClr val="374151"/>
                </a:solidFill>
                <a:latin typeface="Arial"/>
              </a:rPr>
              <a:t>Writes the author-the-tests task BEFORE the implementation task. TDD is the default doctrine, not an afterthought.</a:t>
            </a:r>
          </a:p>
        </p:txBody>
      </p:sp>
      <p:sp>
        <p:nvSpPr>
          <p:cNvPr id="10" name="Rounded Rectangle 9"/>
          <p:cNvSpPr/>
          <p:nvPr/>
        </p:nvSpPr>
        <p:spPr>
          <a:xfrm>
            <a:off x="4663440" y="1225296"/>
            <a:ext cx="4041648" cy="1481328"/>
          </a:xfrm>
          <a:prstGeom prst="roundRect">
            <a:avLst>
              <a:gd name="adj" fmla="val 6000"/>
            </a:avLst>
          </a:prstGeom>
          <a:solidFill>
            <a:srgbClr val="EFF6FF"/>
          </a:solidFill>
          <a:ln w="12700">
            <a:solidFill>
              <a:srgbClr val="E0E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28032" y="1344168"/>
            <a:ext cx="3712463" cy="274320"/>
          </a:xfrm>
          <a:prstGeom prst="rect">
            <a:avLst/>
          </a:prstGeom>
          <a:noFill/>
        </p:spPr>
        <p:txBody>
          <a:bodyPr wrap="square" anchor="t" lIns="54864" rIns="54864" tIns="27432" bIns="27432">
            <a:spAutoFit/>
          </a:bodyPr>
          <a:lstStyle/>
          <a:p>
            <a:pPr algn="l"/>
            <a:r>
              <a:rPr sz="1350" b="1" i="0">
                <a:solidFill>
                  <a:srgbClr val="01499B"/>
                </a:solidFill>
                <a:latin typeface="Arial"/>
              </a:rPr>
              <a:t>No silent guesses</a:t>
            </a:r>
          </a:p>
        </p:txBody>
      </p:sp>
      <p:sp>
        <p:nvSpPr>
          <p:cNvPr id="12" name="Rectangle 11"/>
          <p:cNvSpPr/>
          <p:nvPr/>
        </p:nvSpPr>
        <p:spPr>
          <a:xfrm>
            <a:off x="4828032" y="1682496"/>
            <a:ext cx="1005840" cy="32004"/>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1792224"/>
            <a:ext cx="3712463" cy="768096"/>
          </a:xfrm>
          <a:prstGeom prst="rect">
            <a:avLst/>
          </a:prstGeom>
          <a:noFill/>
        </p:spPr>
        <p:txBody>
          <a:bodyPr wrap="square" anchor="t" lIns="54864" rIns="54864" tIns="27432" bIns="27432">
            <a:spAutoFit/>
          </a:bodyPr>
          <a:lstStyle/>
          <a:p>
            <a:pPr algn="l">
              <a:lnSpc>
                <a:spcPct val="105000"/>
              </a:lnSpc>
              <a:spcAft>
                <a:spcPts val="400"/>
              </a:spcAft>
            </a:pPr>
            <a:r>
              <a:rPr sz="1150" b="0" i="0">
                <a:solidFill>
                  <a:srgbClr val="374151"/>
                </a:solidFill>
                <a:latin typeface="Arial"/>
              </a:rPr>
              <a:t>If the test framework is ambiguous it ASKS you — instead of quietly picking one and surprising you.</a:t>
            </a:r>
          </a:p>
        </p:txBody>
      </p:sp>
      <p:sp>
        <p:nvSpPr>
          <p:cNvPr id="14" name="Rounded Rectangle 13"/>
          <p:cNvSpPr/>
          <p:nvPr/>
        </p:nvSpPr>
        <p:spPr>
          <a:xfrm>
            <a:off x="448056" y="2852928"/>
            <a:ext cx="4041648" cy="1481328"/>
          </a:xfrm>
          <a:prstGeom prst="roundRect">
            <a:avLst>
              <a:gd name="adj" fmla="val 6000"/>
            </a:avLst>
          </a:prstGeom>
          <a:solidFill>
            <a:srgbClr val="FFF7ED"/>
          </a:solidFill>
          <a:ln w="12700">
            <a:solidFill>
              <a:srgbClr val="F6D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7" y="2971800"/>
            <a:ext cx="3712463" cy="274320"/>
          </a:xfrm>
          <a:prstGeom prst="rect">
            <a:avLst/>
          </a:prstGeom>
          <a:noFill/>
        </p:spPr>
        <p:txBody>
          <a:bodyPr wrap="square" anchor="t" lIns="54864" rIns="54864" tIns="27432" bIns="27432">
            <a:spAutoFit/>
          </a:bodyPr>
          <a:lstStyle/>
          <a:p>
            <a:pPr algn="l"/>
            <a:r>
              <a:rPr sz="1350" b="1" i="0">
                <a:solidFill>
                  <a:srgbClr val="C45C15"/>
                </a:solidFill>
                <a:latin typeface="Arial"/>
              </a:rPr>
              <a:t>Servers &amp; executables get wired up</a:t>
            </a:r>
          </a:p>
        </p:txBody>
      </p:sp>
      <p:sp>
        <p:nvSpPr>
          <p:cNvPr id="16" name="Rectangle 15"/>
          <p:cNvSpPr/>
          <p:nvPr/>
        </p:nvSpPr>
        <p:spPr>
          <a:xfrm>
            <a:off x="612647" y="3310128"/>
            <a:ext cx="1005840" cy="32004"/>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7" y="3419856"/>
            <a:ext cx="3712463" cy="768096"/>
          </a:xfrm>
          <a:prstGeom prst="rect">
            <a:avLst/>
          </a:prstGeom>
          <a:noFill/>
        </p:spPr>
        <p:txBody>
          <a:bodyPr wrap="square" anchor="t" lIns="54864" rIns="54864" tIns="27432" bIns="27432">
            <a:spAutoFit/>
          </a:bodyPr>
          <a:lstStyle/>
          <a:p>
            <a:pPr algn="l">
              <a:lnSpc>
                <a:spcPct val="105000"/>
              </a:lnSpc>
              <a:spcAft>
                <a:spcPts val="400"/>
              </a:spcAft>
            </a:pPr>
            <a:r>
              <a:rPr sz="1150" b="0" i="0">
                <a:solidFill>
                  <a:srgbClr val="374151"/>
                </a:solidFill>
                <a:latin typeface="Arial"/>
              </a:rPr>
              <a:t>Inserts an entry-point-wiring task and a live smoke test: “does it actually start and respond?” — not just unit tests.</a:t>
            </a:r>
          </a:p>
        </p:txBody>
      </p:sp>
      <p:sp>
        <p:nvSpPr>
          <p:cNvPr id="18" name="Rounded Rectangle 17"/>
          <p:cNvSpPr/>
          <p:nvPr/>
        </p:nvSpPr>
        <p:spPr>
          <a:xfrm>
            <a:off x="4663440" y="2852928"/>
            <a:ext cx="4041648" cy="1481328"/>
          </a:xfrm>
          <a:prstGeom prst="roundRect">
            <a:avLst>
              <a:gd name="adj" fmla="val 6000"/>
            </a:avLst>
          </a:prstGeom>
          <a:solidFill>
            <a:srgbClr val="EFF6FF"/>
          </a:solidFill>
          <a:ln w="12700">
            <a:solidFill>
              <a:srgbClr val="E0E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2971800"/>
            <a:ext cx="3712463" cy="274320"/>
          </a:xfrm>
          <a:prstGeom prst="rect">
            <a:avLst/>
          </a:prstGeom>
          <a:noFill/>
        </p:spPr>
        <p:txBody>
          <a:bodyPr wrap="square" anchor="t" lIns="54864" rIns="54864" tIns="27432" bIns="27432">
            <a:spAutoFit/>
          </a:bodyPr>
          <a:lstStyle/>
          <a:p>
            <a:pPr algn="l"/>
            <a:r>
              <a:rPr sz="1350" b="1" i="0">
                <a:solidFill>
                  <a:srgbClr val="01499B"/>
                </a:solidFill>
                <a:latin typeface="Arial"/>
              </a:rPr>
              <a:t>UI plans get real UI tasks</a:t>
            </a:r>
          </a:p>
        </p:txBody>
      </p:sp>
      <p:sp>
        <p:nvSpPr>
          <p:cNvPr id="20" name="Rectangle 19"/>
          <p:cNvSpPr/>
          <p:nvPr/>
        </p:nvSpPr>
        <p:spPr>
          <a:xfrm>
            <a:off x="4828032" y="3310128"/>
            <a:ext cx="1005840" cy="32004"/>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28032" y="3419856"/>
            <a:ext cx="3712463" cy="768096"/>
          </a:xfrm>
          <a:prstGeom prst="rect">
            <a:avLst/>
          </a:prstGeom>
          <a:noFill/>
        </p:spPr>
        <p:txBody>
          <a:bodyPr wrap="square" anchor="t" lIns="54864" rIns="54864" tIns="27432" bIns="27432">
            <a:spAutoFit/>
          </a:bodyPr>
          <a:lstStyle/>
          <a:p>
            <a:pPr algn="l">
              <a:lnSpc>
                <a:spcPct val="105000"/>
              </a:lnSpc>
              <a:spcAft>
                <a:spcPts val="400"/>
              </a:spcAft>
            </a:pPr>
            <a:r>
              <a:rPr sz="1150" b="0" i="0">
                <a:solidFill>
                  <a:srgbClr val="374151"/>
                </a:solidFill>
                <a:latin typeface="Arial"/>
              </a:rPr>
              <a:t>Implementation tasks plus UI-presence guardrails, so a “build the screen” plan can’t pass with an empty screen.</a:t>
            </a:r>
          </a:p>
        </p:txBody>
      </p:sp>
      <p:sp>
        <p:nvSpPr>
          <p:cNvPr id="22" name="Rectangle 21"/>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 y="4992624"/>
            <a:ext cx="4572000" cy="182880"/>
          </a:xfrm>
          <a:prstGeom prst="rect">
            <a:avLst/>
          </a:prstGeom>
          <a:noFill/>
        </p:spPr>
        <p:txBody>
          <a:bodyPr wrap="square" anchor="t" lIns="54864" rIns="54864" tIns="27432" bIns="27432">
            <a:spAutoFit/>
          </a:bodyPr>
          <a:lstStyle/>
          <a:p>
            <a:pPr algn="l"/>
            <a:r>
              <a:rPr sz="800" b="0" i="0">
                <a:solidFill>
                  <a:srgbClr val="94A3B8"/>
                </a:solidFill>
                <a:latin typeface="Arial"/>
              </a:rPr>
              <a:t>Guardrails — What's New</a:t>
            </a:r>
          </a:p>
        </p:txBody>
      </p:sp>
      <p:sp>
        <p:nvSpPr>
          <p:cNvPr id="24" name="TextBox 23"/>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7863840" cy="603504"/>
          </a:xfrm>
          <a:prstGeom prst="rect">
            <a:avLst/>
          </a:prstGeom>
          <a:noFill/>
        </p:spPr>
        <p:txBody>
          <a:bodyPr wrap="square" anchor="ctr" lIns="54864" rIns="54864" tIns="27432" bIns="27432">
            <a:spAutoFit/>
          </a:bodyPr>
          <a:lstStyle/>
          <a:p>
            <a:pPr algn="l"/>
            <a:r>
              <a:rPr sz="2100" b="1" i="0">
                <a:solidFill>
                  <a:srgbClr val="FFFFFF"/>
                </a:solidFill>
                <a:latin typeface="Arial"/>
              </a:rPr>
              <a:t>Sharper Feedback &amp; Clearer Eyes</a:t>
            </a:r>
          </a:p>
        </p:txBody>
      </p:sp>
      <p:sp>
        <p:nvSpPr>
          <p:cNvPr id="5" name="TextBox 4"/>
          <p:cNvSpPr txBox="1"/>
          <p:nvPr/>
        </p:nvSpPr>
        <p:spPr>
          <a:xfrm>
            <a:off x="448056" y="896112"/>
            <a:ext cx="8257031" cy="274320"/>
          </a:xfrm>
          <a:prstGeom prst="rect">
            <a:avLst/>
          </a:prstGeom>
          <a:noFill/>
        </p:spPr>
        <p:txBody>
          <a:bodyPr wrap="square" anchor="t" lIns="54864" rIns="54864" tIns="27432" bIns="27432">
            <a:spAutoFit/>
          </a:bodyPr>
          <a:lstStyle/>
          <a:p>
            <a:pPr algn="l"/>
            <a:r>
              <a:rPr sz="1250" b="0" i="0">
                <a:solidFill>
                  <a:srgbClr val="374151"/>
                </a:solidFill>
                <a:latin typeface="Arial"/>
              </a:rPr>
              <a:t>The everyday-experience upgrades that make all of the above usable:</a:t>
            </a:r>
          </a:p>
        </p:txBody>
      </p:sp>
      <p:graphicFrame>
        <p:nvGraphicFramePr>
          <p:cNvPr id="6" name="Table 5"/>
          <p:cNvGraphicFramePr>
            <a:graphicFrameLocks noGrp="1"/>
          </p:cNvGraphicFramePr>
          <p:nvPr/>
        </p:nvGraphicFramePr>
        <p:xfrm>
          <a:off x="448056" y="1243584"/>
          <a:ext cx="8257032" cy="3474720"/>
        </p:xfrm>
        <a:graphic>
          <a:graphicData uri="http://schemas.openxmlformats.org/drawingml/2006/table">
            <a:tbl>
              <a:tblPr firstRow="1">
                <a:tableStyleId>{5C22544A-7EE6-4342-B048-85BDC9FD1C3A}</a:tableStyleId>
              </a:tblPr>
              <a:tblGrid>
                <a:gridCol w="2331720"/>
                <a:gridCol w="5925312"/>
              </a:tblGrid>
              <a:tr h="579120">
                <a:tc>
                  <a:txBody>
                    <a:bodyPr wrap="square"/>
                    <a:lstStyle/>
                    <a:p>
                      <a:r>
                        <a:rPr sz="1300" b="1">
                          <a:solidFill>
                            <a:srgbClr val="FFFFFF"/>
                          </a:solidFill>
                          <a:latin typeface="Arial"/>
                        </a:rPr>
                        <a:t>Upgrade</a:t>
                      </a:r>
                    </a:p>
                  </a:txBody>
                  <a:tcPr anchor="ctr" marL="109728" marR="91440" marT="36576" marB="36576">
                    <a:solidFill>
                      <a:srgbClr val="01499B"/>
                    </a:solidFill>
                  </a:tcPr>
                </a:tc>
                <a:tc>
                  <a:txBody>
                    <a:bodyPr wrap="square"/>
                    <a:lstStyle/>
                    <a:p>
                      <a:r>
                        <a:rPr sz="1300" b="1">
                          <a:solidFill>
                            <a:srgbClr val="FFFFFF"/>
                          </a:solidFill>
                          <a:latin typeface="Arial"/>
                        </a:rPr>
                        <a:t>Why it matters</a:t>
                      </a:r>
                    </a:p>
                  </a:txBody>
                  <a:tcPr anchor="ctr" marL="109728" marR="91440" marT="36576" marB="36576">
                    <a:solidFill>
                      <a:srgbClr val="01499B"/>
                    </a:solidFill>
                  </a:tcPr>
                </a:tc>
              </a:tr>
              <a:tr h="579120">
                <a:tc>
                  <a:txBody>
                    <a:bodyPr wrap="square"/>
                    <a:lstStyle/>
                    <a:p>
                      <a:r>
                        <a:rPr sz="1150" b="1">
                          <a:solidFill>
                            <a:srgbClr val="01499B"/>
                          </a:solidFill>
                          <a:latin typeface="Arial"/>
                        </a:rPr>
                        <a:t>Verify, don’t replay</a:t>
                      </a:r>
                    </a:p>
                  </a:txBody>
                  <a:tcPr anchor="ctr" marL="109728" marR="91440" marT="36576" marB="36576">
                    <a:solidFill>
                      <a:srgbClr val="F8FAFC"/>
                    </a:solidFill>
                  </a:tcPr>
                </a:tc>
                <a:tc>
                  <a:txBody>
                    <a:bodyPr wrap="square"/>
                    <a:lstStyle/>
                    <a:p>
                      <a:r>
                        <a:rPr sz="1150" b="0">
                          <a:solidFill>
                            <a:srgbClr val="374151"/>
                          </a:solidFill>
                          <a:latin typeface="Arial"/>
                        </a:rPr>
                        <a:t>guardrails check the action’s recorded output — they don’t blindly re-run it and hope for the same answer</a:t>
                      </a:r>
                    </a:p>
                  </a:txBody>
                  <a:tcPr anchor="ctr" marL="109728" marR="91440" marT="36576" marB="36576">
                    <a:solidFill>
                      <a:srgbClr val="F8FAFC"/>
                    </a:solidFill>
                  </a:tcPr>
                </a:tc>
              </a:tr>
              <a:tr h="579120">
                <a:tc>
                  <a:txBody>
                    <a:bodyPr wrap="square"/>
                    <a:lstStyle/>
                    <a:p>
                      <a:r>
                        <a:rPr sz="1150" b="1">
                          <a:solidFill>
                            <a:srgbClr val="01499B"/>
                          </a:solidFill>
                          <a:latin typeface="Arial"/>
                        </a:rPr>
                        <a:t>Streaming logs</a:t>
                      </a:r>
                    </a:p>
                  </a:txBody>
                  <a:tcPr anchor="ctr" marL="109728" marR="91440" marT="36576" marB="36576">
                    <a:solidFill>
                      <a:srgbClr val="FFFFFF"/>
                    </a:solidFill>
                  </a:tcPr>
                </a:tc>
                <a:tc>
                  <a:txBody>
                    <a:bodyPr wrap="square"/>
                    <a:lstStyle/>
                    <a:p>
                      <a:r>
                        <a:rPr sz="1150" b="0">
                          <a:solidFill>
                            <a:srgbClr val="374151"/>
                          </a:solidFill>
                          <a:latin typeface="Arial"/>
                        </a:rPr>
                        <a:t>the agent’s transcript and output stream to disk live — watch a task think in real time</a:t>
                      </a:r>
                    </a:p>
                  </a:txBody>
                  <a:tcPr anchor="ctr" marL="109728" marR="91440" marT="36576" marB="36576">
                    <a:solidFill>
                      <a:srgbClr val="FFFFFF"/>
                    </a:solidFill>
                  </a:tcPr>
                </a:tc>
              </a:tr>
              <a:tr h="579120">
                <a:tc>
                  <a:txBody>
                    <a:bodyPr wrap="square"/>
                    <a:lstStyle/>
                    <a:p>
                      <a:r>
                        <a:rPr sz="1150" b="1">
                          <a:solidFill>
                            <a:srgbClr val="01499B"/>
                          </a:solidFill>
                          <a:latin typeface="Arial"/>
                        </a:rPr>
                        <a:t>Interactive DAG diagram</a:t>
                      </a:r>
                    </a:p>
                  </a:txBody>
                  <a:tcPr anchor="ctr" marL="109728" marR="91440" marT="36576" marB="36576">
                    <a:solidFill>
                      <a:srgbClr val="F8FAFC"/>
                    </a:solidFill>
                  </a:tcPr>
                </a:tc>
                <a:tc>
                  <a:txBody>
                    <a:bodyPr wrap="square"/>
                    <a:lstStyle/>
                    <a:p>
                      <a:r>
                        <a:rPr sz="1150" b="0">
                          <a:solidFill>
                            <a:srgbClr val="374151"/>
                          </a:solidFill>
                          <a:latin typeface="Arial"/>
                        </a:rPr>
                        <a:t>diagram.html — pan, zoom, full-screen, and click through to each task</a:t>
                      </a:r>
                    </a:p>
                  </a:txBody>
                  <a:tcPr anchor="ctr" marL="109728" marR="91440" marT="36576" marB="36576">
                    <a:solidFill>
                      <a:srgbClr val="F8FAFC"/>
                    </a:solidFill>
                  </a:tcPr>
                </a:tc>
              </a:tr>
              <a:tr h="579120">
                <a:tc>
                  <a:txBody>
                    <a:bodyPr wrap="square"/>
                    <a:lstStyle/>
                    <a:p>
                      <a:r>
                        <a:rPr sz="1150" b="1">
                          <a:solidFill>
                            <a:srgbClr val="01499B"/>
                          </a:solidFill>
                          <a:latin typeface="Arial"/>
                        </a:rPr>
                        <a:t>Clickable log links</a:t>
                      </a:r>
                    </a:p>
                  </a:txBody>
                  <a:tcPr anchor="ctr" marL="109728" marR="91440" marT="36576" marB="36576">
                    <a:solidFill>
                      <a:srgbClr val="FFFFFF"/>
                    </a:solidFill>
                  </a:tcPr>
                </a:tc>
                <a:tc>
                  <a:txBody>
                    <a:bodyPr wrap="square"/>
                    <a:lstStyle/>
                    <a:p>
                      <a:r>
                        <a:rPr sz="1150" b="0">
                          <a:solidFill>
                            <a:srgbClr val="374151"/>
                          </a:solidFill>
                          <a:latin typeface="Arial"/>
                        </a:rPr>
                        <a:t>the run prints links straight to each task’s post-mortem logs</a:t>
                      </a:r>
                    </a:p>
                  </a:txBody>
                  <a:tcPr anchor="ctr" marL="109728" marR="91440" marT="36576" marB="36576">
                    <a:solidFill>
                      <a:srgbClr val="FFFFFF"/>
                    </a:solidFill>
                  </a:tcPr>
                </a:tc>
              </a:tr>
              <a:tr h="579120">
                <a:tc>
                  <a:txBody>
                    <a:bodyPr wrap="square"/>
                    <a:lstStyle/>
                    <a:p>
                      <a:r>
                        <a:rPr sz="1150" b="1">
                          <a:solidFill>
                            <a:srgbClr val="01499B"/>
                          </a:solidFill>
                          <a:latin typeface="Arial"/>
                        </a:rPr>
                        <a:t>Honest budget halt</a:t>
                      </a:r>
                    </a:p>
                  </a:txBody>
                  <a:tcPr anchor="ctr" marL="109728" marR="91440" marT="36576" marB="36576">
                    <a:solidFill>
                      <a:srgbClr val="F8FAFC"/>
                    </a:solidFill>
                  </a:tcPr>
                </a:tc>
                <a:tc>
                  <a:txBody>
                    <a:bodyPr wrap="square"/>
                    <a:lstStyle/>
                    <a:p>
                      <a:r>
                        <a:rPr sz="1150" b="0">
                          <a:solidFill>
                            <a:srgbClr val="374151"/>
                          </a:solidFill>
                          <a:latin typeface="Arial"/>
                        </a:rPr>
                        <a:t>a per-run cost cap (maxCostUsd) stops the run cleanly when the dollar budget is hit</a:t>
                      </a:r>
                    </a:p>
                  </a:txBody>
                  <a:tcPr anchor="ctr" marL="109728" marR="91440" marT="36576" marB="36576">
                    <a:solidFill>
                      <a:srgbClr val="F8FAFC"/>
                    </a:solidFill>
                  </a:tcPr>
                </a:tc>
              </a:tr>
            </a:tbl>
          </a:graphicData>
        </a:graphic>
      </p:graphicFrame>
      <p:sp>
        <p:nvSpPr>
          <p:cNvPr id="7" name="Rectangle 6"/>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 y="4992624"/>
            <a:ext cx="4572000" cy="182880"/>
          </a:xfrm>
          <a:prstGeom prst="rect">
            <a:avLst/>
          </a:prstGeom>
          <a:noFill/>
        </p:spPr>
        <p:txBody>
          <a:bodyPr wrap="square" anchor="t" lIns="54864" rIns="54864" tIns="27432" bIns="27432">
            <a:spAutoFit/>
          </a:bodyPr>
          <a:lstStyle/>
          <a:p>
            <a:pPr algn="l"/>
            <a:r>
              <a:rPr sz="800" b="0" i="0">
                <a:solidFill>
                  <a:srgbClr val="94A3B8"/>
                </a:solidFill>
                <a:latin typeface="Arial"/>
              </a:rPr>
              <a:t>Guardrails — What's New</a:t>
            </a:r>
          </a:p>
        </p:txBody>
      </p:sp>
      <p:sp>
        <p:nvSpPr>
          <p:cNvPr id="9" name="TextBox 8"/>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7863840" cy="603504"/>
          </a:xfrm>
          <a:prstGeom prst="rect">
            <a:avLst/>
          </a:prstGeom>
          <a:noFill/>
        </p:spPr>
        <p:txBody>
          <a:bodyPr wrap="square" anchor="ctr" lIns="54864" rIns="54864" tIns="27432" bIns="27432">
            <a:spAutoFit/>
          </a:bodyPr>
          <a:lstStyle/>
          <a:p>
            <a:pPr algn="l"/>
            <a:r>
              <a:rPr sz="2100" b="1" i="0">
                <a:solidFill>
                  <a:srgbClr val="FFFFFF"/>
                </a:solidFill>
                <a:latin typeface="Arial"/>
              </a:rPr>
              <a:t>The One Idea</a:t>
            </a:r>
          </a:p>
        </p:txBody>
      </p:sp>
      <p:sp>
        <p:nvSpPr>
          <p:cNvPr id="5" name="Rounded Rectangle 4"/>
          <p:cNvSpPr/>
          <p:nvPr/>
        </p:nvSpPr>
        <p:spPr>
          <a:xfrm>
            <a:off x="448056" y="950976"/>
            <a:ext cx="8257031" cy="914400"/>
          </a:xfrm>
          <a:prstGeom prst="roundRect">
            <a:avLst>
              <a:gd name="adj" fmla="val 6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056" y="950976"/>
            <a:ext cx="109728" cy="91440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48056" y="950976"/>
            <a:ext cx="8257031"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Aft>
                <a:spcPts val="300"/>
              </a:spcAft>
            </a:pPr>
            <a:r>
              <a:rPr sz="2000" b="1" i="0">
                <a:solidFill>
                  <a:srgbClr val="FFFFFF"/>
                </a:solidFill>
                <a:latin typeface="Arial"/>
              </a:rPr>
              <a:t>“A prompt may propose — only a deterministic gate may certify.”</a:t>
            </a:r>
          </a:p>
        </p:txBody>
      </p:sp>
      <p:graphicFrame>
        <p:nvGraphicFramePr>
          <p:cNvPr id="8" name="Table 7"/>
          <p:cNvGraphicFramePr>
            <a:graphicFrameLocks noGrp="1"/>
          </p:cNvGraphicFramePr>
          <p:nvPr/>
        </p:nvGraphicFramePr>
        <p:xfrm>
          <a:off x="448056" y="2011680"/>
          <a:ext cx="8257032" cy="2148840"/>
        </p:xfrm>
        <a:graphic>
          <a:graphicData uri="http://schemas.openxmlformats.org/drawingml/2006/table">
            <a:tbl>
              <a:tblPr firstRow="1">
                <a:tableStyleId>{5C22544A-7EE6-4342-B048-85BDC9FD1C3A}</a:tableStyleId>
              </a:tblPr>
              <a:tblGrid>
                <a:gridCol w="2240280"/>
                <a:gridCol w="2788920"/>
                <a:gridCol w="3227832"/>
              </a:tblGrid>
              <a:tr h="429768">
                <a:tc>
                  <a:txBody>
                    <a:bodyPr wrap="square"/>
                    <a:lstStyle/>
                    <a:p>
                      <a:r>
                        <a:rPr sz="1200" b="1">
                          <a:solidFill>
                            <a:srgbClr val="FFFFFF"/>
                          </a:solidFill>
                          <a:latin typeface="Arial"/>
                        </a:rPr>
                        <a:t>New capability</a:t>
                      </a:r>
                    </a:p>
                  </a:txBody>
                  <a:tcPr anchor="ctr" marL="109728" marR="91440" marT="36576" marB="36576">
                    <a:solidFill>
                      <a:srgbClr val="01499B"/>
                    </a:solidFill>
                  </a:tcPr>
                </a:tc>
                <a:tc>
                  <a:txBody>
                    <a:bodyPr wrap="square"/>
                    <a:lstStyle/>
                    <a:p>
                      <a:r>
                        <a:rPr sz="1200" b="1">
                          <a:solidFill>
                            <a:srgbClr val="FFFFFF"/>
                          </a:solidFill>
                          <a:latin typeface="Arial"/>
                        </a:rPr>
                        <a:t>The proposer  (AI)</a:t>
                      </a:r>
                    </a:p>
                  </a:txBody>
                  <a:tcPr anchor="ctr" marL="109728" marR="91440" marT="36576" marB="36576">
                    <a:solidFill>
                      <a:srgbClr val="01499B"/>
                    </a:solidFill>
                  </a:tcPr>
                </a:tc>
                <a:tc>
                  <a:txBody>
                    <a:bodyPr wrap="square"/>
                    <a:lstStyle/>
                    <a:p>
                      <a:r>
                        <a:rPr sz="1200" b="1">
                          <a:solidFill>
                            <a:srgbClr val="FFFFFF"/>
                          </a:solidFill>
                          <a:latin typeface="Arial"/>
                        </a:rPr>
                        <a:t>The certifier  (deterministic)</a:t>
                      </a:r>
                    </a:p>
                  </a:txBody>
                  <a:tcPr anchor="ctr" marL="109728" marR="91440" marT="36576" marB="36576">
                    <a:solidFill>
                      <a:srgbClr val="01499B"/>
                    </a:solidFill>
                  </a:tcPr>
                </a:tc>
              </a:tr>
              <a:tr h="429768">
                <a:tc>
                  <a:txBody>
                    <a:bodyPr wrap="square"/>
                    <a:lstStyle/>
                    <a:p>
                      <a:r>
                        <a:rPr sz="1100" b="1">
                          <a:solidFill>
                            <a:srgbClr val="01499B"/>
                          </a:solidFill>
                          <a:latin typeface="Arial"/>
                        </a:rPr>
                        <a:t>Parallel execution</a:t>
                      </a:r>
                    </a:p>
                  </a:txBody>
                  <a:tcPr anchor="ctr" marL="109728" marR="91440" marT="36576" marB="36576">
                    <a:solidFill>
                      <a:srgbClr val="F8FAFC"/>
                    </a:solidFill>
                  </a:tcPr>
                </a:tc>
                <a:tc>
                  <a:txBody>
                    <a:bodyPr wrap="square"/>
                    <a:lstStyle/>
                    <a:p>
                      <a:r>
                        <a:rPr sz="1100" b="0">
                          <a:solidFill>
                            <a:srgbClr val="374151"/>
                          </a:solidFill>
                          <a:latin typeface="Arial"/>
                        </a:rPr>
                        <a:t>agents work concurrently</a:t>
                      </a:r>
                    </a:p>
                  </a:txBody>
                  <a:tcPr anchor="ctr" marL="109728" marR="91440" marT="36576" marB="36576">
                    <a:solidFill>
                      <a:srgbClr val="F8FAFC"/>
                    </a:solidFill>
                  </a:tcPr>
                </a:tc>
                <a:tc>
                  <a:txBody>
                    <a:bodyPr wrap="square"/>
                    <a:lstStyle/>
                    <a:p>
                      <a:r>
                        <a:rPr sz="1100" b="0">
                          <a:solidFill>
                            <a:srgbClr val="374151"/>
                          </a:solidFill>
                          <a:latin typeface="Arial"/>
                        </a:rPr>
                        <a:t>worktrees isolate; the harness merges</a:t>
                      </a:r>
                    </a:p>
                  </a:txBody>
                  <a:tcPr anchor="ctr" marL="109728" marR="91440" marT="36576" marB="36576">
                    <a:solidFill>
                      <a:srgbClr val="F8FAFC"/>
                    </a:solidFill>
                  </a:tcPr>
                </a:tc>
              </a:tr>
              <a:tr h="429768">
                <a:tc>
                  <a:txBody>
                    <a:bodyPr wrap="square"/>
                    <a:lstStyle/>
                    <a:p>
                      <a:r>
                        <a:rPr sz="1100" b="1">
                          <a:solidFill>
                            <a:srgbClr val="01499B"/>
                          </a:solidFill>
                          <a:latin typeface="Arial"/>
                        </a:rPr>
                        <a:t>AI merge-resolution</a:t>
                      </a:r>
                    </a:p>
                  </a:txBody>
                  <a:tcPr anchor="ctr" marL="109728" marR="91440" marT="36576" marB="36576">
                    <a:solidFill>
                      <a:srgbClr val="FFFFFF"/>
                    </a:solidFill>
                  </a:tcPr>
                </a:tc>
                <a:tc>
                  <a:txBody>
                    <a:bodyPr wrap="square"/>
                    <a:lstStyle/>
                    <a:p>
                      <a:r>
                        <a:rPr sz="1100" b="0">
                          <a:solidFill>
                            <a:srgbClr val="374151"/>
                          </a:solidFill>
                          <a:latin typeface="Arial"/>
                        </a:rPr>
                        <a:t>AI resolves the conflict</a:t>
                      </a:r>
                    </a:p>
                  </a:txBody>
                  <a:tcPr anchor="ctr" marL="109728" marR="91440" marT="36576" marB="36576">
                    <a:solidFill>
                      <a:srgbClr val="FFFFFF"/>
                    </a:solidFill>
                  </a:tcPr>
                </a:tc>
                <a:tc>
                  <a:txBody>
                    <a:bodyPr wrap="square"/>
                    <a:lstStyle/>
                    <a:p>
                      <a:r>
                        <a:rPr sz="1100" b="0">
                          <a:solidFill>
                            <a:srgbClr val="374151"/>
                          </a:solidFill>
                          <a:latin typeface="Arial"/>
                        </a:rPr>
                        <a:t>2 checks + build/test re-verify on merged bytes</a:t>
                      </a:r>
                    </a:p>
                  </a:txBody>
                  <a:tcPr anchor="ctr" marL="109728" marR="91440" marT="36576" marB="36576">
                    <a:solidFill>
                      <a:srgbClr val="FFFFFF"/>
                    </a:solidFill>
                  </a:tcPr>
                </a:tc>
              </a:tr>
              <a:tr h="429768">
                <a:tc>
                  <a:txBody>
                    <a:bodyPr wrap="square"/>
                    <a:lstStyle/>
                    <a:p>
                      <a:r>
                        <a:rPr sz="1100" b="1">
                          <a:solidFill>
                            <a:srgbClr val="01499B"/>
                          </a:solidFill>
                          <a:latin typeface="Arial"/>
                        </a:rPr>
                        <a:t>Write-scope</a:t>
                      </a:r>
                    </a:p>
                  </a:txBody>
                  <a:tcPr anchor="ctr" marL="109728" marR="91440" marT="36576" marB="36576">
                    <a:solidFill>
                      <a:srgbClr val="F8FAFC"/>
                    </a:solidFill>
                  </a:tcPr>
                </a:tc>
                <a:tc>
                  <a:txBody>
                    <a:bodyPr wrap="square"/>
                    <a:lstStyle/>
                    <a:p>
                      <a:r>
                        <a:rPr sz="1100" b="0">
                          <a:solidFill>
                            <a:srgbClr val="374151"/>
                          </a:solidFill>
                          <a:latin typeface="Arial"/>
                        </a:rPr>
                        <a:t>the action edits files</a:t>
                      </a:r>
                    </a:p>
                  </a:txBody>
                  <a:tcPr anchor="ctr" marL="109728" marR="91440" marT="36576" marB="36576">
                    <a:solidFill>
                      <a:srgbClr val="F8FAFC"/>
                    </a:solidFill>
                  </a:tcPr>
                </a:tc>
                <a:tc>
                  <a:txBody>
                    <a:bodyPr wrap="square"/>
                    <a:lstStyle/>
                    <a:p>
                      <a:r>
                        <a:rPr sz="1100" b="0">
                          <a:solidFill>
                            <a:srgbClr val="374151"/>
                          </a:solidFill>
                          <a:latin typeface="Arial"/>
                        </a:rPr>
                        <a:t>a git diff membership check</a:t>
                      </a:r>
                    </a:p>
                  </a:txBody>
                  <a:tcPr anchor="ctr" marL="109728" marR="91440" marT="36576" marB="36576">
                    <a:solidFill>
                      <a:srgbClr val="F8FAFC"/>
                    </a:solidFill>
                  </a:tcPr>
                </a:tc>
              </a:tr>
              <a:tr h="429768">
                <a:tc>
                  <a:txBody>
                    <a:bodyPr wrap="square"/>
                    <a:lstStyle/>
                    <a:p>
                      <a:r>
                        <a:rPr sz="1100" b="1">
                          <a:solidFill>
                            <a:srgbClr val="01499B"/>
                          </a:solidFill>
                          <a:latin typeface="Arial"/>
                        </a:rPr>
                        <a:t>Smarter breakdown</a:t>
                      </a:r>
                    </a:p>
                  </a:txBody>
                  <a:tcPr anchor="ctr" marL="109728" marR="91440" marT="36576" marB="36576">
                    <a:solidFill>
                      <a:srgbClr val="FFFFFF"/>
                    </a:solidFill>
                  </a:tcPr>
                </a:tc>
                <a:tc>
                  <a:txBody>
                    <a:bodyPr wrap="square"/>
                    <a:lstStyle/>
                    <a:p>
                      <a:r>
                        <a:rPr sz="1100" b="0">
                          <a:solidFill>
                            <a:srgbClr val="374151"/>
                          </a:solidFill>
                          <a:latin typeface="Arial"/>
                        </a:rPr>
                        <a:t>the skill proposes tasks</a:t>
                      </a:r>
                    </a:p>
                  </a:txBody>
                  <a:tcPr anchor="ctr" marL="109728" marR="91440" marT="36576" marB="36576">
                    <a:solidFill>
                      <a:srgbClr val="FFFFFF"/>
                    </a:solidFill>
                  </a:tcPr>
                </a:tc>
                <a:tc>
                  <a:txBody>
                    <a:bodyPr wrap="square"/>
                    <a:lstStyle/>
                    <a:p>
                      <a:r>
                        <a:rPr sz="1100" b="0">
                          <a:solidFill>
                            <a:srgbClr val="374151"/>
                          </a:solidFill>
                          <a:latin typeface="Arial"/>
                        </a:rPr>
                        <a:t>human review + the guardrails still gate</a:t>
                      </a:r>
                    </a:p>
                  </a:txBody>
                  <a:tcPr anchor="ctr" marL="109728" marR="91440" marT="36576" marB="36576">
                    <a:solidFill>
                      <a:srgbClr val="FFFFFF"/>
                    </a:solidFill>
                  </a:tcPr>
                </a:tc>
              </a:tr>
            </a:tbl>
          </a:graphicData>
        </a:graphic>
      </p:graphicFrame>
      <p:sp>
        <p:nvSpPr>
          <p:cNvPr id="9" name="Rounded Rectangle 8"/>
          <p:cNvSpPr/>
          <p:nvPr/>
        </p:nvSpPr>
        <p:spPr>
          <a:xfrm>
            <a:off x="448056" y="4261104"/>
            <a:ext cx="8257031" cy="548640"/>
          </a:xfrm>
          <a:prstGeom prst="roundRect">
            <a:avLst>
              <a:gd name="adj" fmla="val 12000"/>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latin typeface="Arial"/>
              </a:rPr>
              <a:t>We let AI do more — by trusting it less.  </a:t>
            </a:r>
            <a:r>
              <a:rPr sz="1500" b="0" i="1">
                <a:solidFill>
                  <a:srgbClr val="FFFFFF"/>
                </a:solidFill>
                <a:latin typeface="Arial"/>
              </a:rPr>
              <a:t>That’s the whole trick.</a:t>
            </a:r>
          </a:p>
        </p:txBody>
      </p:sp>
      <p:sp>
        <p:nvSpPr>
          <p:cNvPr id="10" name="Rectangle 9"/>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 y="4992624"/>
            <a:ext cx="4572000" cy="182880"/>
          </a:xfrm>
          <a:prstGeom prst="rect">
            <a:avLst/>
          </a:prstGeom>
          <a:noFill/>
        </p:spPr>
        <p:txBody>
          <a:bodyPr wrap="square" anchor="t" lIns="54864" rIns="54864" tIns="27432" bIns="27432">
            <a:spAutoFit/>
          </a:bodyPr>
          <a:lstStyle/>
          <a:p>
            <a:pPr algn="l"/>
            <a:r>
              <a:rPr sz="800" b="0" i="0">
                <a:solidFill>
                  <a:srgbClr val="94A3B8"/>
                </a:solidFill>
                <a:latin typeface="Arial"/>
              </a:rPr>
              <a:t>Guardrails — What's New</a:t>
            </a:r>
          </a:p>
        </p:txBody>
      </p:sp>
      <p:sp>
        <p:nvSpPr>
          <p:cNvPr id="12" name="TextBox 11"/>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7863840" cy="603504"/>
          </a:xfrm>
          <a:prstGeom prst="rect">
            <a:avLst/>
          </a:prstGeom>
          <a:noFill/>
        </p:spPr>
        <p:txBody>
          <a:bodyPr wrap="square" anchor="ctr" lIns="54864" rIns="54864" tIns="27432" bIns="27432">
            <a:spAutoFit/>
          </a:bodyPr>
          <a:lstStyle/>
          <a:p>
            <a:pPr algn="l"/>
            <a:r>
              <a:rPr sz="2100" b="1" i="0">
                <a:solidFill>
                  <a:srgbClr val="FFFFFF"/>
                </a:solidFill>
                <a:latin typeface="Arial"/>
              </a:rPr>
              <a:t>Getting Started &amp; Questions</a:t>
            </a:r>
          </a:p>
        </p:txBody>
      </p:sp>
      <p:sp>
        <p:nvSpPr>
          <p:cNvPr id="5" name="TextBox 4"/>
          <p:cNvSpPr txBox="1"/>
          <p:nvPr/>
        </p:nvSpPr>
        <p:spPr>
          <a:xfrm>
            <a:off x="448056" y="950976"/>
            <a:ext cx="4114800" cy="274320"/>
          </a:xfrm>
          <a:prstGeom prst="rect">
            <a:avLst/>
          </a:prstGeom>
          <a:noFill/>
        </p:spPr>
        <p:txBody>
          <a:bodyPr wrap="square" anchor="t" lIns="54864" rIns="54864" tIns="27432" bIns="27432">
            <a:spAutoFit/>
          </a:bodyPr>
          <a:lstStyle/>
          <a:p>
            <a:pPr algn="l"/>
            <a:r>
              <a:rPr sz="1250" b="1" i="0">
                <a:solidFill>
                  <a:srgbClr val="01499B"/>
                </a:solidFill>
                <a:latin typeface="Arial"/>
              </a:rPr>
              <a:t>Update to the latest preview</a:t>
            </a:r>
          </a:p>
        </p:txBody>
      </p:sp>
      <p:sp>
        <p:nvSpPr>
          <p:cNvPr id="6" name="Rounded Rectangle 5"/>
          <p:cNvSpPr/>
          <p:nvPr/>
        </p:nvSpPr>
        <p:spPr>
          <a:xfrm>
            <a:off x="448056" y="1243584"/>
            <a:ext cx="4114800" cy="91440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 y="1243584"/>
            <a:ext cx="4114800" cy="914400"/>
          </a:xfrm>
          <a:prstGeom prst="rect">
            <a:avLst/>
          </a:prstGeom>
          <a:noFill/>
        </p:spPr>
        <p:txBody>
          <a:bodyPr wrap="square" anchor="ctr" lIns="164592" rIns="109728" tIns="27432" bIns="27432">
            <a:spAutoFit/>
          </a:bodyPr>
          <a:lstStyle/>
          <a:p>
            <a:pPr algn="l">
              <a:lnSpc>
                <a:spcPct val="104000"/>
              </a:lnSpc>
              <a:spcAft>
                <a:spcPts val="0"/>
              </a:spcAft>
            </a:pPr>
            <a:r>
              <a:rPr sz="950" b="0" i="0">
                <a:solidFill>
                  <a:srgbClr val="E5E7EB"/>
                </a:solidFill>
                <a:latin typeface="Courier New"/>
              </a:rPr>
              <a:t>dotnet tool update --global \</a:t>
            </a:r>
          </a:p>
          <a:p>
            <a:pPr algn="l">
              <a:lnSpc>
                <a:spcPct val="104000"/>
              </a:lnSpc>
              <a:spcAft>
                <a:spcPts val="0"/>
              </a:spcAft>
            </a:pPr>
            <a:r>
              <a:rPr sz="950" b="0" i="0">
                <a:solidFill>
                  <a:srgbClr val="E5E7EB"/>
                </a:solidFill>
                <a:latin typeface="Courier New"/>
              </a:rPr>
              <a:t>    ServantSoftware.Guardrails </a:t>
            </a:r>
            <a:r>
              <a:rPr sz="950" b="0" i="0">
                <a:solidFill>
                  <a:srgbClr val="FBB98C"/>
                </a:solidFill>
                <a:latin typeface="Courier New"/>
              </a:rPr>
              <a:t>--prerelease</a:t>
            </a:r>
          </a:p>
          <a:p>
            <a:pPr algn="l">
              <a:lnSpc>
                <a:spcPct val="104000"/>
              </a:lnSpc>
              <a:spcAft>
                <a:spcPts val="0"/>
              </a:spcAft>
            </a:pPr>
            <a:r>
              <a:rPr sz="950" b="0" i="0">
                <a:solidFill>
                  <a:srgbClr val="E5E7EB"/>
                </a:solidFill>
                <a:latin typeface="Courier New"/>
              </a:rPr>
              <a:t>guardrails skills install</a:t>
            </a:r>
          </a:p>
          <a:p>
            <a:pPr algn="l">
              <a:lnSpc>
                <a:spcPct val="104000"/>
              </a:lnSpc>
              <a:spcAft>
                <a:spcPts val="0"/>
              </a:spcAft>
            </a:pPr>
            <a:r>
              <a:rPr sz="900" b="0" i="0">
                <a:solidFill>
                  <a:srgbClr val="94A3B8"/>
                </a:solidFill>
                <a:latin typeface="Courier New"/>
              </a:rPr>
              <a:t># refresh /plan-breakdown &amp; /guardrails-review</a:t>
            </a:r>
          </a:p>
        </p:txBody>
      </p:sp>
      <p:sp>
        <p:nvSpPr>
          <p:cNvPr id="8" name="TextBox 7"/>
          <p:cNvSpPr txBox="1"/>
          <p:nvPr/>
        </p:nvSpPr>
        <p:spPr>
          <a:xfrm>
            <a:off x="448056" y="2286000"/>
            <a:ext cx="4114800" cy="274320"/>
          </a:xfrm>
          <a:prstGeom prst="rect">
            <a:avLst/>
          </a:prstGeom>
          <a:noFill/>
        </p:spPr>
        <p:txBody>
          <a:bodyPr wrap="square" anchor="t" lIns="54864" rIns="54864" tIns="27432" bIns="27432">
            <a:spAutoFit/>
          </a:bodyPr>
          <a:lstStyle/>
          <a:p>
            <a:pPr algn="l"/>
            <a:r>
              <a:rPr sz="1250" b="1" i="0">
                <a:solidFill>
                  <a:srgbClr val="01499B"/>
                </a:solidFill>
                <a:latin typeface="Arial"/>
              </a:rPr>
              <a:t>Go parallel — in guardrails.json</a:t>
            </a:r>
          </a:p>
        </p:txBody>
      </p:sp>
      <p:sp>
        <p:nvSpPr>
          <p:cNvPr id="9" name="Rounded Rectangle 8"/>
          <p:cNvSpPr/>
          <p:nvPr/>
        </p:nvSpPr>
        <p:spPr>
          <a:xfrm>
            <a:off x="448056" y="2578608"/>
            <a:ext cx="4114800" cy="566928"/>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 y="2578608"/>
            <a:ext cx="4114800" cy="566928"/>
          </a:xfrm>
          <a:prstGeom prst="rect">
            <a:avLst/>
          </a:prstGeom>
          <a:noFill/>
        </p:spPr>
        <p:txBody>
          <a:bodyPr wrap="square" anchor="ctr" lIns="164592" rIns="109728" tIns="27432" bIns="27432">
            <a:spAutoFit/>
          </a:bodyPr>
          <a:lstStyle/>
          <a:p>
            <a:pPr algn="l">
              <a:lnSpc>
                <a:spcPct val="104000"/>
              </a:lnSpc>
              <a:spcAft>
                <a:spcPts val="0"/>
              </a:spcAft>
            </a:pPr>
            <a:r>
              <a:rPr sz="1100" b="0" i="0">
                <a:solidFill>
                  <a:srgbClr val="E5E7EB"/>
                </a:solidFill>
                <a:latin typeface="Courier New"/>
              </a:rPr>
              <a:t>{ </a:t>
            </a:r>
            <a:r>
              <a:rPr sz="1100" b="0" i="0">
                <a:solidFill>
                  <a:srgbClr val="FBB98C"/>
                </a:solidFill>
                <a:latin typeface="Courier New"/>
              </a:rPr>
              <a:t>"maxParallelism"</a:t>
            </a:r>
            <a:r>
              <a:rPr sz="1100" b="0" i="0">
                <a:solidFill>
                  <a:srgbClr val="E5E7EB"/>
                </a:solidFill>
                <a:latin typeface="Courier New"/>
              </a:rPr>
              <a:t>: </a:t>
            </a:r>
            <a:r>
              <a:rPr sz="1100" b="0" i="0">
                <a:solidFill>
                  <a:srgbClr val="7EE7C7"/>
                </a:solidFill>
                <a:latin typeface="Courier New"/>
              </a:rPr>
              <a:t>3</a:t>
            </a:r>
            <a:r>
              <a:rPr sz="1100" b="0" i="0">
                <a:solidFill>
                  <a:srgbClr val="E5E7EB"/>
                </a:solidFill>
                <a:latin typeface="Courier New"/>
              </a:rPr>
              <a:t> }</a:t>
            </a:r>
          </a:p>
        </p:txBody>
      </p:sp>
      <p:sp>
        <p:nvSpPr>
          <p:cNvPr id="11" name="TextBox 10"/>
          <p:cNvSpPr txBox="1"/>
          <p:nvPr/>
        </p:nvSpPr>
        <p:spPr>
          <a:xfrm>
            <a:off x="448056" y="3236976"/>
            <a:ext cx="4114800" cy="868680"/>
          </a:xfrm>
          <a:prstGeom prst="rect">
            <a:avLst/>
          </a:prstGeom>
          <a:noFill/>
        </p:spPr>
        <p:txBody>
          <a:bodyPr wrap="square" anchor="t" lIns="54864" rIns="54864" tIns="27432" bIns="27432">
            <a:spAutoFit/>
          </a:bodyPr>
          <a:lstStyle/>
          <a:p>
            <a:pPr algn="l">
              <a:lnSpc>
                <a:spcPct val="105000"/>
              </a:lnSpc>
              <a:spcAft>
                <a:spcPts val="300"/>
              </a:spcAft>
            </a:pPr>
            <a:r>
              <a:rPr sz="1050" b="0" i="0">
                <a:solidFill>
                  <a:srgbClr val="6B7280"/>
                </a:solidFill>
                <a:latin typeface="Arial"/>
              </a:rPr>
              <a:t>Requires git (worktree mode). Serial runs (</a:t>
            </a:r>
            <a:r>
              <a:rPr sz="1050" b="1" i="0">
                <a:solidFill>
                  <a:srgbClr val="374151"/>
                </a:solidFill>
                <a:latin typeface="Courier New"/>
              </a:rPr>
              <a:t>1</a:t>
            </a:r>
            <a:r>
              <a:rPr sz="1050" b="0" i="0">
                <a:solidFill>
                  <a:srgbClr val="6B7280"/>
                </a:solidFill>
                <a:latin typeface="Arial"/>
              </a:rPr>
              <a:t>) need no git and keep the old model.</a:t>
            </a:r>
          </a:p>
          <a:p>
            <a:pPr algn="l">
              <a:spcBef>
                <a:spcPts val="400"/>
              </a:spcBef>
            </a:pPr>
            <a:r>
              <a:rPr sz="1000" b="1" i="0">
                <a:solidFill>
                  <a:srgbClr val="374151"/>
                </a:solidFill>
                <a:latin typeface="Courier New"/>
              </a:rPr>
              <a:t>ServantSoftware.Guardrails  ·  v1.0.0-preview.19</a:t>
            </a:r>
          </a:p>
          <a:p>
            <a:pPr algn="l"/>
            <a:r>
              <a:rPr sz="1000" b="0" i="0">
                <a:solidFill>
                  <a:srgbClr val="6B7280"/>
                </a:solidFill>
                <a:latin typeface="Courier New"/>
              </a:rPr>
              <a:t>github.com/Servant-Software-LLC/Guardrails</a:t>
            </a:r>
          </a:p>
        </p:txBody>
      </p:sp>
      <p:sp>
        <p:nvSpPr>
          <p:cNvPr id="12" name="Rounded Rectangle 11"/>
          <p:cNvSpPr/>
          <p:nvPr/>
        </p:nvSpPr>
        <p:spPr>
          <a:xfrm>
            <a:off x="4800600" y="950976"/>
            <a:ext cx="3904487" cy="3712463"/>
          </a:xfrm>
          <a:prstGeom prst="roundRect">
            <a:avLst>
              <a:gd name="adj" fmla="val 5000"/>
            </a:avLst>
          </a:prstGeom>
          <a:solidFill>
            <a:srgbClr val="EFF6FF"/>
          </a:solidFill>
          <a:ln w="12700">
            <a:solidFill>
              <a:srgbClr val="E0E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3480" y="1097280"/>
            <a:ext cx="3566160" cy="329184"/>
          </a:xfrm>
          <a:prstGeom prst="rect">
            <a:avLst/>
          </a:prstGeom>
          <a:noFill/>
        </p:spPr>
        <p:txBody>
          <a:bodyPr wrap="square" anchor="t" lIns="54864" rIns="54864" tIns="27432" bIns="27432">
            <a:spAutoFit/>
          </a:bodyPr>
          <a:lstStyle/>
          <a:p>
            <a:pPr algn="l"/>
            <a:r>
              <a:rPr sz="1500" b="1" i="0">
                <a:solidFill>
                  <a:srgbClr val="01499B"/>
                </a:solidFill>
                <a:latin typeface="Arial"/>
              </a:rPr>
              <a:t>Takeaways</a:t>
            </a:r>
          </a:p>
        </p:txBody>
      </p:sp>
      <p:sp>
        <p:nvSpPr>
          <p:cNvPr id="14" name="Rectangle 13"/>
          <p:cNvSpPr/>
          <p:nvPr/>
        </p:nvSpPr>
        <p:spPr>
          <a:xfrm>
            <a:off x="4983480" y="1463040"/>
            <a:ext cx="1005840" cy="32004"/>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83480" y="1645920"/>
            <a:ext cx="310896" cy="310896"/>
          </a:xfrm>
          <a:prstGeom prst="roundRect">
            <a:avLst>
              <a:gd name="adj" fmla="val 50000"/>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1</a:t>
            </a:r>
          </a:p>
        </p:txBody>
      </p:sp>
      <p:sp>
        <p:nvSpPr>
          <p:cNvPr id="16" name="TextBox 15"/>
          <p:cNvSpPr txBox="1"/>
          <p:nvPr/>
        </p:nvSpPr>
        <p:spPr>
          <a:xfrm>
            <a:off x="5413248" y="1591056"/>
            <a:ext cx="3200400" cy="713232"/>
          </a:xfrm>
          <a:prstGeom prst="rect">
            <a:avLst/>
          </a:prstGeom>
          <a:noFill/>
        </p:spPr>
        <p:txBody>
          <a:bodyPr wrap="square" anchor="t" lIns="54864" rIns="54864" tIns="27432" bIns="27432">
            <a:spAutoFit/>
          </a:bodyPr>
          <a:lstStyle/>
          <a:p>
            <a:pPr algn="l">
              <a:spcAft>
                <a:spcPts val="100"/>
              </a:spcAft>
            </a:pPr>
            <a:r>
              <a:rPr sz="1250" b="1" i="0">
                <a:solidFill>
                  <a:srgbClr val="1F2937"/>
                </a:solidFill>
                <a:latin typeface="Arial"/>
              </a:rPr>
              <a:t>Parallel now</a:t>
            </a:r>
          </a:p>
          <a:p>
            <a:pPr algn="l">
              <a:lnSpc>
                <a:spcPct val="102000"/>
              </a:lnSpc>
            </a:pPr>
            <a:r>
              <a:rPr sz="1100" b="0" i="0">
                <a:solidFill>
                  <a:srgbClr val="374151"/>
                </a:solidFill>
                <a:latin typeface="Arial"/>
              </a:rPr>
              <a:t>up to 3 tasks at once, isolated by git worktrees</a:t>
            </a:r>
          </a:p>
        </p:txBody>
      </p:sp>
      <p:sp>
        <p:nvSpPr>
          <p:cNvPr id="17" name="Rounded Rectangle 16"/>
          <p:cNvSpPr/>
          <p:nvPr/>
        </p:nvSpPr>
        <p:spPr>
          <a:xfrm>
            <a:off x="4983480" y="2395728"/>
            <a:ext cx="310896" cy="310896"/>
          </a:xfrm>
          <a:prstGeom prst="roundRect">
            <a:avLst>
              <a:gd name="adj" fmla="val 50000"/>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2</a:t>
            </a:r>
          </a:p>
        </p:txBody>
      </p:sp>
      <p:sp>
        <p:nvSpPr>
          <p:cNvPr id="18" name="TextBox 17"/>
          <p:cNvSpPr txBox="1"/>
          <p:nvPr/>
        </p:nvSpPr>
        <p:spPr>
          <a:xfrm>
            <a:off x="5413248" y="2340864"/>
            <a:ext cx="3200400" cy="713232"/>
          </a:xfrm>
          <a:prstGeom prst="rect">
            <a:avLst/>
          </a:prstGeom>
          <a:noFill/>
        </p:spPr>
        <p:txBody>
          <a:bodyPr wrap="square" anchor="t" lIns="54864" rIns="54864" tIns="27432" bIns="27432">
            <a:spAutoFit/>
          </a:bodyPr>
          <a:lstStyle/>
          <a:p>
            <a:pPr algn="l">
              <a:spcAft>
                <a:spcPts val="100"/>
              </a:spcAft>
            </a:pPr>
            <a:r>
              <a:rPr sz="1250" b="1" i="0">
                <a:solidFill>
                  <a:srgbClr val="1F2937"/>
                </a:solidFill>
                <a:latin typeface="Arial"/>
              </a:rPr>
              <a:t>AI merges conflicts</a:t>
            </a:r>
          </a:p>
          <a:p>
            <a:pPr algn="l">
              <a:lnSpc>
                <a:spcPct val="102000"/>
              </a:lnSpc>
            </a:pPr>
            <a:r>
              <a:rPr sz="1100" b="0" i="0">
                <a:solidFill>
                  <a:srgbClr val="374151"/>
                </a:solidFill>
                <a:latin typeface="Arial"/>
              </a:rPr>
              <a:t>but only behind deterministic gates</a:t>
            </a:r>
          </a:p>
        </p:txBody>
      </p:sp>
      <p:sp>
        <p:nvSpPr>
          <p:cNvPr id="19" name="Rounded Rectangle 18"/>
          <p:cNvSpPr/>
          <p:nvPr/>
        </p:nvSpPr>
        <p:spPr>
          <a:xfrm>
            <a:off x="4983480" y="3145536"/>
            <a:ext cx="310896" cy="310896"/>
          </a:xfrm>
          <a:prstGeom prst="roundRect">
            <a:avLst>
              <a:gd name="adj" fmla="val 50000"/>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3</a:t>
            </a:r>
          </a:p>
        </p:txBody>
      </p:sp>
      <p:sp>
        <p:nvSpPr>
          <p:cNvPr id="20" name="TextBox 19"/>
          <p:cNvSpPr txBox="1"/>
          <p:nvPr/>
        </p:nvSpPr>
        <p:spPr>
          <a:xfrm>
            <a:off x="5413248" y="3090672"/>
            <a:ext cx="3200400" cy="713232"/>
          </a:xfrm>
          <a:prstGeom prst="rect">
            <a:avLst/>
          </a:prstGeom>
          <a:noFill/>
        </p:spPr>
        <p:txBody>
          <a:bodyPr wrap="square" anchor="t" lIns="54864" rIns="54864" tIns="27432" bIns="27432">
            <a:spAutoFit/>
          </a:bodyPr>
          <a:lstStyle/>
          <a:p>
            <a:pPr algn="l">
              <a:spcAft>
                <a:spcPts val="100"/>
              </a:spcAft>
            </a:pPr>
            <a:r>
              <a:rPr sz="1250" b="1" i="0">
                <a:solidFill>
                  <a:srgbClr val="1F2937"/>
                </a:solidFill>
                <a:latin typeface="Arial"/>
              </a:rPr>
              <a:t>Smarter breakdown</a:t>
            </a:r>
          </a:p>
          <a:p>
            <a:pPr algn="l">
              <a:lnSpc>
                <a:spcPct val="102000"/>
              </a:lnSpc>
            </a:pPr>
            <a:r>
              <a:rPr sz="1100" b="0" i="0">
                <a:solidFill>
                  <a:srgbClr val="374151"/>
                </a:solidFill>
                <a:latin typeface="Arial"/>
              </a:rPr>
              <a:t>TDD-first, smoke tests, UI tasks, no silent guesses</a:t>
            </a:r>
          </a:p>
        </p:txBody>
      </p:sp>
      <p:sp>
        <p:nvSpPr>
          <p:cNvPr id="21" name="Rounded Rectangle 20"/>
          <p:cNvSpPr/>
          <p:nvPr/>
        </p:nvSpPr>
        <p:spPr>
          <a:xfrm>
            <a:off x="4983480" y="3895344"/>
            <a:ext cx="310896" cy="310896"/>
          </a:xfrm>
          <a:prstGeom prst="roundRect">
            <a:avLst>
              <a:gd name="adj" fmla="val 50000"/>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4</a:t>
            </a:r>
          </a:p>
        </p:txBody>
      </p:sp>
      <p:sp>
        <p:nvSpPr>
          <p:cNvPr id="22" name="TextBox 21"/>
          <p:cNvSpPr txBox="1"/>
          <p:nvPr/>
        </p:nvSpPr>
        <p:spPr>
          <a:xfrm>
            <a:off x="5413248" y="3840480"/>
            <a:ext cx="3200400" cy="713232"/>
          </a:xfrm>
          <a:prstGeom prst="rect">
            <a:avLst/>
          </a:prstGeom>
          <a:noFill/>
        </p:spPr>
        <p:txBody>
          <a:bodyPr wrap="square" anchor="t" lIns="54864" rIns="54864" tIns="27432" bIns="27432">
            <a:spAutoFit/>
          </a:bodyPr>
          <a:lstStyle/>
          <a:p>
            <a:pPr algn="l">
              <a:spcAft>
                <a:spcPts val="100"/>
              </a:spcAft>
            </a:pPr>
            <a:r>
              <a:rPr sz="1250" b="1" i="0">
                <a:solidFill>
                  <a:srgbClr val="1F2937"/>
                </a:solidFill>
                <a:latin typeface="Arial"/>
              </a:rPr>
              <a:t>One principle throughout</a:t>
            </a:r>
          </a:p>
          <a:p>
            <a:pPr algn="l">
              <a:lnSpc>
                <a:spcPct val="102000"/>
              </a:lnSpc>
            </a:pPr>
            <a:r>
              <a:rPr sz="1100" b="0" i="0">
                <a:solidFill>
                  <a:srgbClr val="374151"/>
                </a:solidFill>
                <a:latin typeface="Arial"/>
              </a:rPr>
              <a:t>a prompt may propose, only a deterministic gate may certify</a:t>
            </a:r>
          </a:p>
        </p:txBody>
      </p:sp>
      <p:sp>
        <p:nvSpPr>
          <p:cNvPr id="23" name="Rectangle 22"/>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 y="4992624"/>
            <a:ext cx="4572000" cy="182880"/>
          </a:xfrm>
          <a:prstGeom prst="rect">
            <a:avLst/>
          </a:prstGeom>
          <a:noFill/>
        </p:spPr>
        <p:txBody>
          <a:bodyPr wrap="square" anchor="t" lIns="54864" rIns="54864" tIns="27432" bIns="27432">
            <a:spAutoFit/>
          </a:bodyPr>
          <a:lstStyle/>
          <a:p>
            <a:pPr algn="l"/>
            <a:r>
              <a:rPr sz="800" b="0" i="0">
                <a:solidFill>
                  <a:srgbClr val="94A3B8"/>
                </a:solidFill>
                <a:latin typeface="Arial"/>
              </a:rPr>
              <a:t>Guardrails — What's New</a:t>
            </a:r>
          </a:p>
        </p:txBody>
      </p:sp>
      <p:sp>
        <p:nvSpPr>
          <p:cNvPr id="25" name="TextBox 24"/>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